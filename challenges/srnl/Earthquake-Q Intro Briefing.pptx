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88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Challenge-intro deck. Introduces the problem, data, scoring, clock, and rules — with no performance targets, so teams discover their own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C4971-B3B9-ACA4-2E84-DDE6D56C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FD90B-8AB4-0591-7E63-EE3BCC468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BED24-32EF-7DC1-C2F5-0DE62A904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3C7A3-A5AB-A63A-5F64-19CF6C9C6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0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Scoring: information gain (primary), calibration, discrimination. No target numbers given — teams find their own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leakage rule is the single most important thing a team can internalize. Emphasize the test-vs-judge gap as the diagnostic.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no answer key, discover your own pathway, be honest, show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8"/>
          <p:cNvSpPr/>
          <p:nvPr/>
        </p:nvSpPr>
        <p:spPr>
          <a:xfrm>
            <a:off x="640080" y="76948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EARTHQUAKE-Q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58368" y="5285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8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— Read This First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" y="33815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QUANTATHON V3  ·  SRNL &amp; CLEMSON UNIVERSITY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97176" y="5693433"/>
            <a:ext cx="4051669" cy="58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9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24+-hour quantum–classical forecasting challenge</a:t>
            </a:r>
          </a:p>
          <a:p>
            <a:pPr marL="0" indent="0">
              <a:buNone/>
            </a:pPr>
            <a:endParaRPr lang="en-US" sz="1400" dirty="0">
              <a:solidFill>
                <a:srgbClr val="8996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89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developed by Larry M. Deschaine, PhD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9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AI instructor: SRNL &amp; Clemson University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9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25-27, 2026, Clemson, SC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5989320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0E1620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598932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Seismology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993392" y="5989320"/>
            <a:ext cx="1689811" cy="402336"/>
          </a:xfrm>
          <a:prstGeom prst="roundRect">
            <a:avLst>
              <a:gd name="adj" fmla="val 50000"/>
            </a:avLst>
          </a:prstGeom>
          <a:solidFill>
            <a:srgbClr val="0E1620"/>
          </a:solidFill>
          <a:ln w="15875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93392" y="5989320"/>
            <a:ext cx="16898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866083" y="5989320"/>
            <a:ext cx="883310" cy="402336"/>
          </a:xfrm>
          <a:prstGeom prst="roundRect">
            <a:avLst>
              <a:gd name="adj" fmla="val 50000"/>
            </a:avLst>
          </a:prstGeom>
          <a:solidFill>
            <a:srgbClr val="0E1620"/>
          </a:solidFill>
          <a:ln w="15875">
            <a:solidFill>
              <a:srgbClr val="7B4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66083" y="5989320"/>
            <a:ext cx="8833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32274" y="5989320"/>
            <a:ext cx="1779422" cy="402336"/>
          </a:xfrm>
          <a:prstGeom prst="roundRect">
            <a:avLst>
              <a:gd name="adj" fmla="val 50000"/>
            </a:avLst>
          </a:prstGeom>
          <a:solidFill>
            <a:srgbClr val="0E1620"/>
          </a:solidFill>
          <a:ln w="15875">
            <a:solidFill>
              <a:srgbClr val="2E7D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2274" y="5989320"/>
            <a:ext cx="17794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over hype</a:t>
            </a:r>
            <a:endParaRPr lang="en-US" sz="12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4C666A-4E12-6033-81FC-FD3D45872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82" y="2319527"/>
            <a:ext cx="9627882" cy="27188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Social Situation: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where the earth will 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6980" y="1495820"/>
            <a:ext cx="6759659" cy="35791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787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44460"/>
            <a:ext cx="6400800" cy="289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challenge</a:t>
            </a: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Assuming an earthquake just occurred that significantly damaged buildings and other infrastructure. Develop a tool to predict whether and when aftershocks could occur within a typical damage zone ~100km), further destabilize it, and risk the health and safety of:</a:t>
            </a:r>
          </a:p>
          <a:p>
            <a:pPr marL="635000" lvl="1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crews (30-day look-ahead) and </a:t>
            </a:r>
          </a:p>
          <a:p>
            <a:pPr marL="635000" lvl="1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crews (6-month look-ahead)</a:t>
            </a:r>
          </a:p>
          <a:p>
            <a:pPr marL="177800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epicenter is being looked for. Specifically, when is it safe to allow rescue crews to enter the damage zone and begin life-saving operations with acceptable risk? When can infrastructure repair crews be mobilized?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just over 24 hours to build the best, most honest forecast you can and brief the stakeholders – emergency response crews are standing by….</a:t>
            </a:r>
          </a:p>
          <a:p>
            <a:pPr>
              <a:spcAft>
                <a:spcPts val="800"/>
              </a:spcAft>
              <a:buSzPct val="100000"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7373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0" y="224028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75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open-ended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7532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The pathway is yours to discover.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35240" y="31546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63840" y="3657600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hands-on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everything from raw data and a starter notebook as a baseline — the craft is the point.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45720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63840" y="5074920"/>
            <a:ext cx="292608" cy="292608"/>
          </a:xfrm>
          <a:prstGeom prst="ellipse">
            <a:avLst/>
          </a:prstGeom>
          <a:solidFill>
            <a:srgbClr val="2E7D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532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honest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reward forecasts you can defend, not the best number.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6419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· QuantathonV3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28F32F92-617F-DC5B-8378-E9AD7E1C6568}"/>
              </a:ext>
            </a:extLst>
          </p:cNvPr>
          <p:cNvSpPr/>
          <p:nvPr/>
        </p:nvSpPr>
        <p:spPr>
          <a:xfrm>
            <a:off x="554395" y="5245431"/>
            <a:ext cx="6858000" cy="1037535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Co-authoring a Journal Paper together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05B887C-4B7D-4F40-15B4-EEFE80F21327}"/>
              </a:ext>
            </a:extLst>
          </p:cNvPr>
          <p:cNvSpPr/>
          <p:nvPr/>
        </p:nvSpPr>
        <p:spPr>
          <a:xfrm>
            <a:off x="707943" y="5393801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prize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17B901-9EB6-F76A-F5F9-E5D4E96C753B}"/>
              </a:ext>
            </a:extLst>
          </p:cNvPr>
          <p:cNvSpPr txBox="1"/>
          <p:nvPr/>
        </p:nvSpPr>
        <p:spPr>
          <a:xfrm>
            <a:off x="9135374" y="508959"/>
            <a:ext cx="294160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USGS Position on :</a:t>
            </a:r>
          </a:p>
          <a:p>
            <a:r>
              <a:rPr lang="en-US" dirty="0"/>
              <a:t>Can you predict earthquakes?</a:t>
            </a:r>
          </a:p>
          <a:p>
            <a:endParaRPr lang="en-US" dirty="0"/>
          </a:p>
          <a:p>
            <a:r>
              <a:rPr lang="en-US" dirty="0"/>
              <a:t>No. Neither the USGS nor any other scientists have ever predicted a major earthquake. We do not know how, and we do not expect to know how any time in the foreseeable future. </a:t>
            </a:r>
          </a:p>
          <a:p>
            <a:endParaRPr lang="en-US" dirty="0"/>
          </a:p>
          <a:p>
            <a:r>
              <a:rPr lang="en-US" dirty="0"/>
              <a:t>USGS scientists can only calculate the probability that a significant earthquake will occur ( shown on our hazard mapping) in a specific area within a certain number of years. An earthquake prediction must define 3 elements...</a:t>
            </a:r>
          </a:p>
          <a:p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04CCD-E902-4DF2-6FA9-F6B58E856C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47" t="11438" r="14931" b="3761"/>
          <a:stretch>
            <a:fillRect/>
          </a:stretch>
        </p:blipFill>
        <p:spPr>
          <a:xfrm>
            <a:off x="276046" y="521897"/>
            <a:ext cx="8729932" cy="581420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FFDFD0AA-1D5B-41A1-36DA-C1A46030AD3D}"/>
              </a:ext>
            </a:extLst>
          </p:cNvPr>
          <p:cNvSpPr/>
          <p:nvPr/>
        </p:nvSpPr>
        <p:spPr>
          <a:xfrm>
            <a:off x="548640" y="133885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DIFFICULTY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9418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36169-1882-86C3-3032-A73A7AC26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3BBC41-900E-0D0D-0FC5-0F077B76AB64}"/>
              </a:ext>
            </a:extLst>
          </p:cNvPr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E50113-E9B8-6E39-888D-6EFB421B47FD}"/>
              </a:ext>
            </a:extLst>
          </p:cNvPr>
          <p:cNvSpPr/>
          <p:nvPr/>
        </p:nvSpPr>
        <p:spPr>
          <a:xfrm>
            <a:off x="548640" y="58935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are provided to start with: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D85585-2EC9-7919-3DC8-38FFB7CA2552}"/>
              </a:ext>
            </a:extLst>
          </p:cNvPr>
          <p:cNvSpPr/>
          <p:nvPr/>
        </p:nvSpPr>
        <p:spPr>
          <a:xfrm>
            <a:off x="548640" y="1290515"/>
            <a:ext cx="6858000" cy="4747976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8B3016-AA9B-1E26-7201-888BE951A3D9}"/>
              </a:ext>
            </a:extLst>
          </p:cNvPr>
          <p:cNvSpPr/>
          <p:nvPr/>
        </p:nvSpPr>
        <p:spPr>
          <a:xfrm>
            <a:off x="822960" y="1281887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A84422-1AA0-1EF7-41B9-D98E1C3CD5BC}"/>
              </a:ext>
            </a:extLst>
          </p:cNvPr>
          <p:cNvSpPr/>
          <p:nvPr/>
        </p:nvSpPr>
        <p:spPr>
          <a:xfrm>
            <a:off x="822960" y="1656275"/>
            <a:ext cx="6400800" cy="289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five raw geophysical data streams 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algorithm starter notebook that assembles the data and makes initial predictions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100-slide analysis of ideas and analyses others have tried; this will provide some background information to help you get started but should not be construed as the gold-plated analysis – or even fully correct without your verification.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questions to assess: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enough data?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 right data? 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split right? 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versus quantum versus hybrid approaches?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versus uncertainty: when to allow rescue operations to commence? What is the safety margin, and how to present it to stakeholders.</a:t>
            </a:r>
          </a:p>
          <a:p>
            <a:pPr>
              <a:spcAft>
                <a:spcPts val="800"/>
              </a:spcAft>
              <a:buSzPct val="100000"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BF0DEF3-C0F8-0FBA-229A-838AFB04ED01}"/>
              </a:ext>
            </a:extLst>
          </p:cNvPr>
          <p:cNvSpPr/>
          <p:nvPr/>
        </p:nvSpPr>
        <p:spPr>
          <a:xfrm>
            <a:off x="7635240" y="17373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5697DBA-D09C-3E33-C787-77D1E65EF14B}"/>
              </a:ext>
            </a:extLst>
          </p:cNvPr>
          <p:cNvSpPr/>
          <p:nvPr/>
        </p:nvSpPr>
        <p:spPr>
          <a:xfrm>
            <a:off x="7863840" y="224028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6357B1A-5DE3-B9CA-977D-89196E874398}"/>
              </a:ext>
            </a:extLst>
          </p:cNvPr>
          <p:cNvSpPr/>
          <p:nvPr/>
        </p:nvSpPr>
        <p:spPr>
          <a:xfrm>
            <a:off x="8275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open-ended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E0ABA2-9D9D-E5FB-53F1-E69116410EE7}"/>
              </a:ext>
            </a:extLst>
          </p:cNvPr>
          <p:cNvSpPr/>
          <p:nvPr/>
        </p:nvSpPr>
        <p:spPr>
          <a:xfrm>
            <a:off x="827532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The pathway is yours to discover.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D7EB6DD-7EAC-9039-A054-3A08E1D68671}"/>
              </a:ext>
            </a:extLst>
          </p:cNvPr>
          <p:cNvSpPr/>
          <p:nvPr/>
        </p:nvSpPr>
        <p:spPr>
          <a:xfrm>
            <a:off x="7635240" y="31546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6F6A6BD-C308-D247-7645-9102DD35AA4D}"/>
              </a:ext>
            </a:extLst>
          </p:cNvPr>
          <p:cNvSpPr/>
          <p:nvPr/>
        </p:nvSpPr>
        <p:spPr>
          <a:xfrm>
            <a:off x="7863840" y="3657600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225EB7E-DBFD-D295-4C4E-142E5408A3C1}"/>
              </a:ext>
            </a:extLst>
          </p:cNvPr>
          <p:cNvSpPr/>
          <p:nvPr/>
        </p:nvSpPr>
        <p:spPr>
          <a:xfrm>
            <a:off x="82753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hands-on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2CAFC53-3635-8E49-6115-DEEF33A0E67D}"/>
              </a:ext>
            </a:extLst>
          </p:cNvPr>
          <p:cNvSpPr/>
          <p:nvPr/>
        </p:nvSpPr>
        <p:spPr>
          <a:xfrm>
            <a:off x="827532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everything from raw data and a starter notebook as a baseline — the craft is the point.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8663DA8-1F9E-48D0-A488-82FB47C18F0D}"/>
              </a:ext>
            </a:extLst>
          </p:cNvPr>
          <p:cNvSpPr/>
          <p:nvPr/>
        </p:nvSpPr>
        <p:spPr>
          <a:xfrm>
            <a:off x="7635240" y="45720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0DDC01F-7A50-6203-2DE4-E0934EE4024E}"/>
              </a:ext>
            </a:extLst>
          </p:cNvPr>
          <p:cNvSpPr/>
          <p:nvPr/>
        </p:nvSpPr>
        <p:spPr>
          <a:xfrm>
            <a:off x="7863840" y="5074920"/>
            <a:ext cx="292608" cy="292608"/>
          </a:xfrm>
          <a:prstGeom prst="ellipse">
            <a:avLst/>
          </a:prstGeom>
          <a:solidFill>
            <a:srgbClr val="2E7D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3A89CF1-716C-6BB9-FDA3-1034596FBD39}"/>
              </a:ext>
            </a:extLst>
          </p:cNvPr>
          <p:cNvSpPr/>
          <p:nvPr/>
        </p:nvSpPr>
        <p:spPr>
          <a:xfrm>
            <a:off x="827532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honest</a:t>
            </a:r>
            <a:endParaRPr lang="en-US" sz="15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166580F-B969-3E98-573F-94DBAD61580A}"/>
              </a:ext>
            </a:extLst>
          </p:cNvPr>
          <p:cNvSpPr/>
          <p:nvPr/>
        </p:nvSpPr>
        <p:spPr>
          <a:xfrm>
            <a:off x="82753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reward forecasts you can defend, not the best number.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8B65F54-E4A0-F4FF-8C0A-B7CE174DF6C8}"/>
              </a:ext>
            </a:extLst>
          </p:cNvPr>
          <p:cNvSpPr/>
          <p:nvPr/>
        </p:nvSpPr>
        <p:spPr>
          <a:xfrm>
            <a:off x="54864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introduction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C571CD5-BB51-A782-0EB1-61EAD55F1BCC}"/>
              </a:ext>
            </a:extLst>
          </p:cNvPr>
          <p:cNvSpPr/>
          <p:nvPr/>
        </p:nvSpPr>
        <p:spPr>
          <a:xfrm>
            <a:off x="7863840" y="6419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· QuantathonV3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20B8C84-2237-6844-CB9B-652A98676CE0}"/>
              </a:ext>
            </a:extLst>
          </p:cNvPr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9472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PREDICT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probability, a grid, a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F3E4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each grid cell and each 30-day window: </a:t>
            </a:r>
            <a:r>
              <a:rPr lang="en-US" sz="2100" b="1" dirty="0">
                <a:solidFill>
                  <a:srgbClr val="8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probability that at least one magnitude ≥ 2.0 earthquake occurs within 100 km?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number in [0,1] — not a yes/no, not a magnitude, not a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33832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44568" y="3611880"/>
            <a:ext cx="457200" cy="457200"/>
          </a:xfrm>
          <a:prstGeom prst="ellipse">
            <a:avLst/>
          </a:prstGeom>
          <a:solidFill>
            <a:srgbClr val="D98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4568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grid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4526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Half-degree cells across the central &amp; eastern United States.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33832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1896" y="3611880"/>
            <a:ext cx="457200" cy="457200"/>
          </a:xfrm>
          <a:prstGeom prst="ellipse">
            <a:avLst/>
          </a:prstGeom>
          <a:solidFill>
            <a:srgbClr val="2E7D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11896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30-day windows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1896" y="4526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forward windows from a fixed information cutoff.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qualifying events are rare, this is a calibration problem, not a guessing game — more on scoring shortly.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6419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· QuantathonV3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raw streams, three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38528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catalog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00400" y="18105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earthquake: time, location, depth, magnitude. This is the signal.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816352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26883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Geomagnetic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00400" y="26883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geomagnetic activity indices (ap, Kp) — a candidate driver.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694176"/>
            <a:ext cx="292608" cy="292608"/>
          </a:xfrm>
          <a:prstGeom prst="ellipse">
            <a:avLst/>
          </a:prstGeom>
          <a:solidFill>
            <a:srgbClr val="D98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200400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radio flux and sunspot number — candidate driver.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25112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572000"/>
            <a:ext cx="292608" cy="292608"/>
          </a:xfrm>
          <a:prstGeom prst="ellipse">
            <a:avLst/>
          </a:prstGeom>
          <a:solidFill>
            <a:srgbClr val="2E7D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44439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tides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200400" y="44439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potential and lunar phase — small periodic stresses.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02936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5449824"/>
            <a:ext cx="292608" cy="292608"/>
          </a:xfrm>
          <a:prstGeom prst="ellipse">
            <a:avLst/>
          </a:prstGeom>
          <a:solidFill>
            <a:srgbClr val="7B4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8720" y="5321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GNSS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200400" y="5321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station positions — crustal strain near fault zones.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18120" y="1691640"/>
            <a:ext cx="3794760" cy="4261104"/>
          </a:xfrm>
          <a:prstGeom prst="roundRect">
            <a:avLst>
              <a:gd name="adj" fmla="val 1928"/>
            </a:avLst>
          </a:prstGeom>
          <a:solidFill>
            <a:srgbClr val="1E2A38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FILES, YOURS TO USE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46720" y="23317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0" y="26243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 – 2021  ·  fit your models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32004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6720" y="34930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2024  ·  tune &amp; select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40690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0" y="4361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  ·  your honest self-check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all three. Use them wisely — and never let the future leak into the past.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6419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· QuantathonV3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format: one row per observation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has the same columns. Seismic rows carry the earthquake fields; the four driver streams carry a parameter and value.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2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source, time, latitude, longitude, depth_km, magnitude, station_id, parameter, value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seismic</a:t>
            </a:r>
            <a:r>
              <a:rPr lang="en-US" sz="12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time, latitude, longitude, depth_km, magnitude are populated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drivers</a:t>
            </a:r>
            <a:r>
              <a:rPr lang="en-US" sz="12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station_id, parameter, value are populated (e.g. parameter=ap, value=16.0)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9EEF3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4251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 you a starter notebook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617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three files, builds a simple forecast, and reports honest accuracy statistics — fully offline.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deliberately plain. It is your common starting line, and there is a great deal you can improve.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first. Understand it. Then make it better.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ideas in the 100-slide experimentation slide deck.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0" y="6419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· QuantathonV3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YOU'RE SCORED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and honesty — not accuracy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1E2A38"/>
          </a:solidFill>
          <a:ln w="12700">
            <a:solidFill>
              <a:srgbClr val="2E3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D98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gain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your forecast beats the base rate, in bits per prediction. This is the primary metric — real skill, not guesswork.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7373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1E2A38"/>
          </a:solidFill>
          <a:ln w="12700">
            <a:solidFill>
              <a:srgbClr val="2E3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90288" y="20116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028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0288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say 20%, does it happen ~20% of the time? A confident-but-wrong forecast scores badly. Honesty is measured.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1E2A38"/>
          </a:solidFill>
          <a:ln w="12700">
            <a:solidFill>
              <a:srgbClr val="2E3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57616" y="2011680"/>
            <a:ext cx="548640" cy="54864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57616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57616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and precision–recall — can you rank risky cells above safe ones? A useful check, but not the whole story.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300" dirty="0">
              <a:solidFill>
                <a:srgbClr val="C7D0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“risky” versus “safe cells inform the decision-makers?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2A20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285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accuracy?   </a:t>
            </a:r>
            <a:r>
              <a:rPr lang="en-US" sz="135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earthquakes are rare, so a model that always predicts “no” is highly accurate and completely useless. We score the information you add, and whether your probabilities are true.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7B4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6583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7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THAT MATTERS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96926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let the future leak into the past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214884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you build for a forecast must use only information available before that forecast's issue time.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— letting an answer sneak into your inputs — is the single easiest way to fool yourself. The tell is simple: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judge-split score is far worse than your own test score, you have leaked.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notebook is leakage-safe. Keep it that way as you add to it. Split by time, calibrate on held-out data, and always check your held-out number.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>
              <a:solidFill>
                <a:srgbClr val="C7D0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develop a general-use map that can be posted on an emergency response website so response coordinators can, after an earthquake, click on an epicenter and instantly access the risk of significant aftershocks?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5394960"/>
            <a:ext cx="9966960" cy="777240"/>
          </a:xfrm>
          <a:prstGeom prst="roundRect">
            <a:avLst>
              <a:gd name="adj" fmla="val 7059"/>
            </a:avLst>
          </a:prstGeom>
          <a:solidFill>
            <a:srgbClr val="241A30"/>
          </a:solidFill>
          <a:ln w="12700">
            <a:solidFill>
              <a:srgbClr val="7B4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54864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C9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the way you will be scored: on a grid, at an issue time, looking only forward.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might take it — you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features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seismicity: b-values, event-rate acceleration, multi-scale counts, recency. What does geography miss?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46704" y="17830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75304" y="2011680"/>
            <a:ext cx="457200" cy="457200"/>
          </a:xfrm>
          <a:prstGeom prst="ellipse">
            <a:avLst/>
          </a:prstGeom>
          <a:solidFill>
            <a:srgbClr val="D98C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75304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streams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75304" y="3246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Geomagnetic, solar, tidal, GPS. Do they carry signal? Prove it from the data — don't assume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7830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73368" y="2011680"/>
            <a:ext cx="457200" cy="457200"/>
          </a:xfrm>
          <a:prstGeom prst="ellipse">
            <a:avLst/>
          </a:prstGeom>
          <a:solidFill>
            <a:srgbClr val="2E7D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73368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73368" y="3246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Aftershock-triggering models (like ETAS) are classic. Feeding physics into your model is a strong move.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2832" y="17830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71432" y="2011680"/>
            <a:ext cx="457200" cy="457200"/>
          </a:xfrm>
          <a:prstGeom prst="ellipse">
            <a:avLst/>
          </a:prstGeom>
          <a:solidFill>
            <a:srgbClr val="7B4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71432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71432" y="3246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Encodings, kernels, variational classifiers. If your track calls for it, explore where quantum can contribute.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53309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pathway is required, and none is guaranteed to win.  </a:t>
            </a: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result might be that a simple approach is hard to beat — if so, show us, with the numbers.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6419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· QuantathonV3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hand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forecast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for every scored cell-window, in the format the starter produces.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500" dirty="0"/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or scripts that build your forecast, so we can see how you did it.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write-up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tried, what worked, what didn't, and — honestly — how well it did on your held-out check.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E2A38"/>
          </a:solidFill>
          <a:ln/>
          <a:effectLst>
            <a:outerShdw blurRad="762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379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EARNS RESPECT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24688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with calibration — probabilities that are both informative and true.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held-out story — your judge score is close to your test score (no leaks).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about uncertainty — you know what you know, and say so.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— if the simple approach won, you tell us, with evidence. If not, how the additional analysis techniques boost the ability to initiate rescue operations as soon as safe?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6419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· QuantathonV3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303520"/>
            <a:ext cx="1218895" cy="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18895" y="5257800"/>
            <a:ext cx="1218895" cy="64008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flipV="1">
            <a:off x="2437790" y="5321808"/>
            <a:ext cx="1218895" cy="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6686" y="5212080"/>
            <a:ext cx="1218895" cy="18288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4875581" y="5394960"/>
            <a:ext cx="1218895" cy="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4476" y="5074920"/>
            <a:ext cx="1218895" cy="50292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7313371" y="5577840"/>
            <a:ext cx="1218895" cy="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32266" y="4892040"/>
            <a:ext cx="1218895" cy="41148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9751162" y="5303520"/>
            <a:ext cx="1218895" cy="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0057" y="5257800"/>
            <a:ext cx="1218895" cy="45720"/>
          </a:xfrm>
          <a:prstGeom prst="line">
            <a:avLst/>
          </a:prstGeom>
          <a:noFill/>
          <a:ln w="17780">
            <a:solidFill>
              <a:srgbClr val="7B4E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something you can defend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49808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raw data, a starting line, and 24+ hours.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answer key to reverse-engineer — </a:t>
            </a:r>
            <a:r>
              <a:rPr lang="en-US" sz="1800" i="1" dirty="0">
                <a:solidFill>
                  <a:srgbClr val="D98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pathway is yours to discover.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honest forecast, know how good it is, and be ready to show your work.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8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980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EARTHQUAKE-Q  ·  QUANTATHON V3  ·  CLEMSON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1716</Words>
  <Application>Microsoft Office PowerPoint</Application>
  <PresentationFormat>Custom</PresentationFormat>
  <Paragraphs>186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Larry 2020 Deschaine, PhD PE</cp:lastModifiedBy>
  <cp:revision>16</cp:revision>
  <dcterms:created xsi:type="dcterms:W3CDTF">2026-07-11T20:29:12Z</dcterms:created>
  <dcterms:modified xsi:type="dcterms:W3CDTF">2026-09-24T18:57:37Z</dcterms:modified>
</cp:coreProperties>
</file>
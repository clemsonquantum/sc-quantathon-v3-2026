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sldSz cx="12188825" cy="6858000"/>
  <p:notesSz cx="6858000" cy="121888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0804C-59B7-4794-BFB8-4674B0322C16}" v="1" dt="2026-09-24T15:38:48.2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6/11/relationships/changesInfo" Target="changesInfos/changesInfo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rry 2020 Deschaine, PhD PE" userId="63a1780644cc5b1e" providerId="LiveId" clId="{D6C05350-D174-470F-879C-28E8FA1446D9}"/>
    <pc:docChg chg="undo custSel modSld">
      <pc:chgData name="Larry 2020 Deschaine, PhD PE" userId="63a1780644cc5b1e" providerId="LiveId" clId="{D6C05350-D174-470F-879C-28E8FA1446D9}" dt="2026-09-24T15:40:01.400" v="667" actId="20577"/>
      <pc:docMkLst>
        <pc:docMk/>
      </pc:docMkLst>
      <pc:sldChg chg="modSp mod">
        <pc:chgData name="Larry 2020 Deschaine, PhD PE" userId="63a1780644cc5b1e" providerId="LiveId" clId="{D6C05350-D174-470F-879C-28E8FA1446D9}" dt="2026-09-24T15:17:14.354" v="53" actId="20577"/>
        <pc:sldMkLst>
          <pc:docMk/>
          <pc:sldMk cId="0" sldId="261"/>
        </pc:sldMkLst>
        <pc:spChg chg="mod">
          <ac:chgData name="Larry 2020 Deschaine, PhD PE" userId="63a1780644cc5b1e" providerId="LiveId" clId="{D6C05350-D174-470F-879C-28E8FA1446D9}" dt="2026-09-24T15:16:53.628" v="50" actId="20577"/>
          <ac:spMkLst>
            <pc:docMk/>
            <pc:sldMk cId="0" sldId="261"/>
            <ac:spMk id="140" creationId="{00000000-0000-0000-0000-000000000000}"/>
          </ac:spMkLst>
        </pc:spChg>
        <pc:spChg chg="mod">
          <ac:chgData name="Larry 2020 Deschaine, PhD PE" userId="63a1780644cc5b1e" providerId="LiveId" clId="{D6C05350-D174-470F-879C-28E8FA1446D9}" dt="2026-09-24T15:17:14.354" v="53" actId="20577"/>
          <ac:spMkLst>
            <pc:docMk/>
            <pc:sldMk cId="0" sldId="261"/>
            <ac:spMk id="141" creationId="{00000000-0000-0000-0000-000000000000}"/>
          </ac:spMkLst>
        </pc:spChg>
      </pc:sldChg>
      <pc:sldChg chg="modSp mod">
        <pc:chgData name="Larry 2020 Deschaine, PhD PE" userId="63a1780644cc5b1e" providerId="LiveId" clId="{D6C05350-D174-470F-879C-28E8FA1446D9}" dt="2026-09-24T15:17:59.482" v="88" actId="20577"/>
        <pc:sldMkLst>
          <pc:docMk/>
          <pc:sldMk cId="0" sldId="262"/>
        </pc:sldMkLst>
        <pc:spChg chg="mod">
          <ac:chgData name="Larry 2020 Deschaine, PhD PE" userId="63a1780644cc5b1e" providerId="LiveId" clId="{D6C05350-D174-470F-879C-28E8FA1446D9}" dt="2026-09-24T15:17:59.482" v="88" actId="20577"/>
          <ac:spMkLst>
            <pc:docMk/>
            <pc:sldMk cId="0" sldId="262"/>
            <ac:spMk id="159" creationId="{00000000-0000-0000-0000-000000000000}"/>
          </ac:spMkLst>
        </pc:spChg>
      </pc:sldChg>
      <pc:sldChg chg="modSp mod">
        <pc:chgData name="Larry 2020 Deschaine, PhD PE" userId="63a1780644cc5b1e" providerId="LiveId" clId="{D6C05350-D174-470F-879C-28E8FA1446D9}" dt="2026-09-24T15:19:27.622" v="135" actId="20577"/>
        <pc:sldMkLst>
          <pc:docMk/>
          <pc:sldMk cId="0" sldId="268"/>
        </pc:sldMkLst>
        <pc:spChg chg="mod">
          <ac:chgData name="Larry 2020 Deschaine, PhD PE" userId="63a1780644cc5b1e" providerId="LiveId" clId="{D6C05350-D174-470F-879C-28E8FA1446D9}" dt="2026-09-24T15:19:27.622" v="135" actId="20577"/>
          <ac:spMkLst>
            <pc:docMk/>
            <pc:sldMk cId="0" sldId="268"/>
            <ac:spMk id="248" creationId="{00000000-0000-0000-0000-000000000000}"/>
          </ac:spMkLst>
        </pc:spChg>
      </pc:sldChg>
      <pc:sldChg chg="modSp mod">
        <pc:chgData name="Larry 2020 Deschaine, PhD PE" userId="63a1780644cc5b1e" providerId="LiveId" clId="{D6C05350-D174-470F-879C-28E8FA1446D9}" dt="2026-09-24T15:21:20.840" v="230" actId="20577"/>
        <pc:sldMkLst>
          <pc:docMk/>
          <pc:sldMk cId="0" sldId="270"/>
        </pc:sldMkLst>
        <pc:spChg chg="mod">
          <ac:chgData name="Larry 2020 Deschaine, PhD PE" userId="63a1780644cc5b1e" providerId="LiveId" clId="{D6C05350-D174-470F-879C-28E8FA1446D9}" dt="2026-09-24T15:20:44.038" v="215" actId="20577"/>
          <ac:spMkLst>
            <pc:docMk/>
            <pc:sldMk cId="0" sldId="270"/>
            <ac:spMk id="264" creationId="{00000000-0000-0000-0000-000000000000}"/>
          </ac:spMkLst>
        </pc:spChg>
        <pc:spChg chg="mod">
          <ac:chgData name="Larry 2020 Deschaine, PhD PE" userId="63a1780644cc5b1e" providerId="LiveId" clId="{D6C05350-D174-470F-879C-28E8FA1446D9}" dt="2026-09-24T15:21:20.840" v="230" actId="20577"/>
          <ac:spMkLst>
            <pc:docMk/>
            <pc:sldMk cId="0" sldId="270"/>
            <ac:spMk id="276" creationId="{00000000-0000-0000-0000-000000000000}"/>
          </ac:spMkLst>
        </pc:spChg>
      </pc:sldChg>
      <pc:sldChg chg="modSp mod">
        <pc:chgData name="Larry 2020 Deschaine, PhD PE" userId="63a1780644cc5b1e" providerId="LiveId" clId="{D6C05350-D174-470F-879C-28E8FA1446D9}" dt="2026-09-24T15:26:29.240" v="260" actId="20577"/>
        <pc:sldMkLst>
          <pc:docMk/>
          <pc:sldMk cId="0" sldId="298"/>
        </pc:sldMkLst>
        <pc:spChg chg="mod">
          <ac:chgData name="Larry 2020 Deschaine, PhD PE" userId="63a1780644cc5b1e" providerId="LiveId" clId="{D6C05350-D174-470F-879C-28E8FA1446D9}" dt="2026-09-24T15:26:29.240" v="260" actId="20577"/>
          <ac:spMkLst>
            <pc:docMk/>
            <pc:sldMk cId="0" sldId="298"/>
            <ac:spMk id="581" creationId="{00000000-0000-0000-0000-000000000000}"/>
          </ac:spMkLst>
        </pc:spChg>
      </pc:sldChg>
      <pc:sldChg chg="modSp mod">
        <pc:chgData name="Larry 2020 Deschaine, PhD PE" userId="63a1780644cc5b1e" providerId="LiveId" clId="{D6C05350-D174-470F-879C-28E8FA1446D9}" dt="2026-09-24T15:27:56.046" v="261" actId="20577"/>
        <pc:sldMkLst>
          <pc:docMk/>
          <pc:sldMk cId="0" sldId="307"/>
        </pc:sldMkLst>
        <pc:spChg chg="mod">
          <ac:chgData name="Larry 2020 Deschaine, PhD PE" userId="63a1780644cc5b1e" providerId="LiveId" clId="{D6C05350-D174-470F-879C-28E8FA1446D9}" dt="2026-09-24T15:27:56.046" v="261" actId="20577"/>
          <ac:spMkLst>
            <pc:docMk/>
            <pc:sldMk cId="0" sldId="307"/>
            <ac:spMk id="700" creationId="{00000000-0000-0000-0000-000000000000}"/>
          </ac:spMkLst>
        </pc:spChg>
      </pc:sldChg>
      <pc:sldChg chg="modSp mod">
        <pc:chgData name="Larry 2020 Deschaine, PhD PE" userId="63a1780644cc5b1e" providerId="LiveId" clId="{D6C05350-D174-470F-879C-28E8FA1446D9}" dt="2026-09-24T15:28:40.538" v="270" actId="20577"/>
        <pc:sldMkLst>
          <pc:docMk/>
          <pc:sldMk cId="0" sldId="311"/>
        </pc:sldMkLst>
        <pc:spChg chg="mod">
          <ac:chgData name="Larry 2020 Deschaine, PhD PE" userId="63a1780644cc5b1e" providerId="LiveId" clId="{D6C05350-D174-470F-879C-28E8FA1446D9}" dt="2026-09-24T15:28:40.538" v="270" actId="20577"/>
          <ac:spMkLst>
            <pc:docMk/>
            <pc:sldMk cId="0" sldId="311"/>
            <ac:spMk id="743" creationId="{00000000-0000-0000-0000-000000000000}"/>
          </ac:spMkLst>
        </pc:spChg>
      </pc:sldChg>
      <pc:sldChg chg="modSp mod">
        <pc:chgData name="Larry 2020 Deschaine, PhD PE" userId="63a1780644cc5b1e" providerId="LiveId" clId="{D6C05350-D174-470F-879C-28E8FA1446D9}" dt="2026-09-24T15:31:10.057" v="300" actId="20577"/>
        <pc:sldMkLst>
          <pc:docMk/>
          <pc:sldMk cId="0" sldId="323"/>
        </pc:sldMkLst>
        <pc:spChg chg="mod">
          <ac:chgData name="Larry 2020 Deschaine, PhD PE" userId="63a1780644cc5b1e" providerId="LiveId" clId="{D6C05350-D174-470F-879C-28E8FA1446D9}" dt="2026-09-24T15:31:10.057" v="300" actId="20577"/>
          <ac:spMkLst>
            <pc:docMk/>
            <pc:sldMk cId="0" sldId="323"/>
            <ac:spMk id="897" creationId="{00000000-0000-0000-0000-000000000000}"/>
          </ac:spMkLst>
        </pc:spChg>
      </pc:sldChg>
      <pc:sldChg chg="modSp mod">
        <pc:chgData name="Larry 2020 Deschaine, PhD PE" userId="63a1780644cc5b1e" providerId="LiveId" clId="{D6C05350-D174-470F-879C-28E8FA1446D9}" dt="2026-09-24T15:32:59.367" v="364" actId="20577"/>
        <pc:sldMkLst>
          <pc:docMk/>
          <pc:sldMk cId="0" sldId="326"/>
        </pc:sldMkLst>
        <pc:spChg chg="mod">
          <ac:chgData name="Larry 2020 Deschaine, PhD PE" userId="63a1780644cc5b1e" providerId="LiveId" clId="{D6C05350-D174-470F-879C-28E8FA1446D9}" dt="2026-09-24T15:32:59.367" v="364" actId="20577"/>
          <ac:spMkLst>
            <pc:docMk/>
            <pc:sldMk cId="0" sldId="326"/>
            <ac:spMk id="919" creationId="{00000000-0000-0000-0000-000000000000}"/>
          </ac:spMkLst>
        </pc:spChg>
      </pc:sldChg>
      <pc:sldChg chg="modSp mod">
        <pc:chgData name="Larry 2020 Deschaine, PhD PE" userId="63a1780644cc5b1e" providerId="LiveId" clId="{D6C05350-D174-470F-879C-28E8FA1446D9}" dt="2026-09-24T15:34:21.736" v="392" actId="20577"/>
        <pc:sldMkLst>
          <pc:docMk/>
          <pc:sldMk cId="0" sldId="340"/>
        </pc:sldMkLst>
        <pc:spChg chg="mod">
          <ac:chgData name="Larry 2020 Deschaine, PhD PE" userId="63a1780644cc5b1e" providerId="LiveId" clId="{D6C05350-D174-470F-879C-28E8FA1446D9}" dt="2026-09-24T15:34:21.736" v="392" actId="20577"/>
          <ac:spMkLst>
            <pc:docMk/>
            <pc:sldMk cId="0" sldId="340"/>
            <ac:spMk id="1063" creationId="{00000000-0000-0000-0000-000000000000}"/>
          </ac:spMkLst>
        </pc:spChg>
      </pc:sldChg>
      <pc:sldChg chg="modSp mod">
        <pc:chgData name="Larry 2020 Deschaine, PhD PE" userId="63a1780644cc5b1e" providerId="LiveId" clId="{D6C05350-D174-470F-879C-28E8FA1446D9}" dt="2026-09-24T15:36:59.564" v="408" actId="20577"/>
        <pc:sldMkLst>
          <pc:docMk/>
          <pc:sldMk cId="0" sldId="352"/>
        </pc:sldMkLst>
        <pc:spChg chg="mod">
          <ac:chgData name="Larry 2020 Deschaine, PhD PE" userId="63a1780644cc5b1e" providerId="LiveId" clId="{D6C05350-D174-470F-879C-28E8FA1446D9}" dt="2026-09-24T15:36:30.734" v="399" actId="20577"/>
          <ac:spMkLst>
            <pc:docMk/>
            <pc:sldMk cId="0" sldId="352"/>
            <ac:spMk id="1309" creationId="{00000000-0000-0000-0000-000000000000}"/>
          </ac:spMkLst>
        </pc:spChg>
        <pc:spChg chg="mod">
          <ac:chgData name="Larry 2020 Deschaine, PhD PE" userId="63a1780644cc5b1e" providerId="LiveId" clId="{D6C05350-D174-470F-879C-28E8FA1446D9}" dt="2026-09-24T15:36:59.564" v="408" actId="20577"/>
          <ac:spMkLst>
            <pc:docMk/>
            <pc:sldMk cId="0" sldId="352"/>
            <ac:spMk id="1314" creationId="{00000000-0000-0000-0000-000000000000}"/>
          </ac:spMkLst>
        </pc:spChg>
      </pc:sldChg>
      <pc:sldChg chg="modSp mod">
        <pc:chgData name="Larry 2020 Deschaine, PhD PE" userId="63a1780644cc5b1e" providerId="LiveId" clId="{D6C05350-D174-470F-879C-28E8FA1446D9}" dt="2026-09-24T15:39:15.075" v="627" actId="20577"/>
        <pc:sldMkLst>
          <pc:docMk/>
          <pc:sldMk cId="0" sldId="353"/>
        </pc:sldMkLst>
        <pc:spChg chg="mod">
          <ac:chgData name="Larry 2020 Deschaine, PhD PE" userId="63a1780644cc5b1e" providerId="LiveId" clId="{D6C05350-D174-470F-879C-28E8FA1446D9}" dt="2026-09-24T15:39:15.075" v="627" actId="20577"/>
          <ac:spMkLst>
            <pc:docMk/>
            <pc:sldMk cId="0" sldId="353"/>
            <ac:spMk id="1320" creationId="{00000000-0000-0000-0000-000000000000}"/>
          </ac:spMkLst>
        </pc:spChg>
      </pc:sldChg>
      <pc:sldChg chg="modSp mod">
        <pc:chgData name="Larry 2020 Deschaine, PhD PE" userId="63a1780644cc5b1e" providerId="LiveId" clId="{D6C05350-D174-470F-879C-28E8FA1446D9}" dt="2026-09-24T15:40:01.400" v="667" actId="20577"/>
        <pc:sldMkLst>
          <pc:docMk/>
          <pc:sldMk cId="0" sldId="354"/>
        </pc:sldMkLst>
        <pc:spChg chg="mod">
          <ac:chgData name="Larry 2020 Deschaine, PhD PE" userId="63a1780644cc5b1e" providerId="LiveId" clId="{D6C05350-D174-470F-879C-28E8FA1446D9}" dt="2026-09-24T15:39:41.922" v="643" actId="20577"/>
          <ac:spMkLst>
            <pc:docMk/>
            <pc:sldMk cId="0" sldId="354"/>
            <ac:spMk id="1341" creationId="{00000000-0000-0000-0000-000000000000}"/>
          </ac:spMkLst>
        </pc:spChg>
        <pc:spChg chg="mod">
          <ac:chgData name="Larry 2020 Deschaine, PhD PE" userId="63a1780644cc5b1e" providerId="LiveId" clId="{D6C05350-D174-470F-879C-28E8FA1446D9}" dt="2026-09-24T15:40:01.400" v="667" actId="20577"/>
          <ac:spMkLst>
            <pc:docMk/>
            <pc:sldMk cId="0" sldId="354"/>
            <ac:spMk id="134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E38BF7DA-FF85-407A-BD10-FEC006F4DD86}"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4" name="PlaceHolder 1"/>
          <p:cNvSpPr>
            <a:spLocks noGrp="1" noRot="1" noChangeAspect="1"/>
          </p:cNvSpPr>
          <p:nvPr>
            <p:ph type="sldImg"/>
          </p:nvPr>
        </p:nvSpPr>
        <p:spPr>
          <a:xfrm>
            <a:off x="685800" y="1143000"/>
            <a:ext cx="5486040" cy="3085920"/>
          </a:xfrm>
          <a:prstGeom prst="rect">
            <a:avLst/>
          </a:prstGeom>
          <a:ln w="0">
            <a:noFill/>
          </a:ln>
        </p:spPr>
      </p:sp>
      <p:sp>
        <p:nvSpPr>
          <p:cNvPr id="13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Welcome. This deck is a complete, self-paced walkthrough of the real Earthquake-Q reference solution — real data, real numbers, real findings.</a:t>
            </a:r>
          </a:p>
        </p:txBody>
      </p:sp>
      <p:sp>
        <p:nvSpPr>
          <p:cNvPr id="1386"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D643AF7-76A5-4DBB-AF13-1ABC295FD8B2}"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7" name="PlaceHolder 1"/>
          <p:cNvSpPr>
            <a:spLocks noGrp="1" noRot="1" noChangeAspect="1"/>
          </p:cNvSpPr>
          <p:nvPr>
            <p:ph type="sldImg"/>
          </p:nvPr>
        </p:nvSpPr>
        <p:spPr>
          <a:xfrm>
            <a:off x="685800" y="1143000"/>
            <a:ext cx="5486040" cy="3085920"/>
          </a:xfrm>
          <a:prstGeom prst="rect">
            <a:avLst/>
          </a:prstGeom>
          <a:ln w="0">
            <a:noFill/>
          </a:ln>
        </p:spPr>
      </p:sp>
      <p:sp>
        <p:nvSpPr>
          <p:cNvPr id="13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389"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1193FEF-8445-4434-8027-69684CB7FCF4}"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0" name="PlaceHolder 1"/>
          <p:cNvSpPr>
            <a:spLocks noGrp="1" noRot="1" noChangeAspect="1"/>
          </p:cNvSpPr>
          <p:nvPr>
            <p:ph type="sldImg"/>
          </p:nvPr>
        </p:nvSpPr>
        <p:spPr>
          <a:xfrm>
            <a:off x="685800" y="1143000"/>
            <a:ext cx="5486040" cy="3085920"/>
          </a:xfrm>
          <a:prstGeom prst="rect">
            <a:avLst/>
          </a:prstGeom>
          <a:ln w="0">
            <a:noFill/>
          </a:ln>
        </p:spPr>
      </p:sp>
      <p:sp>
        <p:nvSpPr>
          <p:cNvPr id="13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392"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AE36825-9527-4006-9452-2DAD7A4AB8B9}"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3" name="PlaceHolder 1"/>
          <p:cNvSpPr>
            <a:spLocks noGrp="1" noRot="1" noChangeAspect="1"/>
          </p:cNvSpPr>
          <p:nvPr>
            <p:ph type="sldImg"/>
          </p:nvPr>
        </p:nvSpPr>
        <p:spPr>
          <a:xfrm>
            <a:off x="685800" y="1143000"/>
            <a:ext cx="5486040" cy="3085920"/>
          </a:xfrm>
          <a:prstGeom prst="rect">
            <a:avLst/>
          </a:prstGeom>
          <a:ln w="0">
            <a:noFill/>
          </a:ln>
        </p:spPr>
      </p:sp>
      <p:sp>
        <p:nvSpPr>
          <p:cNvPr id="13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395"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A64208D-9D7E-472B-88C3-110184729A82}"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6" name="PlaceHolder 1"/>
          <p:cNvSpPr>
            <a:spLocks noGrp="1" noRot="1" noChangeAspect="1"/>
          </p:cNvSpPr>
          <p:nvPr>
            <p:ph type="sldImg"/>
          </p:nvPr>
        </p:nvSpPr>
        <p:spPr>
          <a:xfrm>
            <a:off x="685800" y="1143000"/>
            <a:ext cx="5486040" cy="3085920"/>
          </a:xfrm>
          <a:prstGeom prst="rect">
            <a:avLst/>
          </a:prstGeom>
          <a:ln w="0">
            <a:noFill/>
          </a:ln>
        </p:spPr>
      </p:sp>
      <p:sp>
        <p:nvSpPr>
          <p:cNvPr id="13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target is a calibrated probability. Emphasize: rare events, so calibration matters more than raw accuracy.</a:t>
            </a:r>
          </a:p>
        </p:txBody>
      </p:sp>
      <p:sp>
        <p:nvSpPr>
          <p:cNvPr id="1398"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DB0CE83-D1DD-4479-A7E5-B0592CC26F57}" type="slidenum">
              <a:rPr lang="en-US" sz="1200" b="0" strike="noStrike" spc="-1">
                <a:solidFill>
                  <a:schemeClr val="dk1"/>
                </a:solidFill>
                <a:latin typeface="+mn-lt"/>
                <a:ea typeface="+mn-ea"/>
              </a:rPr>
              <a:t>5</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9" name="PlaceHolder 1"/>
          <p:cNvSpPr>
            <a:spLocks noGrp="1" noRot="1" noChangeAspect="1"/>
          </p:cNvSpPr>
          <p:nvPr>
            <p:ph type="sldImg"/>
          </p:nvPr>
        </p:nvSpPr>
        <p:spPr>
          <a:xfrm>
            <a:off x="685800" y="1143000"/>
            <a:ext cx="5486400" cy="3086100"/>
          </a:xfrm>
          <a:prstGeom prst="rect">
            <a:avLst/>
          </a:prstGeom>
          <a:ln w="0">
            <a:noFill/>
          </a:ln>
        </p:spPr>
      </p:sp>
      <p:sp>
        <p:nvSpPr>
          <p:cNvPr id="14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These four difficulties structure the whole competition. Rarity → calibration. Raw data → craft. Leakage → validation. Physics → humility.</a:t>
            </a:r>
          </a:p>
        </p:txBody>
      </p:sp>
      <p:sp>
        <p:nvSpPr>
          <p:cNvPr id="1401"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ADF3E0A-1F6B-4DF2-93D5-BB7F171A0D44}"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 name="PlaceHolder 1"/>
          <p:cNvSpPr>
            <a:spLocks noGrp="1" noRot="1" noChangeAspect="1"/>
          </p:cNvSpPr>
          <p:nvPr>
            <p:ph type="sldImg"/>
          </p:nvPr>
        </p:nvSpPr>
        <p:spPr>
          <a:xfrm>
            <a:off x="685800" y="1143000"/>
            <a:ext cx="5486400" cy="3086100"/>
          </a:xfrm>
          <a:prstGeom prst="rect">
            <a:avLst/>
          </a:prstGeom>
          <a:ln w="0">
            <a:noFill/>
          </a:ln>
        </p:spPr>
      </p:sp>
      <p:sp>
        <p:nvSpPr>
          <p:cNvPr id="14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real class-balance figure from the FULL run. Rarity is why we score information gain and calibration, not accuracy.</a:t>
            </a:r>
          </a:p>
        </p:txBody>
      </p:sp>
      <p:sp>
        <p:nvSpPr>
          <p:cNvPr id="1404"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B39C6B9-4FF6-4DD8-8172-CA4FAE7D1015}" type="slidenum">
              <a:rPr lang="en-US" sz="1200" b="0" strike="noStrike" spc="-1">
                <a:solidFill>
                  <a:schemeClr val="dk1"/>
                </a:solidFill>
                <a:latin typeface="+mn-lt"/>
                <a:ea typeface="+mn-ea"/>
              </a:rPr>
              <a:t>7</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5" name="PlaceHolder 1"/>
          <p:cNvSpPr>
            <a:spLocks noGrp="1" noRot="1" noChangeAspect="1"/>
          </p:cNvSpPr>
          <p:nvPr>
            <p:ph type="sldImg"/>
          </p:nvPr>
        </p:nvSpPr>
        <p:spPr>
          <a:xfrm>
            <a:off x="685800" y="1143000"/>
            <a:ext cx="5486040" cy="3085920"/>
          </a:xfrm>
          <a:prstGeom prst="rect">
            <a:avLst/>
          </a:prstGeom>
          <a:ln w="0">
            <a:noFill/>
          </a:ln>
        </p:spPr>
      </p:sp>
      <p:sp>
        <p:nvSpPr>
          <p:cNvPr id="14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Two references. Climatology is the easy floor; ETAS is the hard one. Introduce the +0.136 / +0.002 numbers here as a preview.</a:t>
            </a:r>
          </a:p>
        </p:txBody>
      </p:sp>
      <p:sp>
        <p:nvSpPr>
          <p:cNvPr id="1407"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3C36388-D253-4A1B-98BF-E56C7835BB01}"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 name="PlaceHolder 1"/>
          <p:cNvSpPr>
            <a:spLocks noGrp="1" noRot="1" noChangeAspect="1"/>
          </p:cNvSpPr>
          <p:nvPr>
            <p:ph type="sldImg"/>
          </p:nvPr>
        </p:nvSpPr>
        <p:spPr>
          <a:xfrm>
            <a:off x="685800" y="1143000"/>
            <a:ext cx="5486040" cy="3085920"/>
          </a:xfrm>
          <a:prstGeom prst="rect">
            <a:avLst/>
          </a:prstGeom>
          <a:ln w="0">
            <a:noFill/>
          </a:ln>
        </p:spPr>
      </p:sp>
      <p:sp>
        <p:nvSpPr>
          <p:cNvPr id="14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Critical framing. Teams that optimize AUC will be misled. This checkpoint plants the flag early.</a:t>
            </a:r>
          </a:p>
        </p:txBody>
      </p:sp>
      <p:sp>
        <p:nvSpPr>
          <p:cNvPr id="1410"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BB4110D-9F39-4BB6-9676-E1907E2B6CDA}"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1" name="PlaceHolder 1"/>
          <p:cNvSpPr>
            <a:spLocks noGrp="1" noRot="1" noChangeAspect="1"/>
          </p:cNvSpPr>
          <p:nvPr>
            <p:ph type="sldImg"/>
          </p:nvPr>
        </p:nvSpPr>
        <p:spPr>
          <a:xfrm>
            <a:off x="685800" y="1143000"/>
            <a:ext cx="5486040" cy="3085920"/>
          </a:xfrm>
          <a:prstGeom prst="rect">
            <a:avLst/>
          </a:prstGeom>
          <a:ln w="0">
            <a:noFill/>
          </a:ln>
        </p:spPr>
      </p:sp>
      <p:sp>
        <p:nvSpPr>
          <p:cNvPr id="14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Exercise 1.1 forces engagement with the metric before any modeling. Answers in the module-1 key.</a:t>
            </a:r>
          </a:p>
        </p:txBody>
      </p:sp>
      <p:sp>
        <p:nvSpPr>
          <p:cNvPr id="1413"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99CB27D-3A23-4DE5-AC2A-B4055AADE109}"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4" name="PlaceHolder 1"/>
          <p:cNvSpPr>
            <a:spLocks noGrp="1" noRot="1" noChangeAspect="1"/>
          </p:cNvSpPr>
          <p:nvPr>
            <p:ph type="sldImg"/>
          </p:nvPr>
        </p:nvSpPr>
        <p:spPr>
          <a:xfrm>
            <a:off x="685800" y="1143000"/>
            <a:ext cx="5486040" cy="3085920"/>
          </a:xfrm>
          <a:prstGeom prst="rect">
            <a:avLst/>
          </a:prstGeom>
          <a:ln w="0">
            <a:noFill/>
          </a:ln>
        </p:spPr>
      </p:sp>
      <p:sp>
        <p:nvSpPr>
          <p:cNvPr id="14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Module 1 answer key.</a:t>
            </a:r>
          </a:p>
        </p:txBody>
      </p:sp>
      <p:sp>
        <p:nvSpPr>
          <p:cNvPr id="1416"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93D0A63-920F-4509-B433-A7ABEBAE73A5}" type="slidenum">
              <a:rPr lang="en-US" sz="1200" b="0" strike="noStrike" spc="-1">
                <a:solidFill>
                  <a:schemeClr val="dk1"/>
                </a:solidFill>
                <a:latin typeface="+mn-lt"/>
                <a:ea typeface="+mn-ea"/>
              </a:rPr>
              <a:t>11</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7" name="PlaceHolder 1"/>
          <p:cNvSpPr>
            <a:spLocks noGrp="1" noRot="1" noChangeAspect="1"/>
          </p:cNvSpPr>
          <p:nvPr>
            <p:ph type="sldImg"/>
          </p:nvPr>
        </p:nvSpPr>
        <p:spPr>
          <a:xfrm>
            <a:off x="685800" y="1143000"/>
            <a:ext cx="5486040" cy="3085920"/>
          </a:xfrm>
          <a:prstGeom prst="rect">
            <a:avLst/>
          </a:prstGeom>
          <a:ln w="0">
            <a:noFill/>
          </a:ln>
        </p:spPr>
      </p:sp>
      <p:sp>
        <p:nvSpPr>
          <p:cNvPr id="14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419"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B0916BB-DF72-4DC4-ADC2-1405E187EC1C}" type="slidenum">
              <a:rPr lang="en-US" sz="1200" b="0" strike="noStrike" spc="-1">
                <a:solidFill>
                  <a:schemeClr val="dk1"/>
                </a:solidFill>
                <a:latin typeface="+mn-lt"/>
                <a:ea typeface="+mn-ea"/>
              </a:rPr>
              <a:t>12</a:t>
            </a:fld>
            <a:endParaRPr lang="en-US"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0" name="PlaceHolder 1"/>
          <p:cNvSpPr>
            <a:spLocks noGrp="1" noRot="1" noChangeAspect="1"/>
          </p:cNvSpPr>
          <p:nvPr>
            <p:ph type="sldImg"/>
          </p:nvPr>
        </p:nvSpPr>
        <p:spPr>
          <a:xfrm>
            <a:off x="685800" y="1143000"/>
            <a:ext cx="5486400" cy="3086100"/>
          </a:xfrm>
          <a:prstGeom prst="rect">
            <a:avLst/>
          </a:prstGeom>
          <a:ln w="0">
            <a:noFill/>
          </a:ln>
        </p:spPr>
      </p:sp>
      <p:sp>
        <p:nvSpPr>
          <p:cNvPr id="14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Five sources. The catalog carries almost all the signal; the other four are honest near-nulls, which is itself a finding teams should discover.</a:t>
            </a:r>
          </a:p>
        </p:txBody>
      </p:sp>
      <p:sp>
        <p:nvSpPr>
          <p:cNvPr id="1422"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0785C69-15F6-4E26-BC19-E6C282816DBD}" type="slidenum">
              <a:rPr lang="en-US" sz="1200" b="0" strike="noStrike" spc="-1">
                <a:solidFill>
                  <a:schemeClr val="dk1"/>
                </a:solidFill>
                <a:latin typeface="+mn-lt"/>
                <a:ea typeface="+mn-ea"/>
              </a:rPr>
              <a:t>13</a:t>
            </a:fld>
            <a:endParaRPr lang="en-US" sz="12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 name="PlaceHolder 1"/>
          <p:cNvSpPr>
            <a:spLocks noGrp="1" noRot="1" noChangeAspect="1"/>
          </p:cNvSpPr>
          <p:nvPr>
            <p:ph type="sldImg"/>
          </p:nvPr>
        </p:nvSpPr>
        <p:spPr>
          <a:xfrm>
            <a:off x="685800" y="1143000"/>
            <a:ext cx="5486040" cy="3085920"/>
          </a:xfrm>
          <a:prstGeom prst="rect">
            <a:avLst/>
          </a:prstGeom>
          <a:ln w="0">
            <a:noFill/>
          </a:ln>
        </p:spPr>
      </p:sp>
      <p:sp>
        <p:nvSpPr>
          <p:cNvPr id="14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Real forcing-stream figure. Sets up the later ablation result that geomag/solar/tidal/GPS are near-nulls.</a:t>
            </a:r>
          </a:p>
        </p:txBody>
      </p:sp>
      <p:sp>
        <p:nvSpPr>
          <p:cNvPr id="1425"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5175D99-3711-4FB8-89F2-1AE4A2D60ED8}" type="slidenum">
              <a:rPr lang="en-US" sz="1200" b="0" strike="noStrike" spc="-1">
                <a:solidFill>
                  <a:schemeClr val="dk1"/>
                </a:solidFill>
                <a:latin typeface="+mn-lt"/>
                <a:ea typeface="+mn-ea"/>
              </a:rPr>
              <a:t>14</a:t>
            </a:fld>
            <a:endParaRPr lang="en-US" sz="12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 name="PlaceHolder 1"/>
          <p:cNvSpPr>
            <a:spLocks noGrp="1" noRot="1" noChangeAspect="1"/>
          </p:cNvSpPr>
          <p:nvPr>
            <p:ph type="sldImg"/>
          </p:nvPr>
        </p:nvSpPr>
        <p:spPr>
          <a:xfrm>
            <a:off x="685800" y="1143000"/>
            <a:ext cx="5486400" cy="3086100"/>
          </a:xfrm>
          <a:prstGeom prst="rect">
            <a:avLst/>
          </a:prstGeom>
          <a:ln w="0">
            <a:noFill/>
          </a:ln>
        </p:spPr>
      </p:sp>
      <p:sp>
        <p:nvSpPr>
          <p:cNvPr id="14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temporal split is the backbone of leakage safety. Cutoff frozen; judge sealed. Row counts are the real frozen-dataset numbers.</a:t>
            </a:r>
          </a:p>
        </p:txBody>
      </p:sp>
      <p:sp>
        <p:nvSpPr>
          <p:cNvPr id="1428"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B502C86-A94F-443C-89E1-046162A5A668}" type="slidenum">
              <a:rPr lang="en-US" sz="1200" b="0" strike="noStrike" spc="-1">
                <a:solidFill>
                  <a:schemeClr val="dk1"/>
                </a:solidFill>
                <a:latin typeface="+mn-lt"/>
                <a:ea typeface="+mn-ea"/>
              </a:rPr>
              <a:t>15</a:t>
            </a:fld>
            <a:endParaRPr lang="en-US" sz="12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9" name="PlaceHolder 1"/>
          <p:cNvSpPr>
            <a:spLocks noGrp="1" noRot="1" noChangeAspect="1"/>
          </p:cNvSpPr>
          <p:nvPr>
            <p:ph type="sldImg"/>
          </p:nvPr>
        </p:nvSpPr>
        <p:spPr>
          <a:xfrm>
            <a:off x="685800" y="1143000"/>
            <a:ext cx="5486040" cy="3085920"/>
          </a:xfrm>
          <a:prstGeom prst="rect">
            <a:avLst/>
          </a:prstGeom>
          <a:ln w="0">
            <a:noFill/>
          </a:ln>
        </p:spPr>
      </p:sp>
      <p:sp>
        <p:nvSpPr>
          <p:cNvPr id="14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Leakage is the #1 way strong teams fail. Name the three modes; they recur in Module 5.</a:t>
            </a:r>
          </a:p>
        </p:txBody>
      </p:sp>
      <p:sp>
        <p:nvSpPr>
          <p:cNvPr id="1431"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2B27585-0829-4AA5-B0E0-2FA54DE1738C}" type="slidenum">
              <a:rPr lang="en-US" sz="1200" b="0" strike="noStrike" spc="-1">
                <a:solidFill>
                  <a:schemeClr val="dk1"/>
                </a:solidFill>
                <a:latin typeface="+mn-lt"/>
                <a:ea typeface="+mn-ea"/>
              </a:rPr>
              <a:t>16</a:t>
            </a:fld>
            <a:endParaRPr lang="en-US" sz="12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 name="PlaceHolder 1"/>
          <p:cNvSpPr>
            <a:spLocks noGrp="1" noRot="1" noChangeAspect="1"/>
          </p:cNvSpPr>
          <p:nvPr>
            <p:ph type="sldImg"/>
          </p:nvPr>
        </p:nvSpPr>
        <p:spPr>
          <a:xfrm>
            <a:off x="685800" y="1143000"/>
            <a:ext cx="5486040" cy="3085920"/>
          </a:xfrm>
          <a:prstGeom prst="rect">
            <a:avLst/>
          </a:prstGeom>
          <a:ln w="0">
            <a:noFill/>
          </a:ln>
        </p:spPr>
      </p:sp>
      <p:sp>
        <p:nvSpPr>
          <p:cNvPr id="14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Exercise 2.1 drills leakage recognition — the highest-leverage skill in the whole competition.</a:t>
            </a:r>
          </a:p>
        </p:txBody>
      </p:sp>
      <p:sp>
        <p:nvSpPr>
          <p:cNvPr id="1434"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A5C1612-D33C-4DBD-9D06-08CE35024EB2}" type="slidenum">
              <a:rPr lang="en-US" sz="1200" b="0" strike="noStrike" spc="-1">
                <a:solidFill>
                  <a:schemeClr val="dk1"/>
                </a:solidFill>
                <a:latin typeface="+mn-lt"/>
                <a:ea typeface="+mn-ea"/>
              </a:rPr>
              <a:t>17</a:t>
            </a:fld>
            <a:endParaRPr lang="en-US" sz="1200" b="0" strike="noStrike" spc="-1">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 name="PlaceHolder 1"/>
          <p:cNvSpPr>
            <a:spLocks noGrp="1" noRot="1" noChangeAspect="1"/>
          </p:cNvSpPr>
          <p:nvPr>
            <p:ph type="sldImg"/>
          </p:nvPr>
        </p:nvSpPr>
        <p:spPr>
          <a:xfrm>
            <a:off x="685800" y="1143000"/>
            <a:ext cx="5486040" cy="3085920"/>
          </a:xfrm>
          <a:prstGeom prst="rect">
            <a:avLst/>
          </a:prstGeom>
          <a:ln w="0">
            <a:noFill/>
          </a:ln>
        </p:spPr>
      </p:sp>
      <p:sp>
        <p:nvSpPr>
          <p:cNvPr id="14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Module 2 answer key.</a:t>
            </a:r>
          </a:p>
        </p:txBody>
      </p:sp>
      <p:sp>
        <p:nvSpPr>
          <p:cNvPr id="1437"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8AED97F-CCB0-4D14-A85F-E9D372D3AA07}" type="slidenum">
              <a:rPr lang="en-US" sz="1200" b="0" strike="noStrike" spc="-1">
                <a:solidFill>
                  <a:schemeClr val="dk1"/>
                </a:solidFill>
                <a:latin typeface="+mn-lt"/>
                <a:ea typeface="+mn-ea"/>
              </a:rPr>
              <a:t>18</a:t>
            </a:fld>
            <a:endParaRPr lang="en-US" sz="1200" b="0" strike="noStrike" spc="-1">
              <a:solidFill>
                <a:srgbClr val="000000"/>
              </a:solidFill>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8" name="PlaceHolder 1"/>
          <p:cNvSpPr>
            <a:spLocks noGrp="1" noRot="1" noChangeAspect="1"/>
          </p:cNvSpPr>
          <p:nvPr>
            <p:ph type="sldImg"/>
          </p:nvPr>
        </p:nvSpPr>
        <p:spPr>
          <a:xfrm>
            <a:off x="685800" y="1143000"/>
            <a:ext cx="5486040" cy="3085920"/>
          </a:xfrm>
          <a:prstGeom prst="rect">
            <a:avLst/>
          </a:prstGeom>
          <a:ln w="0">
            <a:noFill/>
          </a:ln>
        </p:spPr>
      </p:sp>
      <p:sp>
        <p:nvSpPr>
          <p:cNvPr id="14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440"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E92B56F-AADC-490D-9566-C7A22991D91B}" type="slidenum">
              <a:rPr lang="en-US" sz="1200" b="0" strike="noStrike" spc="-1">
                <a:solidFill>
                  <a:schemeClr val="dk1"/>
                </a:solidFill>
                <a:latin typeface="+mn-lt"/>
                <a:ea typeface="+mn-ea"/>
              </a:rPr>
              <a:t>19</a:t>
            </a:fld>
            <a:endParaRPr lang="en-US" sz="1200" b="0" strike="noStrike" spc="-1">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1" name="PlaceHolder 1"/>
          <p:cNvSpPr>
            <a:spLocks noGrp="1" noRot="1" noChangeAspect="1"/>
          </p:cNvSpPr>
          <p:nvPr>
            <p:ph type="sldImg"/>
          </p:nvPr>
        </p:nvSpPr>
        <p:spPr>
          <a:xfrm>
            <a:off x="685800" y="1143000"/>
            <a:ext cx="5486040" cy="3085920"/>
          </a:xfrm>
          <a:prstGeom prst="rect">
            <a:avLst/>
          </a:prstGeom>
          <a:ln w="0">
            <a:noFill/>
          </a:ln>
        </p:spPr>
      </p:sp>
      <p:sp>
        <p:nvSpPr>
          <p:cNvPr id="14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GR is the foundation. b≈1. Deviations signal a completeness problem — the perfect setup for the next slide.</a:t>
            </a:r>
          </a:p>
        </p:txBody>
      </p:sp>
      <p:sp>
        <p:nvSpPr>
          <p:cNvPr id="1443"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D268DE8-88E5-49E7-91B2-32D50DB0D38C}" type="slidenum">
              <a:rPr lang="en-US" sz="1200" b="0" strike="noStrike" spc="-1">
                <a:solidFill>
                  <a:schemeClr val="dk1"/>
                </a:solidFill>
                <a:latin typeface="+mn-lt"/>
                <a:ea typeface="+mn-ea"/>
              </a:rPr>
              <a:t>20</a:t>
            </a:fld>
            <a:endParaRPr lang="en-US" sz="1200" b="0" strike="noStrike" spc="-1">
              <a:solidFill>
                <a:srgbClr val="000000"/>
              </a:solidFill>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4" name="PlaceHolder 1"/>
          <p:cNvSpPr>
            <a:spLocks noGrp="1" noRot="1" noChangeAspect="1"/>
          </p:cNvSpPr>
          <p:nvPr>
            <p:ph type="sldImg"/>
          </p:nvPr>
        </p:nvSpPr>
        <p:spPr>
          <a:xfrm>
            <a:off x="685800" y="1143000"/>
            <a:ext cx="5486040" cy="3085920"/>
          </a:xfrm>
          <a:prstGeom prst="rect">
            <a:avLst/>
          </a:prstGeom>
          <a:ln w="0">
            <a:noFill/>
          </a:ln>
        </p:spPr>
      </p:sp>
      <p:sp>
        <p:nvSpPr>
          <p:cNvPr id="14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Mc is THE trap. Under-estimating it biases b low. Real numbers: Mc=1.75, b=0.846 correct; 1.45/0.65 wrong.</a:t>
            </a:r>
          </a:p>
        </p:txBody>
      </p:sp>
      <p:sp>
        <p:nvSpPr>
          <p:cNvPr id="1446"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328DF98-FFFD-4433-B962-B08FFAAC78C7}" type="slidenum">
              <a:rPr lang="en-US" sz="1200" b="0" strike="noStrike" spc="-1">
                <a:solidFill>
                  <a:schemeClr val="dk1"/>
                </a:solidFill>
                <a:latin typeface="+mn-lt"/>
                <a:ea typeface="+mn-ea"/>
              </a:rPr>
              <a:t>21</a:t>
            </a:fld>
            <a:endParaRPr lang="en-US" sz="1200" b="0" strike="noStrike" spc="-1">
              <a:solidFill>
                <a:srgbClr val="000000"/>
              </a:solidFill>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7" name="PlaceHolder 1"/>
          <p:cNvSpPr>
            <a:spLocks noGrp="1" noRot="1" noChangeAspect="1"/>
          </p:cNvSpPr>
          <p:nvPr>
            <p:ph type="sldImg"/>
          </p:nvPr>
        </p:nvSpPr>
        <p:spPr>
          <a:xfrm>
            <a:off x="685800" y="1143000"/>
            <a:ext cx="5486040" cy="3085920"/>
          </a:xfrm>
          <a:prstGeom prst="rect">
            <a:avLst/>
          </a:prstGeom>
          <a:ln w="0">
            <a:noFill/>
          </a:ln>
        </p:spPr>
      </p:sp>
      <p:sp>
        <p:nvSpPr>
          <p:cNvPr id="14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Stat slide hammering the Mc lesson. The wrong number looks like a finding; it's an artifact.</a:t>
            </a:r>
          </a:p>
        </p:txBody>
      </p:sp>
      <p:sp>
        <p:nvSpPr>
          <p:cNvPr id="1449"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BA8AE2F-5A24-43D7-B39D-580CE26A555F}" type="slidenum">
              <a:rPr lang="en-US" sz="1200" b="0" strike="noStrike" spc="-1">
                <a:solidFill>
                  <a:schemeClr val="dk1"/>
                </a:solidFill>
                <a:latin typeface="+mn-lt"/>
                <a:ea typeface="+mn-ea"/>
              </a:rPr>
              <a:t>22</a:t>
            </a:fld>
            <a:endParaRPr lang="en-US" sz="1200" b="0" strike="noStrike" spc="-1">
              <a:solidFill>
                <a:srgbClr val="000000"/>
              </a:solidFill>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0" name="PlaceHolder 1"/>
          <p:cNvSpPr>
            <a:spLocks noGrp="1" noRot="1" noChangeAspect="1"/>
          </p:cNvSpPr>
          <p:nvPr>
            <p:ph type="sldImg"/>
          </p:nvPr>
        </p:nvSpPr>
        <p:spPr>
          <a:xfrm>
            <a:off x="685800" y="1143000"/>
            <a:ext cx="5486040" cy="3085920"/>
          </a:xfrm>
          <a:prstGeom prst="rect">
            <a:avLst/>
          </a:prstGeom>
          <a:ln w="0">
            <a:noFill/>
          </a:ln>
        </p:spPr>
      </p:sp>
      <p:sp>
        <p:nvSpPr>
          <p:cNvPr id="14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ETAS is the intellectual center of the challenge. Five parameters, fitted to the catalog, extremely strong out of sample.</a:t>
            </a:r>
          </a:p>
        </p:txBody>
      </p:sp>
      <p:sp>
        <p:nvSpPr>
          <p:cNvPr id="1452"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EEAC2FA-0C9A-4044-BD5C-3F244DD5DCCE}" type="slidenum">
              <a:rPr lang="en-US" sz="1200" b="0" strike="noStrike" spc="-1">
                <a:solidFill>
                  <a:schemeClr val="dk1"/>
                </a:solidFill>
                <a:latin typeface="+mn-lt"/>
                <a:ea typeface="+mn-ea"/>
              </a:rPr>
              <a:t>23</a:t>
            </a:fld>
            <a:endParaRPr lang="en-US" sz="1200" b="0" strike="noStrike" spc="-1">
              <a:solidFill>
                <a:srgbClr val="000000"/>
              </a:solidFill>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3" name="PlaceHolder 1"/>
          <p:cNvSpPr>
            <a:spLocks noGrp="1" noRot="1" noChangeAspect="1"/>
          </p:cNvSpPr>
          <p:nvPr>
            <p:ph type="sldImg"/>
          </p:nvPr>
        </p:nvSpPr>
        <p:spPr>
          <a:xfrm>
            <a:off x="685800" y="1143000"/>
            <a:ext cx="5486040" cy="3085920"/>
          </a:xfrm>
          <a:prstGeom prst="rect">
            <a:avLst/>
          </a:prstGeom>
          <a:ln w="0">
            <a:noFill/>
          </a:ln>
        </p:spPr>
      </p:sp>
      <p:sp>
        <p:nvSpPr>
          <p:cNvPr id="14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α-pinning story is a gift: it shows honest modeling and hands contestants a real open task.</a:t>
            </a:r>
          </a:p>
        </p:txBody>
      </p:sp>
      <p:sp>
        <p:nvSpPr>
          <p:cNvPr id="1455"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149C404-0649-429B-87AD-5A5BAF0456F7}" type="slidenum">
              <a:rPr lang="en-US" sz="1200" b="0" strike="noStrike" spc="-1">
                <a:solidFill>
                  <a:schemeClr val="dk1"/>
                </a:solidFill>
                <a:latin typeface="+mn-lt"/>
                <a:ea typeface="+mn-ea"/>
              </a:rPr>
              <a:t>24</a:t>
            </a:fld>
            <a:endParaRPr lang="en-US" sz="1200" b="0" strike="noStrike" spc="-1">
              <a:solidFill>
                <a:srgbClr val="000000"/>
              </a:solidFill>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6" name="PlaceHolder 1"/>
          <p:cNvSpPr>
            <a:spLocks noGrp="1" noRot="1" noChangeAspect="1"/>
          </p:cNvSpPr>
          <p:nvPr>
            <p:ph type="sldImg"/>
          </p:nvPr>
        </p:nvSpPr>
        <p:spPr>
          <a:xfrm>
            <a:off x="685800" y="1143000"/>
            <a:ext cx="5486040" cy="3085920"/>
          </a:xfrm>
          <a:prstGeom prst="rect">
            <a:avLst/>
          </a:prstGeom>
          <a:ln w="0">
            <a:noFill/>
          </a:ln>
        </p:spPr>
      </p:sp>
      <p:sp>
        <p:nvSpPr>
          <p:cNvPr id="14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Real declustering figure. Model the scientific posture: check, don't assume.</a:t>
            </a:r>
          </a:p>
        </p:txBody>
      </p:sp>
      <p:sp>
        <p:nvSpPr>
          <p:cNvPr id="1458"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E4564CD-0C29-448A-8667-7EC55E064049}" type="slidenum">
              <a:rPr lang="en-US" sz="1200" b="0" strike="noStrike" spc="-1">
                <a:solidFill>
                  <a:schemeClr val="dk1"/>
                </a:solidFill>
                <a:latin typeface="+mn-lt"/>
                <a:ea typeface="+mn-ea"/>
              </a:rPr>
              <a:t>25</a:t>
            </a:fld>
            <a:endParaRPr lang="en-US" sz="1200" b="0" strike="noStrike" spc="-1">
              <a:solidFill>
                <a:srgbClr val="000000"/>
              </a:solidFill>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9" name="PlaceHolder 1"/>
          <p:cNvSpPr>
            <a:spLocks noGrp="1" noRot="1" noChangeAspect="1"/>
          </p:cNvSpPr>
          <p:nvPr>
            <p:ph type="sldImg"/>
          </p:nvPr>
        </p:nvSpPr>
        <p:spPr>
          <a:xfrm>
            <a:off x="685800" y="1143000"/>
            <a:ext cx="5486040" cy="3085920"/>
          </a:xfrm>
          <a:prstGeom prst="rect">
            <a:avLst/>
          </a:prstGeom>
          <a:ln w="0">
            <a:noFill/>
          </a:ln>
        </p:spPr>
      </p:sp>
      <p:sp>
        <p:nvSpPr>
          <p:cNvPr id="14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Exercise 3.1 tests conceptual grasp of GR, Mc, and ETAS.</a:t>
            </a:r>
          </a:p>
        </p:txBody>
      </p:sp>
      <p:sp>
        <p:nvSpPr>
          <p:cNvPr id="1461"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F1DE3D9-F53A-46B6-891D-D815DD758E59}" type="slidenum">
              <a:rPr lang="en-US" sz="1200" b="0" strike="noStrike" spc="-1">
                <a:solidFill>
                  <a:schemeClr val="dk1"/>
                </a:solidFill>
                <a:latin typeface="+mn-lt"/>
                <a:ea typeface="+mn-ea"/>
              </a:rPr>
              <a:t>26</a:t>
            </a:fld>
            <a:endParaRPr lang="en-US" sz="1200" b="0" strike="noStrike" spc="-1">
              <a:solidFill>
                <a:srgbClr val="000000"/>
              </a:solidFill>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2" name="PlaceHolder 1"/>
          <p:cNvSpPr>
            <a:spLocks noGrp="1" noRot="1" noChangeAspect="1"/>
          </p:cNvSpPr>
          <p:nvPr>
            <p:ph type="sldImg"/>
          </p:nvPr>
        </p:nvSpPr>
        <p:spPr>
          <a:xfrm>
            <a:off x="685800" y="1143000"/>
            <a:ext cx="5486040" cy="3085920"/>
          </a:xfrm>
          <a:prstGeom prst="rect">
            <a:avLst/>
          </a:prstGeom>
          <a:ln w="0">
            <a:noFill/>
          </a:ln>
        </p:spPr>
      </p:sp>
      <p:sp>
        <p:nvSpPr>
          <p:cNvPr id="14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Module 3 answer key.</a:t>
            </a:r>
          </a:p>
        </p:txBody>
      </p:sp>
      <p:sp>
        <p:nvSpPr>
          <p:cNvPr id="1464"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068654A-2C75-4DF2-B4D3-DF0A5D919096}" type="slidenum">
              <a:rPr lang="en-US" sz="1200" b="0" strike="noStrike" spc="-1">
                <a:solidFill>
                  <a:schemeClr val="dk1"/>
                </a:solidFill>
                <a:latin typeface="+mn-lt"/>
                <a:ea typeface="+mn-ea"/>
              </a:rPr>
              <a:t>27</a:t>
            </a:fld>
            <a:endParaRPr lang="en-US" sz="1200" b="0" strike="noStrike" spc="-1">
              <a:solidFill>
                <a:srgbClr val="000000"/>
              </a:solidFill>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5" name="PlaceHolder 1"/>
          <p:cNvSpPr>
            <a:spLocks noGrp="1" noRot="1" noChangeAspect="1"/>
          </p:cNvSpPr>
          <p:nvPr>
            <p:ph type="sldImg"/>
          </p:nvPr>
        </p:nvSpPr>
        <p:spPr>
          <a:xfrm>
            <a:off x="685800" y="1143000"/>
            <a:ext cx="5486040" cy="3085920"/>
          </a:xfrm>
          <a:prstGeom prst="rect">
            <a:avLst/>
          </a:prstGeom>
          <a:ln w="0">
            <a:noFill/>
          </a:ln>
        </p:spPr>
      </p:sp>
      <p:sp>
        <p:nvSpPr>
          <p:cNvPr id="14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467"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1C70651-D10B-4A9E-BB9E-A3F8C6E57759}" type="slidenum">
              <a:rPr lang="en-US" sz="1200" b="0" strike="noStrike" spc="-1">
                <a:solidFill>
                  <a:schemeClr val="dk1"/>
                </a:solidFill>
                <a:latin typeface="+mn-lt"/>
                <a:ea typeface="+mn-ea"/>
              </a:rPr>
              <a:t>28</a:t>
            </a:fld>
            <a:endParaRPr lang="en-US" sz="1200" b="0" strike="noStrike" spc="-1">
              <a:solidFill>
                <a:srgbClr val="000000"/>
              </a:solidFill>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8" name="PlaceHolder 1"/>
          <p:cNvSpPr>
            <a:spLocks noGrp="1" noRot="1" noChangeAspect="1"/>
          </p:cNvSpPr>
          <p:nvPr>
            <p:ph type="sldImg"/>
          </p:nvPr>
        </p:nvSpPr>
        <p:spPr>
          <a:xfrm>
            <a:off x="685800" y="1143000"/>
            <a:ext cx="5486040" cy="3085920"/>
          </a:xfrm>
          <a:prstGeom prst="rect">
            <a:avLst/>
          </a:prstGeom>
          <a:ln w="0">
            <a:noFill/>
          </a:ln>
        </p:spPr>
      </p:sp>
      <p:sp>
        <p:nvSpPr>
          <p:cNvPr id="14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grid-training move is subtle and decisive. Event-centered training is the classic mismatch.</a:t>
            </a:r>
          </a:p>
        </p:txBody>
      </p:sp>
      <p:sp>
        <p:nvSpPr>
          <p:cNvPr id="1470"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D7CA18A-CAB2-42B3-BFE1-3DA18D0335C3}" type="slidenum">
              <a:rPr lang="en-US" sz="1200" b="0" strike="noStrike" spc="-1">
                <a:solidFill>
                  <a:schemeClr val="dk1"/>
                </a:solidFill>
                <a:latin typeface="+mn-lt"/>
                <a:ea typeface="+mn-ea"/>
              </a:rPr>
              <a:t>29</a:t>
            </a:fld>
            <a:endParaRPr lang="en-US" sz="1200" b="0" strike="noStrike" spc="-1">
              <a:solidFill>
                <a:srgbClr val="000000"/>
              </a:solidFill>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 name="PlaceHolder 1"/>
          <p:cNvSpPr>
            <a:spLocks noGrp="1" noRot="1" noChangeAspect="1"/>
          </p:cNvSpPr>
          <p:nvPr>
            <p:ph type="sldImg"/>
          </p:nvPr>
        </p:nvSpPr>
        <p:spPr>
          <a:xfrm>
            <a:off x="685800" y="1143000"/>
            <a:ext cx="5486040" cy="3085920"/>
          </a:xfrm>
          <a:prstGeom prst="rect">
            <a:avLst/>
          </a:prstGeom>
          <a:ln w="0">
            <a:noFill/>
          </a:ln>
        </p:spPr>
      </p:sp>
      <p:sp>
        <p:nvSpPr>
          <p:cNvPr id="14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153 classical features. Emphasize the multi-scale, physics-informed design.</a:t>
            </a:r>
          </a:p>
        </p:txBody>
      </p:sp>
      <p:sp>
        <p:nvSpPr>
          <p:cNvPr id="1473"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E2E81CB-DE55-4265-911D-5637980BF471}" type="slidenum">
              <a:rPr lang="en-US" sz="1200" b="0" strike="noStrike" spc="-1">
                <a:solidFill>
                  <a:schemeClr val="dk1"/>
                </a:solidFill>
                <a:latin typeface="+mn-lt"/>
                <a:ea typeface="+mn-ea"/>
              </a:rPr>
              <a:t>30</a:t>
            </a:fld>
            <a:endParaRPr lang="en-US" sz="1200" b="0" strike="noStrike" spc="-1">
              <a:solidFill>
                <a:srgbClr val="000000"/>
              </a:solidFill>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 name="PlaceHolder 1"/>
          <p:cNvSpPr>
            <a:spLocks noGrp="1" noRot="1" noChangeAspect="1"/>
          </p:cNvSpPr>
          <p:nvPr>
            <p:ph type="sldImg"/>
          </p:nvPr>
        </p:nvSpPr>
        <p:spPr>
          <a:xfrm>
            <a:off x="685800" y="1143000"/>
            <a:ext cx="5486040" cy="3085920"/>
          </a:xfrm>
          <a:prstGeom prst="rect">
            <a:avLst/>
          </a:prstGeom>
          <a:ln w="0">
            <a:noFill/>
          </a:ln>
        </p:spPr>
      </p:sp>
      <p:sp>
        <p:nvSpPr>
          <p:cNvPr id="14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Importance≠value is a top rubric item. Spatial fingerprints inflate importance without adding skill.</a:t>
            </a:r>
          </a:p>
        </p:txBody>
      </p:sp>
      <p:sp>
        <p:nvSpPr>
          <p:cNvPr id="1476"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D326389-276B-4A3B-897C-A248D8AE2366}" type="slidenum">
              <a:rPr lang="en-US" sz="1200" b="0" strike="noStrike" spc="-1">
                <a:solidFill>
                  <a:schemeClr val="dk1"/>
                </a:solidFill>
                <a:latin typeface="+mn-lt"/>
                <a:ea typeface="+mn-ea"/>
              </a:rPr>
              <a:t>31</a:t>
            </a:fld>
            <a:endParaRPr lang="en-US" sz="1200" b="0" strike="noStrike" spc="-1">
              <a:solidFill>
                <a:srgbClr val="000000"/>
              </a:solidFill>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7" name="PlaceHolder 1"/>
          <p:cNvSpPr>
            <a:spLocks noGrp="1" noRot="1" noChangeAspect="1"/>
          </p:cNvSpPr>
          <p:nvPr>
            <p:ph type="sldImg"/>
          </p:nvPr>
        </p:nvSpPr>
        <p:spPr>
          <a:xfrm>
            <a:off x="685800" y="1143000"/>
            <a:ext cx="5486040" cy="3085920"/>
          </a:xfrm>
          <a:prstGeom prst="rect">
            <a:avLst/>
          </a:prstGeom>
          <a:ln w="0">
            <a:noFill/>
          </a:ln>
        </p:spPr>
      </p:sp>
      <p:sp>
        <p:nvSpPr>
          <p:cNvPr id="14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Physics-informed ML: etas_phys as a feature, plus the etas_boosted offset trick.</a:t>
            </a:r>
          </a:p>
        </p:txBody>
      </p:sp>
      <p:sp>
        <p:nvSpPr>
          <p:cNvPr id="1479"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6D462CC-A712-4981-821D-C64EF9982B2E}" type="slidenum">
              <a:rPr lang="en-US" sz="1200" b="0" strike="noStrike" spc="-1">
                <a:solidFill>
                  <a:schemeClr val="dk1"/>
                </a:solidFill>
                <a:latin typeface="+mn-lt"/>
                <a:ea typeface="+mn-ea"/>
              </a:rPr>
              <a:t>32</a:t>
            </a:fld>
            <a:endParaRPr lang="en-US" sz="1200" b="0" strike="noStrike" spc="-1">
              <a:solidFill>
                <a:srgbClr val="000000"/>
              </a:solidFill>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0" name="PlaceHolder 1"/>
          <p:cNvSpPr>
            <a:spLocks noGrp="1" noRot="1" noChangeAspect="1"/>
          </p:cNvSpPr>
          <p:nvPr>
            <p:ph type="sldImg"/>
          </p:nvPr>
        </p:nvSpPr>
        <p:spPr>
          <a:xfrm>
            <a:off x="685800" y="1143000"/>
            <a:ext cx="5486040" cy="3085920"/>
          </a:xfrm>
          <a:prstGeom prst="rect">
            <a:avLst/>
          </a:prstGeom>
          <a:ln w="0">
            <a:noFill/>
          </a:ln>
        </p:spPr>
      </p:sp>
      <p:sp>
        <p:nvSpPr>
          <p:cNvPr id="14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Exercise 4.1 covers feature design and the importance-vs-value audit.</a:t>
            </a:r>
          </a:p>
        </p:txBody>
      </p:sp>
      <p:sp>
        <p:nvSpPr>
          <p:cNvPr id="1482"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320ED96-A83B-4672-B482-F9EC8822E0F9}" type="slidenum">
              <a:rPr lang="en-US" sz="1200" b="0" strike="noStrike" spc="-1">
                <a:solidFill>
                  <a:schemeClr val="dk1"/>
                </a:solidFill>
                <a:latin typeface="+mn-lt"/>
                <a:ea typeface="+mn-ea"/>
              </a:rPr>
              <a:t>33</a:t>
            </a:fld>
            <a:endParaRPr lang="en-US" sz="1200" b="0" strike="noStrike" spc="-1">
              <a:solidFill>
                <a:srgbClr val="000000"/>
              </a:solidFill>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3" name="PlaceHolder 1"/>
          <p:cNvSpPr>
            <a:spLocks noGrp="1" noRot="1" noChangeAspect="1"/>
          </p:cNvSpPr>
          <p:nvPr>
            <p:ph type="sldImg"/>
          </p:nvPr>
        </p:nvSpPr>
        <p:spPr>
          <a:xfrm>
            <a:off x="685800" y="1143000"/>
            <a:ext cx="5486040" cy="3085920"/>
          </a:xfrm>
          <a:prstGeom prst="rect">
            <a:avLst/>
          </a:prstGeom>
          <a:ln w="0">
            <a:noFill/>
          </a:ln>
        </p:spPr>
      </p:sp>
      <p:sp>
        <p:nvSpPr>
          <p:cNvPr id="14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Module 4 answer key.</a:t>
            </a:r>
          </a:p>
        </p:txBody>
      </p:sp>
      <p:sp>
        <p:nvSpPr>
          <p:cNvPr id="1485"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D8FB4A8-7F0A-453E-BD75-2179DD64A585}" type="slidenum">
              <a:rPr lang="en-US" sz="1200" b="0" strike="noStrike" spc="-1">
                <a:solidFill>
                  <a:schemeClr val="dk1"/>
                </a:solidFill>
                <a:latin typeface="+mn-lt"/>
                <a:ea typeface="+mn-ea"/>
              </a:rPr>
              <a:t>34</a:t>
            </a:fld>
            <a:endParaRPr lang="en-US" sz="1200" b="0" strike="noStrike" spc="-1">
              <a:solidFill>
                <a:srgbClr val="000000"/>
              </a:solidFill>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6" name="PlaceHolder 1"/>
          <p:cNvSpPr>
            <a:spLocks noGrp="1" noRot="1" noChangeAspect="1"/>
          </p:cNvSpPr>
          <p:nvPr>
            <p:ph type="sldImg"/>
          </p:nvPr>
        </p:nvSpPr>
        <p:spPr>
          <a:xfrm>
            <a:off x="685800" y="1143000"/>
            <a:ext cx="5486040" cy="3085920"/>
          </a:xfrm>
          <a:prstGeom prst="rect">
            <a:avLst/>
          </a:prstGeom>
          <a:ln w="0">
            <a:noFill/>
          </a:ln>
        </p:spPr>
      </p:sp>
      <p:sp>
        <p:nvSpPr>
          <p:cNvPr id="14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488"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4D0696E-7B70-4BDE-853E-701A3FA416A0}" type="slidenum">
              <a:rPr lang="en-US" sz="1200" b="0" strike="noStrike" spc="-1">
                <a:solidFill>
                  <a:schemeClr val="dk1"/>
                </a:solidFill>
                <a:latin typeface="+mn-lt"/>
                <a:ea typeface="+mn-ea"/>
              </a:rPr>
              <a:t>35</a:t>
            </a:fld>
            <a:endParaRPr lang="en-US" sz="1200" b="0" strike="noStrike" spc="-1">
              <a:solidFill>
                <a:srgbClr val="000000"/>
              </a:solidFill>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9" name="PlaceHolder 1"/>
          <p:cNvSpPr>
            <a:spLocks noGrp="1" noRot="1" noChangeAspect="1"/>
          </p:cNvSpPr>
          <p:nvPr>
            <p:ph type="sldImg"/>
          </p:nvPr>
        </p:nvSpPr>
        <p:spPr>
          <a:xfrm>
            <a:off x="685800" y="1143000"/>
            <a:ext cx="5486040" cy="3085920"/>
          </a:xfrm>
          <a:prstGeom prst="rect">
            <a:avLst/>
          </a:prstGeom>
          <a:ln w="0">
            <a:noFill/>
          </a:ln>
        </p:spPr>
      </p:sp>
      <p:sp>
        <p:nvSpPr>
          <p:cNvPr id="1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Calibration is the separator. ECE &lt; 0.01. Reliability diagram = stated vs observed.</a:t>
            </a:r>
          </a:p>
        </p:txBody>
      </p:sp>
      <p:sp>
        <p:nvSpPr>
          <p:cNvPr id="1491"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275BD9A-EB7B-45F5-995A-C824248DA03C}" type="slidenum">
              <a:rPr lang="en-US" sz="1200" b="0" strike="noStrike" spc="-1">
                <a:solidFill>
                  <a:schemeClr val="dk1"/>
                </a:solidFill>
                <a:latin typeface="+mn-lt"/>
                <a:ea typeface="+mn-ea"/>
              </a:rPr>
              <a:t>36</a:t>
            </a:fld>
            <a:endParaRPr lang="en-US" sz="1200" b="0" strike="noStrike" spc="-1">
              <a:solidFill>
                <a:srgbClr val="000000"/>
              </a:solidFill>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2" name="PlaceHolder 1"/>
          <p:cNvSpPr>
            <a:spLocks noGrp="1" noRot="1" noChangeAspect="1"/>
          </p:cNvSpPr>
          <p:nvPr>
            <p:ph type="sldImg"/>
          </p:nvPr>
        </p:nvSpPr>
        <p:spPr>
          <a:xfrm>
            <a:off x="685800" y="1143000"/>
            <a:ext cx="5486040" cy="3085920"/>
          </a:xfrm>
          <a:prstGeom prst="rect">
            <a:avLst/>
          </a:prstGeom>
          <a:ln w="0">
            <a:noFill/>
          </a:ln>
        </p:spPr>
      </p:sp>
      <p:sp>
        <p:nvSpPr>
          <p:cNvPr id="1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Isotonic calibration on held-out data. Three separated stages. Never calibrate on training scores.</a:t>
            </a:r>
          </a:p>
        </p:txBody>
      </p:sp>
      <p:sp>
        <p:nvSpPr>
          <p:cNvPr id="1494"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DD8E008-135C-41D2-A21D-EFD2E4833BFA}" type="slidenum">
              <a:rPr lang="en-US" sz="1200" b="0" strike="noStrike" spc="-1">
                <a:solidFill>
                  <a:schemeClr val="dk1"/>
                </a:solidFill>
                <a:latin typeface="+mn-lt"/>
                <a:ea typeface="+mn-ea"/>
              </a:rPr>
              <a:t>37</a:t>
            </a:fld>
            <a:endParaRPr lang="en-US" sz="1200" b="0" strike="noStrike" spc="-1">
              <a:solidFill>
                <a:srgbClr val="000000"/>
              </a:solidFill>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 name="PlaceHolder 1"/>
          <p:cNvSpPr>
            <a:spLocks noGrp="1" noRot="1" noChangeAspect="1"/>
          </p:cNvSpPr>
          <p:nvPr>
            <p:ph type="sldImg"/>
          </p:nvPr>
        </p:nvSpPr>
        <p:spPr>
          <a:xfrm>
            <a:off x="685800" y="1143000"/>
            <a:ext cx="5486040" cy="3085920"/>
          </a:xfrm>
          <a:prstGeom prst="rect">
            <a:avLst/>
          </a:prstGeom>
          <a:ln w="0">
            <a:noFill/>
          </a:ln>
        </p:spPr>
      </p:sp>
      <p:sp>
        <p:nvSpPr>
          <p:cNvPr id="14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Clipping + the MLP disaster (−0.235 bits) drive home why overconfidence is fatal under log-loss.</a:t>
            </a:r>
          </a:p>
        </p:txBody>
      </p:sp>
      <p:sp>
        <p:nvSpPr>
          <p:cNvPr id="1497"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777E7DA-B23A-4B23-ABCF-216089F89ED3}" type="slidenum">
              <a:rPr lang="en-US" sz="1200" b="0" strike="noStrike" spc="-1">
                <a:solidFill>
                  <a:schemeClr val="dk1"/>
                </a:solidFill>
                <a:latin typeface="+mn-lt"/>
                <a:ea typeface="+mn-ea"/>
              </a:rPr>
              <a:t>38</a:t>
            </a:fld>
            <a:endParaRPr lang="en-US" sz="1200" b="0" strike="noStrike" spc="-1">
              <a:solidFill>
                <a:srgbClr val="000000"/>
              </a:solidFill>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8" name="PlaceHolder 1"/>
          <p:cNvSpPr>
            <a:spLocks noGrp="1" noRot="1" noChangeAspect="1"/>
          </p:cNvSpPr>
          <p:nvPr>
            <p:ph type="sldImg"/>
          </p:nvPr>
        </p:nvSpPr>
        <p:spPr>
          <a:xfrm>
            <a:off x="685800" y="1143000"/>
            <a:ext cx="5486040" cy="3085920"/>
          </a:xfrm>
          <a:prstGeom prst="rect">
            <a:avLst/>
          </a:prstGeom>
          <a:ln w="0">
            <a:noFill/>
          </a:ln>
        </p:spPr>
      </p:sp>
      <p:sp>
        <p:nvSpPr>
          <p:cNvPr id="1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Skill-vs-lead is an honesty tool: shows whether the forecast is genuinely time-dependent.</a:t>
            </a:r>
          </a:p>
        </p:txBody>
      </p:sp>
      <p:sp>
        <p:nvSpPr>
          <p:cNvPr id="1500"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93E7832-331E-4A23-8C9B-A5E7FC0C7229}" type="slidenum">
              <a:rPr lang="en-US" sz="1200" b="0" strike="noStrike" spc="-1">
                <a:solidFill>
                  <a:schemeClr val="dk1"/>
                </a:solidFill>
                <a:latin typeface="+mn-lt"/>
                <a:ea typeface="+mn-ea"/>
              </a:rPr>
              <a:t>39</a:t>
            </a:fld>
            <a:endParaRPr lang="en-US" sz="1200" b="0" strike="noStrike" spc="-1">
              <a:solidFill>
                <a:srgbClr val="000000"/>
              </a:solidFill>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1" name="PlaceHolder 1"/>
          <p:cNvSpPr>
            <a:spLocks noGrp="1" noRot="1" noChangeAspect="1"/>
          </p:cNvSpPr>
          <p:nvPr>
            <p:ph type="sldImg"/>
          </p:nvPr>
        </p:nvSpPr>
        <p:spPr>
          <a:xfrm>
            <a:off x="685800" y="1143000"/>
            <a:ext cx="5486040" cy="3085920"/>
          </a:xfrm>
          <a:prstGeom prst="rect">
            <a:avLst/>
          </a:prstGeom>
          <a:ln w="0">
            <a:noFill/>
          </a:ln>
        </p:spPr>
      </p:sp>
      <p:sp>
        <p:nvSpPr>
          <p:cNvPr id="15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Exercise 5.1 tests the calibration workflow and the difference between ranking and calibration.</a:t>
            </a:r>
          </a:p>
        </p:txBody>
      </p:sp>
      <p:sp>
        <p:nvSpPr>
          <p:cNvPr id="1503"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E88A8AE-58E6-45D8-A840-0B8498105042}" type="slidenum">
              <a:rPr lang="en-US" sz="1200" b="0" strike="noStrike" spc="-1">
                <a:solidFill>
                  <a:schemeClr val="dk1"/>
                </a:solidFill>
                <a:latin typeface="+mn-lt"/>
                <a:ea typeface="+mn-ea"/>
              </a:rPr>
              <a:t>40</a:t>
            </a:fld>
            <a:endParaRPr lang="en-US" sz="1200" b="0" strike="noStrike" spc="-1">
              <a:solidFill>
                <a:srgbClr val="000000"/>
              </a:solidFill>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4" name="PlaceHolder 1"/>
          <p:cNvSpPr>
            <a:spLocks noGrp="1" noRot="1" noChangeAspect="1"/>
          </p:cNvSpPr>
          <p:nvPr>
            <p:ph type="sldImg"/>
          </p:nvPr>
        </p:nvSpPr>
        <p:spPr>
          <a:xfrm>
            <a:off x="685800" y="1143000"/>
            <a:ext cx="5486040" cy="3085920"/>
          </a:xfrm>
          <a:prstGeom prst="rect">
            <a:avLst/>
          </a:prstGeom>
          <a:ln w="0">
            <a:noFill/>
          </a:ln>
        </p:spPr>
      </p:sp>
      <p:sp>
        <p:nvSpPr>
          <p:cNvPr id="15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Module 5 answer key.</a:t>
            </a:r>
          </a:p>
        </p:txBody>
      </p:sp>
      <p:sp>
        <p:nvSpPr>
          <p:cNvPr id="1506"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0375C0C-3EDB-427D-A9D0-4C6F6F755B8D}" type="slidenum">
              <a:rPr lang="en-US" sz="1200" b="0" strike="noStrike" spc="-1">
                <a:solidFill>
                  <a:schemeClr val="dk1"/>
                </a:solidFill>
                <a:latin typeface="+mn-lt"/>
                <a:ea typeface="+mn-ea"/>
              </a:rPr>
              <a:t>41</a:t>
            </a:fld>
            <a:endParaRPr lang="en-US" sz="1200" b="0" strike="noStrike" spc="-1">
              <a:solidFill>
                <a:srgbClr val="000000"/>
              </a:solidFill>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7" name="PlaceHolder 1"/>
          <p:cNvSpPr>
            <a:spLocks noGrp="1" noRot="1" noChangeAspect="1"/>
          </p:cNvSpPr>
          <p:nvPr>
            <p:ph type="sldImg"/>
          </p:nvPr>
        </p:nvSpPr>
        <p:spPr>
          <a:xfrm>
            <a:off x="685800" y="1143000"/>
            <a:ext cx="5486040" cy="3085920"/>
          </a:xfrm>
          <a:prstGeom prst="rect">
            <a:avLst/>
          </a:prstGeom>
          <a:ln w="0">
            <a:noFill/>
          </a:ln>
        </p:spPr>
      </p:sp>
      <p:sp>
        <p:nvSpPr>
          <p:cNvPr id="1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509"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2779BA7-3154-4F61-AAA3-ADDA83C58213}" type="slidenum">
              <a:rPr lang="en-US" sz="1200" b="0" strike="noStrike" spc="-1">
                <a:solidFill>
                  <a:schemeClr val="dk1"/>
                </a:solidFill>
                <a:latin typeface="+mn-lt"/>
                <a:ea typeface="+mn-ea"/>
              </a:rPr>
              <a:t>42</a:t>
            </a:fld>
            <a:endParaRPr lang="en-US" sz="1200" b="0" strike="noStrike" spc="-1">
              <a:solidFill>
                <a:srgbClr val="000000"/>
              </a:solidFill>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0" name="PlaceHolder 1"/>
          <p:cNvSpPr>
            <a:spLocks noGrp="1" noRot="1" noChangeAspect="1"/>
          </p:cNvSpPr>
          <p:nvPr>
            <p:ph type="sldImg"/>
          </p:nvPr>
        </p:nvSpPr>
        <p:spPr>
          <a:xfrm>
            <a:off x="685800" y="1143000"/>
            <a:ext cx="5486400" cy="3086100"/>
          </a:xfrm>
          <a:prstGeom prst="rect">
            <a:avLst/>
          </a:prstGeom>
          <a:ln w="0">
            <a:noFill/>
          </a:ln>
        </p:spPr>
      </p:sp>
      <p:sp>
        <p:nvSpPr>
          <p:cNvPr id="1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Angle encoding + entanglement + expectation-value readout. The feature-selection bottleneck is the key practical issue.</a:t>
            </a:r>
          </a:p>
        </p:txBody>
      </p:sp>
      <p:sp>
        <p:nvSpPr>
          <p:cNvPr id="1512"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4485CF7-0924-49FA-8F34-54FC6AB060A3}" type="slidenum">
              <a:rPr lang="en-US" sz="1200" b="0" strike="noStrike" spc="-1">
                <a:solidFill>
                  <a:schemeClr val="dk1"/>
                </a:solidFill>
                <a:latin typeface="+mn-lt"/>
                <a:ea typeface="+mn-ea"/>
              </a:rPr>
              <a:t>43</a:t>
            </a:fld>
            <a:endParaRPr lang="en-US" sz="1200" b="0" strike="noStrike" spc="-1">
              <a:solidFill>
                <a:srgbClr val="000000"/>
              </a:solidFill>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3" name="PlaceHolder 1"/>
          <p:cNvSpPr>
            <a:spLocks noGrp="1" noRot="1" noChangeAspect="1"/>
          </p:cNvSpPr>
          <p:nvPr>
            <p:ph type="sldImg"/>
          </p:nvPr>
        </p:nvSpPr>
        <p:spPr>
          <a:xfrm>
            <a:off x="685800" y="1143000"/>
            <a:ext cx="5486040" cy="3085920"/>
          </a:xfrm>
          <a:prstGeom prst="rect">
            <a:avLst/>
          </a:prstGeom>
          <a:ln w="0">
            <a:noFill/>
          </a:ln>
        </p:spPr>
      </p:sp>
      <p:sp>
        <p:nvSpPr>
          <p:cNvPr id="1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encoder-selection lesson connects Module 4's trap directly to quantum practice.</a:t>
            </a:r>
          </a:p>
        </p:txBody>
      </p:sp>
      <p:sp>
        <p:nvSpPr>
          <p:cNvPr id="1515"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D5D1B65-60E3-41E4-9197-6B5727656226}" type="slidenum">
              <a:rPr lang="en-US" sz="1200" b="0" strike="noStrike" spc="-1">
                <a:solidFill>
                  <a:schemeClr val="dk1"/>
                </a:solidFill>
                <a:latin typeface="+mn-lt"/>
                <a:ea typeface="+mn-ea"/>
              </a:rPr>
              <a:t>44</a:t>
            </a:fld>
            <a:endParaRPr lang="en-US" sz="1200" b="0" strike="noStrike" spc="-1">
              <a:solidFill>
                <a:srgbClr val="000000"/>
              </a:solidFill>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6" name="PlaceHolder 1"/>
          <p:cNvSpPr>
            <a:spLocks noGrp="1" noRot="1" noChangeAspect="1"/>
          </p:cNvSpPr>
          <p:nvPr>
            <p:ph type="sldImg"/>
          </p:nvPr>
        </p:nvSpPr>
        <p:spPr>
          <a:xfrm>
            <a:off x="685800" y="1143000"/>
            <a:ext cx="5486040" cy="3085920"/>
          </a:xfrm>
          <a:prstGeom prst="rect">
            <a:avLst/>
          </a:prstGeom>
          <a:ln w="0">
            <a:noFill/>
          </a:ln>
        </p:spPr>
      </p:sp>
      <p:sp>
        <p:nvSpPr>
          <p:cNvPr id="15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Quantum-features-as-columns is the most practical approach and the one that makes honest testing easy.</a:t>
            </a:r>
          </a:p>
        </p:txBody>
      </p:sp>
      <p:sp>
        <p:nvSpPr>
          <p:cNvPr id="1518"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C98ABDB-1C80-4DF3-B5FB-EAB487E6D738}" type="slidenum">
              <a:rPr lang="en-US" sz="1200" b="0" strike="noStrike" spc="-1">
                <a:solidFill>
                  <a:schemeClr val="dk1"/>
                </a:solidFill>
                <a:latin typeface="+mn-lt"/>
                <a:ea typeface="+mn-ea"/>
              </a:rPr>
              <a:t>45</a:t>
            </a:fld>
            <a:endParaRPr lang="en-US" sz="1200" b="0" strike="noStrike" spc="-1">
              <a:solidFill>
                <a:srgbClr val="000000"/>
              </a:solidFill>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9" name="PlaceHolder 1"/>
          <p:cNvSpPr>
            <a:spLocks noGrp="1" noRot="1" noChangeAspect="1"/>
          </p:cNvSpPr>
          <p:nvPr>
            <p:ph type="sldImg"/>
          </p:nvPr>
        </p:nvSpPr>
        <p:spPr>
          <a:xfrm>
            <a:off x="685800" y="1143000"/>
            <a:ext cx="5486040" cy="3085920"/>
          </a:xfrm>
          <a:prstGeom prst="rect">
            <a:avLst/>
          </a:prstGeom>
          <a:ln w="0">
            <a:noFill/>
          </a:ln>
        </p:spPr>
      </p:sp>
      <p:sp>
        <p:nvSpPr>
          <p:cNvPr id="15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Fidelity kernel concentration is a real, measurable quantum-ML pathology. Projected kernel is the workaround.</a:t>
            </a:r>
          </a:p>
        </p:txBody>
      </p:sp>
      <p:sp>
        <p:nvSpPr>
          <p:cNvPr id="1521"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FD70611-B953-4E42-B8E6-B82806F9F0E8}" type="slidenum">
              <a:rPr lang="en-US" sz="1200" b="0" strike="noStrike" spc="-1">
                <a:solidFill>
                  <a:schemeClr val="dk1"/>
                </a:solidFill>
                <a:latin typeface="+mn-lt"/>
                <a:ea typeface="+mn-ea"/>
              </a:rPr>
              <a:t>46</a:t>
            </a:fld>
            <a:endParaRPr lang="en-US" sz="1200" b="0" strike="noStrike" spc="-1">
              <a:solidFill>
                <a:srgbClr val="000000"/>
              </a:solidFill>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2" name="PlaceHolder 1"/>
          <p:cNvSpPr>
            <a:spLocks noGrp="1" noRot="1" noChangeAspect="1"/>
          </p:cNvSpPr>
          <p:nvPr>
            <p:ph type="sldImg"/>
          </p:nvPr>
        </p:nvSpPr>
        <p:spPr>
          <a:xfrm>
            <a:off x="685800" y="1143000"/>
            <a:ext cx="5486040" cy="3085920"/>
          </a:xfrm>
          <a:prstGeom prst="rect">
            <a:avLst/>
          </a:prstGeom>
          <a:ln w="0">
            <a:noFill/>
          </a:ln>
        </p:spPr>
      </p:sp>
      <p:sp>
        <p:nvSpPr>
          <p:cNvPr id="15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VQC practical fixes: affine readout + mini-batches. The right panel previews barren plateaus.</a:t>
            </a:r>
          </a:p>
        </p:txBody>
      </p:sp>
      <p:sp>
        <p:nvSpPr>
          <p:cNvPr id="1524"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19EA267-8C8B-434E-9D26-639B4F54FBBE}" type="slidenum">
              <a:rPr lang="en-US" sz="1200" b="0" strike="noStrike" spc="-1">
                <a:solidFill>
                  <a:schemeClr val="dk1"/>
                </a:solidFill>
                <a:latin typeface="+mn-lt"/>
                <a:ea typeface="+mn-ea"/>
              </a:rPr>
              <a:t>47</a:t>
            </a:fld>
            <a:endParaRPr lang="en-US" sz="1200" b="0" strike="noStrike" spc="-1">
              <a:solidFill>
                <a:srgbClr val="000000"/>
              </a:solidFill>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 name="PlaceHolder 1"/>
          <p:cNvSpPr>
            <a:spLocks noGrp="1" noRot="1" noChangeAspect="1"/>
          </p:cNvSpPr>
          <p:nvPr>
            <p:ph type="sldImg"/>
          </p:nvPr>
        </p:nvSpPr>
        <p:spPr>
          <a:xfrm>
            <a:off x="685800" y="1143000"/>
            <a:ext cx="5486040" cy="3085920"/>
          </a:xfrm>
          <a:prstGeom prst="rect">
            <a:avLst/>
          </a:prstGeom>
          <a:ln w="0">
            <a:noFill/>
          </a:ln>
        </p:spPr>
      </p:sp>
      <p:sp>
        <p:nvSpPr>
          <p:cNvPr id="15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Barren plateaus are THE fundamental scaling limit. The real gradient-variance numbers make it concrete.</a:t>
            </a:r>
          </a:p>
        </p:txBody>
      </p:sp>
      <p:sp>
        <p:nvSpPr>
          <p:cNvPr id="1527"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D97D732-FF65-4BB1-80EE-E06252D8DB94}" type="slidenum">
              <a:rPr lang="en-US" sz="1200" b="0" strike="noStrike" spc="-1">
                <a:solidFill>
                  <a:schemeClr val="dk1"/>
                </a:solidFill>
                <a:latin typeface="+mn-lt"/>
                <a:ea typeface="+mn-ea"/>
              </a:rPr>
              <a:t>48</a:t>
            </a:fld>
            <a:endParaRPr lang="en-US" sz="1200" b="0" strike="noStrike" spc="-1">
              <a:solidFill>
                <a:srgbClr val="000000"/>
              </a:solidFill>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8" name="PlaceHolder 1"/>
          <p:cNvSpPr>
            <a:spLocks noGrp="1" noRot="1" noChangeAspect="1"/>
          </p:cNvSpPr>
          <p:nvPr>
            <p:ph type="sldImg"/>
          </p:nvPr>
        </p:nvSpPr>
        <p:spPr>
          <a:xfrm>
            <a:off x="685800" y="1143000"/>
            <a:ext cx="5486040" cy="3085920"/>
          </a:xfrm>
          <a:prstGeom prst="rect">
            <a:avLst/>
          </a:prstGeom>
          <a:ln w="0">
            <a:noFill/>
          </a:ln>
        </p:spPr>
      </p:sp>
      <p:sp>
        <p:nvSpPr>
          <p:cNvPr id="15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quantum null result, measured rigorously. This is the honesty payoff for the whole quantum module.</a:t>
            </a:r>
          </a:p>
        </p:txBody>
      </p:sp>
      <p:sp>
        <p:nvSpPr>
          <p:cNvPr id="1530"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BD3ECB1-9CBA-48E2-8785-321DA7309657}" type="slidenum">
              <a:rPr lang="en-US" sz="1200" b="0" strike="noStrike" spc="-1">
                <a:solidFill>
                  <a:schemeClr val="dk1"/>
                </a:solidFill>
                <a:latin typeface="+mn-lt"/>
                <a:ea typeface="+mn-ea"/>
              </a:rPr>
              <a:t>49</a:t>
            </a:fld>
            <a:endParaRPr lang="en-US" sz="1200" b="0" strike="noStrike" spc="-1">
              <a:solidFill>
                <a:srgbClr val="000000"/>
              </a:solidFill>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1" name="PlaceHolder 1"/>
          <p:cNvSpPr>
            <a:spLocks noGrp="1" noRot="1" noChangeAspect="1"/>
          </p:cNvSpPr>
          <p:nvPr>
            <p:ph type="sldImg"/>
          </p:nvPr>
        </p:nvSpPr>
        <p:spPr>
          <a:xfrm>
            <a:off x="685800" y="1143000"/>
            <a:ext cx="5486040" cy="3085920"/>
          </a:xfrm>
          <a:prstGeom prst="rect">
            <a:avLst/>
          </a:prstGeom>
          <a:ln w="0">
            <a:noFill/>
          </a:ln>
        </p:spPr>
      </p:sp>
      <p:sp>
        <p:nvSpPr>
          <p:cNvPr id="15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Exercise 6.1 tests the three quantum pathologies: encoder choice, kernel concentration, barren plateaus.</a:t>
            </a:r>
          </a:p>
        </p:txBody>
      </p:sp>
      <p:sp>
        <p:nvSpPr>
          <p:cNvPr id="1533"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F671F0C-192B-48D3-8014-3AB7212D864E}" type="slidenum">
              <a:rPr lang="en-US" sz="1200" b="0" strike="noStrike" spc="-1">
                <a:solidFill>
                  <a:schemeClr val="dk1"/>
                </a:solidFill>
                <a:latin typeface="+mn-lt"/>
                <a:ea typeface="+mn-ea"/>
              </a:rPr>
              <a:t>50</a:t>
            </a:fld>
            <a:endParaRPr lang="en-US" sz="1200" b="0" strike="noStrike" spc="-1">
              <a:solidFill>
                <a:srgbClr val="000000"/>
              </a:solidFill>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4" name="PlaceHolder 1"/>
          <p:cNvSpPr>
            <a:spLocks noGrp="1" noRot="1" noChangeAspect="1"/>
          </p:cNvSpPr>
          <p:nvPr>
            <p:ph type="sldImg"/>
          </p:nvPr>
        </p:nvSpPr>
        <p:spPr>
          <a:xfrm>
            <a:off x="685800" y="1143000"/>
            <a:ext cx="5486040" cy="3085920"/>
          </a:xfrm>
          <a:prstGeom prst="rect">
            <a:avLst/>
          </a:prstGeom>
          <a:ln w="0">
            <a:noFill/>
          </a:ln>
        </p:spPr>
      </p:sp>
      <p:sp>
        <p:nvSpPr>
          <p:cNvPr id="15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Module 6 answer key.</a:t>
            </a:r>
          </a:p>
        </p:txBody>
      </p:sp>
      <p:sp>
        <p:nvSpPr>
          <p:cNvPr id="1536"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B3E2F117-4AC7-4963-95A0-87AFDFE76CAA}" type="slidenum">
              <a:rPr lang="en-US" sz="1200" b="0" strike="noStrike" spc="-1">
                <a:solidFill>
                  <a:schemeClr val="dk1"/>
                </a:solidFill>
                <a:latin typeface="+mn-lt"/>
                <a:ea typeface="+mn-ea"/>
              </a:rPr>
              <a:t>51</a:t>
            </a:fld>
            <a:endParaRPr lang="en-US" sz="1200" b="0" strike="noStrike" spc="-1">
              <a:solidFill>
                <a:srgbClr val="000000"/>
              </a:solidFill>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 name="PlaceHolder 1"/>
          <p:cNvSpPr>
            <a:spLocks noGrp="1" noRot="1" noChangeAspect="1"/>
          </p:cNvSpPr>
          <p:nvPr>
            <p:ph type="sldImg"/>
          </p:nvPr>
        </p:nvSpPr>
        <p:spPr>
          <a:xfrm>
            <a:off x="685800" y="1143000"/>
            <a:ext cx="5486400" cy="3086100"/>
          </a:xfrm>
          <a:prstGeom prst="rect">
            <a:avLst/>
          </a:prstGeom>
          <a:ln w="0">
            <a:noFill/>
          </a:ln>
        </p:spPr>
      </p:sp>
      <p:sp>
        <p:nvSpPr>
          <p:cNvPr id="15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539"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96158E8-57A3-481E-A3E9-BC3AF044D577}" type="slidenum">
              <a:rPr lang="en-US" sz="1200" b="0" strike="noStrike" spc="-1">
                <a:solidFill>
                  <a:schemeClr val="dk1"/>
                </a:solidFill>
                <a:latin typeface="+mn-lt"/>
                <a:ea typeface="+mn-ea"/>
              </a:rPr>
              <a:t>52</a:t>
            </a:fld>
            <a:endParaRPr lang="en-US" sz="1200" b="0" strike="noStrike" spc="-1">
              <a:solidFill>
                <a:srgbClr val="000000"/>
              </a:solidFill>
              <a:latin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0" name="PlaceHolder 1"/>
          <p:cNvSpPr>
            <a:spLocks noGrp="1" noRot="1" noChangeAspect="1"/>
          </p:cNvSpPr>
          <p:nvPr>
            <p:ph type="sldImg"/>
          </p:nvPr>
        </p:nvSpPr>
        <p:spPr>
          <a:xfrm>
            <a:off x="685800" y="1143000"/>
            <a:ext cx="5486040" cy="3085920"/>
          </a:xfrm>
          <a:prstGeom prst="rect">
            <a:avLst/>
          </a:prstGeom>
          <a:ln w="0">
            <a:noFill/>
          </a:ln>
        </p:spPr>
      </p:sp>
      <p:sp>
        <p:nvSpPr>
          <p:cNvPr id="15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all-sets comparison. The overfit gap is the story: trees overfit, physics doesn't.</a:t>
            </a:r>
          </a:p>
        </p:txBody>
      </p:sp>
      <p:sp>
        <p:nvSpPr>
          <p:cNvPr id="1542"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8820C08-E313-4FE0-A749-472147C0BE10}" type="slidenum">
              <a:rPr lang="en-US" sz="1200" b="0" strike="noStrike" spc="-1">
                <a:solidFill>
                  <a:schemeClr val="dk1"/>
                </a:solidFill>
                <a:latin typeface="+mn-lt"/>
                <a:ea typeface="+mn-ea"/>
              </a:rPr>
              <a:t>53</a:t>
            </a:fld>
            <a:endParaRPr lang="en-US" sz="1200" b="0" strike="noStrike" spc="-1">
              <a:solidFill>
                <a:srgbClr val="000000"/>
              </a:solidFill>
              <a:latin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 name="PlaceHolder 1"/>
          <p:cNvSpPr>
            <a:spLocks noGrp="1" noRot="1" noChangeAspect="1"/>
          </p:cNvSpPr>
          <p:nvPr>
            <p:ph type="sldImg"/>
          </p:nvPr>
        </p:nvSpPr>
        <p:spPr>
          <a:xfrm>
            <a:off x="685800" y="1143000"/>
            <a:ext cx="5486040" cy="3085920"/>
          </a:xfrm>
          <a:prstGeom prst="rect">
            <a:avLst/>
          </a:prstGeom>
          <a:ln w="0">
            <a:noFill/>
          </a:ln>
        </p:spPr>
      </p:sp>
      <p:sp>
        <p:nvSpPr>
          <p:cNvPr id="15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four headline numbers. +0.136 over climatology, +0.002 over ETAS, 0.872 AUC, no quantum lift.</a:t>
            </a:r>
          </a:p>
        </p:txBody>
      </p:sp>
      <p:sp>
        <p:nvSpPr>
          <p:cNvPr id="1545"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DC42F4B-9E94-4DB7-860D-6089E78B61DE}" type="slidenum">
              <a:rPr lang="en-US" sz="1200" b="0" strike="noStrike" spc="-1">
                <a:solidFill>
                  <a:schemeClr val="dk1"/>
                </a:solidFill>
                <a:latin typeface="+mn-lt"/>
                <a:ea typeface="+mn-ea"/>
              </a:rPr>
              <a:t>54</a:t>
            </a:fld>
            <a:endParaRPr lang="en-US" sz="1200" b="0" strike="noStrike" spc="-1">
              <a:solidFill>
                <a:srgbClr val="000000"/>
              </a:solidFill>
              <a:latin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 name="PlaceHolder 1"/>
          <p:cNvSpPr>
            <a:spLocks noGrp="1" noRot="1" noChangeAspect="1"/>
          </p:cNvSpPr>
          <p:nvPr>
            <p:ph type="sldImg"/>
          </p:nvPr>
        </p:nvSpPr>
        <p:spPr>
          <a:xfrm>
            <a:off x="685800" y="1143000"/>
            <a:ext cx="5486040" cy="3085920"/>
          </a:xfrm>
          <a:prstGeom prst="rect">
            <a:avLst/>
          </a:prstGeom>
          <a:ln w="0">
            <a:noFill/>
          </a:ln>
        </p:spPr>
      </p:sp>
      <p:sp>
        <p:nvSpPr>
          <p:cNvPr id="15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AUC-as-area makes the parity result visual and intuitive for a mixed audience.</a:t>
            </a:r>
          </a:p>
        </p:txBody>
      </p:sp>
      <p:sp>
        <p:nvSpPr>
          <p:cNvPr id="1548"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074BF2F-2C30-42FF-A2D9-BA16ECA6CE80}" type="slidenum">
              <a:rPr lang="en-US" sz="1200" b="0" strike="noStrike" spc="-1">
                <a:solidFill>
                  <a:schemeClr val="dk1"/>
                </a:solidFill>
                <a:latin typeface="+mn-lt"/>
                <a:ea typeface="+mn-ea"/>
              </a:rPr>
              <a:t>55</a:t>
            </a:fld>
            <a:endParaRPr lang="en-US" sz="1200" b="0" strike="noStrike" spc="-1">
              <a:solidFill>
                <a:srgbClr val="000000"/>
              </a:solidFill>
              <a:latin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9" name="PlaceHolder 1"/>
          <p:cNvSpPr>
            <a:spLocks noGrp="1" noRot="1" noChangeAspect="1"/>
          </p:cNvSpPr>
          <p:nvPr>
            <p:ph type="sldImg"/>
          </p:nvPr>
        </p:nvSpPr>
        <p:spPr>
          <a:xfrm>
            <a:off x="685800" y="1143000"/>
            <a:ext cx="5486400" cy="3086100"/>
          </a:xfrm>
          <a:prstGeom prst="rect">
            <a:avLst/>
          </a:prstGeom>
          <a:ln w="0">
            <a:noFill/>
          </a:ln>
        </p:spPr>
      </p:sp>
      <p:sp>
        <p:nvSpPr>
          <p:cNvPr id="15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thesis of the entire deck, stated plainly. This is the checkpoint that matters most.</a:t>
            </a:r>
          </a:p>
        </p:txBody>
      </p:sp>
      <p:sp>
        <p:nvSpPr>
          <p:cNvPr id="1551"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3614E45-ABB5-4F4C-B2D5-8CA1F079F417}" type="slidenum">
              <a:rPr lang="en-US" sz="1200" b="0" strike="noStrike" spc="-1">
                <a:solidFill>
                  <a:schemeClr val="dk1"/>
                </a:solidFill>
                <a:latin typeface="+mn-lt"/>
                <a:ea typeface="+mn-ea"/>
              </a:rPr>
              <a:t>56</a:t>
            </a:fld>
            <a:endParaRPr lang="en-US" sz="1200" b="0" strike="noStrike" spc="-1">
              <a:solidFill>
                <a:srgbClr val="000000"/>
              </a:solidFill>
              <a:latin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2" name="PlaceHolder 1"/>
          <p:cNvSpPr>
            <a:spLocks noGrp="1" noRot="1" noChangeAspect="1"/>
          </p:cNvSpPr>
          <p:nvPr>
            <p:ph type="sldImg"/>
          </p:nvPr>
        </p:nvSpPr>
        <p:spPr>
          <a:xfrm>
            <a:off x="685800" y="1143000"/>
            <a:ext cx="5486040" cy="3085920"/>
          </a:xfrm>
          <a:prstGeom prst="rect">
            <a:avLst/>
          </a:prstGeom>
          <a:ln w="0">
            <a:noFill/>
          </a:ln>
        </p:spPr>
      </p:sp>
      <p:sp>
        <p:nvSpPr>
          <p:cNvPr id="15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Exercise 7.1 tests leaderboard literacy and scientific skepticism.</a:t>
            </a:r>
          </a:p>
        </p:txBody>
      </p:sp>
      <p:sp>
        <p:nvSpPr>
          <p:cNvPr id="1554"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E6DB4ED-A17B-47DD-9E34-AB1A4519497A}" type="slidenum">
              <a:rPr lang="en-US" sz="1200" b="0" strike="noStrike" spc="-1">
                <a:solidFill>
                  <a:schemeClr val="dk1"/>
                </a:solidFill>
                <a:latin typeface="+mn-lt"/>
                <a:ea typeface="+mn-ea"/>
              </a:rPr>
              <a:t>57</a:t>
            </a:fld>
            <a:endParaRPr lang="en-US" sz="1200" b="0" strike="noStrike" spc="-1">
              <a:solidFill>
                <a:srgbClr val="000000"/>
              </a:solidFill>
              <a:latin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5" name="PlaceHolder 1"/>
          <p:cNvSpPr>
            <a:spLocks noGrp="1" noRot="1" noChangeAspect="1"/>
          </p:cNvSpPr>
          <p:nvPr>
            <p:ph type="sldImg"/>
          </p:nvPr>
        </p:nvSpPr>
        <p:spPr>
          <a:xfrm>
            <a:off x="685800" y="1143000"/>
            <a:ext cx="5486040" cy="3085920"/>
          </a:xfrm>
          <a:prstGeom prst="rect">
            <a:avLst/>
          </a:prstGeom>
          <a:ln w="0">
            <a:noFill/>
          </a:ln>
        </p:spPr>
      </p:sp>
      <p:sp>
        <p:nvSpPr>
          <p:cNvPr id="15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Module 7 answer key.</a:t>
            </a:r>
          </a:p>
        </p:txBody>
      </p:sp>
      <p:sp>
        <p:nvSpPr>
          <p:cNvPr id="1557"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2876FC6-E37E-40CF-9BDC-5275918BE19D}" type="slidenum">
              <a:rPr lang="en-US" sz="1200" b="0" strike="noStrike" spc="-1">
                <a:solidFill>
                  <a:schemeClr val="dk1"/>
                </a:solidFill>
                <a:latin typeface="+mn-lt"/>
                <a:ea typeface="+mn-ea"/>
              </a:rPr>
              <a:t>58</a:t>
            </a:fld>
            <a:endParaRPr lang="en-US" sz="1200" b="0" strike="noStrike" spc="-1">
              <a:solidFill>
                <a:srgbClr val="000000"/>
              </a:solidFill>
              <a:latin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8" name="PlaceHolder 1"/>
          <p:cNvSpPr>
            <a:spLocks noGrp="1" noRot="1" noChangeAspect="1"/>
          </p:cNvSpPr>
          <p:nvPr>
            <p:ph type="sldImg"/>
          </p:nvPr>
        </p:nvSpPr>
        <p:spPr>
          <a:xfrm>
            <a:off x="685800" y="1143000"/>
            <a:ext cx="5486040" cy="3085920"/>
          </a:xfrm>
          <a:prstGeom prst="rect">
            <a:avLst/>
          </a:prstGeom>
          <a:ln w="0">
            <a:noFill/>
          </a:ln>
        </p:spPr>
      </p:sp>
      <p:sp>
        <p:nvSpPr>
          <p:cNvPr id="15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560"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7F4114C-D3A9-4FC4-AD8D-1830C05EBE7F}" type="slidenum">
              <a:rPr lang="en-US" sz="1200" b="0" strike="noStrike" spc="-1">
                <a:solidFill>
                  <a:schemeClr val="dk1"/>
                </a:solidFill>
                <a:latin typeface="+mn-lt"/>
                <a:ea typeface="+mn-ea"/>
              </a:rPr>
              <a:t>59</a:t>
            </a:fld>
            <a:endParaRPr lang="en-US" sz="1200" b="0" strike="noStrike" spc="-1">
              <a:solidFill>
                <a:srgbClr val="000000"/>
              </a:solidFill>
              <a:latin typeface="Times New Roman"/>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PlaceHolder 1"/>
          <p:cNvSpPr>
            <a:spLocks noGrp="1" noRot="1" noChangeAspect="1"/>
          </p:cNvSpPr>
          <p:nvPr>
            <p:ph type="sldImg"/>
          </p:nvPr>
        </p:nvSpPr>
        <p:spPr>
          <a:xfrm>
            <a:off x="685800" y="1143000"/>
            <a:ext cx="5486040" cy="3085920"/>
          </a:xfrm>
          <a:prstGeom prst="rect">
            <a:avLst/>
          </a:prstGeom>
          <a:ln w="0">
            <a:noFill/>
          </a:ln>
        </p:spPr>
      </p:sp>
      <p:sp>
        <p:nvSpPr>
          <p:cNvPr id="15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naive control is the pedagogical centerpiece and the answer to the user's specific request.</a:t>
            </a:r>
          </a:p>
        </p:txBody>
      </p:sp>
      <p:sp>
        <p:nvSpPr>
          <p:cNvPr id="1563"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2AF375B-820A-4A96-9055-2D4731C39614}" type="slidenum">
              <a:rPr lang="en-US" sz="1200" b="0" strike="noStrike" spc="-1">
                <a:solidFill>
                  <a:schemeClr val="dk1"/>
                </a:solidFill>
                <a:latin typeface="+mn-lt"/>
                <a:ea typeface="+mn-ea"/>
              </a:rPr>
              <a:t>60</a:t>
            </a:fld>
            <a:endParaRPr lang="en-US" sz="1200" b="0" strike="noStrike" spc="-1">
              <a:solidFill>
                <a:srgbClr val="000000"/>
              </a:solidFill>
              <a:latin typeface="Times New Roman"/>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4" name="PlaceHolder 1"/>
          <p:cNvSpPr>
            <a:spLocks noGrp="1" noRot="1" noChangeAspect="1"/>
          </p:cNvSpPr>
          <p:nvPr>
            <p:ph type="sldImg"/>
          </p:nvPr>
        </p:nvSpPr>
        <p:spPr>
          <a:xfrm>
            <a:off x="685800" y="1143000"/>
            <a:ext cx="5486040" cy="3085920"/>
          </a:xfrm>
          <a:prstGeom prst="rect">
            <a:avLst/>
          </a:prstGeom>
          <a:ln w="0">
            <a:noFill/>
          </a:ln>
        </p:spPr>
      </p:sp>
      <p:sp>
        <p:nvSpPr>
          <p:cNvPr id="15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killer result: 3 inputs = 93% of the reference. Feature engineering and physics are the marginal ~7%.</a:t>
            </a:r>
          </a:p>
        </p:txBody>
      </p:sp>
      <p:sp>
        <p:nvSpPr>
          <p:cNvPr id="1566"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AD9F1A7-22BD-438A-BB54-00237BC74549}" type="slidenum">
              <a:rPr lang="en-US" sz="1200" b="0" strike="noStrike" spc="-1">
                <a:solidFill>
                  <a:schemeClr val="dk1"/>
                </a:solidFill>
                <a:latin typeface="+mn-lt"/>
                <a:ea typeface="+mn-ea"/>
              </a:rPr>
              <a:t>61</a:t>
            </a:fld>
            <a:endParaRPr lang="en-US" sz="1200" b="0" strike="noStrike" spc="-1">
              <a:solidFill>
                <a:srgbClr val="000000"/>
              </a:solidFill>
              <a:latin typeface="Times New Roman"/>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 name="PlaceHolder 1"/>
          <p:cNvSpPr>
            <a:spLocks noGrp="1" noRot="1" noChangeAspect="1"/>
          </p:cNvSpPr>
          <p:nvPr>
            <p:ph type="sldImg"/>
          </p:nvPr>
        </p:nvSpPr>
        <p:spPr>
          <a:xfrm>
            <a:off x="685800" y="1143000"/>
            <a:ext cx="5486040" cy="3085920"/>
          </a:xfrm>
          <a:prstGeom prst="rect">
            <a:avLst/>
          </a:prstGeom>
          <a:ln w="0">
            <a:noFill/>
          </a:ln>
        </p:spPr>
      </p:sp>
      <p:sp>
        <p:nvSpPr>
          <p:cNvPr id="15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stationarity caveat (ρ≈0.49) turns 'spatial prior wins' into the more sophisticated, defensible version.</a:t>
            </a:r>
          </a:p>
        </p:txBody>
      </p:sp>
      <p:sp>
        <p:nvSpPr>
          <p:cNvPr id="1569"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E060A30-DF0E-4CD5-B9AF-0AFD734D0FBF}" type="slidenum">
              <a:rPr lang="en-US" sz="1200" b="0" strike="noStrike" spc="-1">
                <a:solidFill>
                  <a:schemeClr val="dk1"/>
                </a:solidFill>
                <a:latin typeface="+mn-lt"/>
                <a:ea typeface="+mn-ea"/>
              </a:rPr>
              <a:t>62</a:t>
            </a:fld>
            <a:endParaRPr lang="en-US" sz="1200" b="0" strike="noStrike" spc="-1">
              <a:solidFill>
                <a:srgbClr val="000000"/>
              </a:solidFill>
              <a:latin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0" name="PlaceHolder 1"/>
          <p:cNvSpPr>
            <a:spLocks noGrp="1" noRot="1" noChangeAspect="1"/>
          </p:cNvSpPr>
          <p:nvPr>
            <p:ph type="sldImg"/>
          </p:nvPr>
        </p:nvSpPr>
        <p:spPr>
          <a:xfrm>
            <a:off x="685800" y="1143000"/>
            <a:ext cx="5486040" cy="3085920"/>
          </a:xfrm>
          <a:prstGeom prst="rect">
            <a:avLst/>
          </a:prstGeom>
          <a:ln w="0">
            <a:noFill/>
          </a:ln>
        </p:spPr>
      </p:sp>
      <p:sp>
        <p:nvSpPr>
          <p:cNvPr id="15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Exercise 8.1 makes teams reason about the control's meaning and limits.</a:t>
            </a:r>
          </a:p>
        </p:txBody>
      </p:sp>
      <p:sp>
        <p:nvSpPr>
          <p:cNvPr id="1572"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BBDFD2E-CD11-4502-B51A-D0F0E3F1F8ED}" type="slidenum">
              <a:rPr lang="en-US" sz="1200" b="0" strike="noStrike" spc="-1">
                <a:solidFill>
                  <a:schemeClr val="dk1"/>
                </a:solidFill>
                <a:latin typeface="+mn-lt"/>
                <a:ea typeface="+mn-ea"/>
              </a:rPr>
              <a:t>63</a:t>
            </a:fld>
            <a:endParaRPr lang="en-US" sz="1200" b="0" strike="noStrike" spc="-1">
              <a:solidFill>
                <a:srgbClr val="000000"/>
              </a:solidFill>
              <a:latin typeface="Times New Roman"/>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 name="PlaceHolder 1"/>
          <p:cNvSpPr>
            <a:spLocks noGrp="1" noRot="1" noChangeAspect="1"/>
          </p:cNvSpPr>
          <p:nvPr>
            <p:ph type="sldImg"/>
          </p:nvPr>
        </p:nvSpPr>
        <p:spPr>
          <a:xfrm>
            <a:off x="685800" y="1143000"/>
            <a:ext cx="5486040" cy="3085920"/>
          </a:xfrm>
          <a:prstGeom prst="rect">
            <a:avLst/>
          </a:prstGeom>
          <a:ln w="0">
            <a:noFill/>
          </a:ln>
        </p:spPr>
      </p:sp>
      <p:sp>
        <p:nvSpPr>
          <p:cNvPr id="15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Module 8 answer key.</a:t>
            </a:r>
          </a:p>
        </p:txBody>
      </p:sp>
      <p:sp>
        <p:nvSpPr>
          <p:cNvPr id="1575"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8DB2965-26B8-4A41-B988-11021A5C1344}" type="slidenum">
              <a:rPr lang="en-US" sz="1200" b="0" strike="noStrike" spc="-1">
                <a:solidFill>
                  <a:schemeClr val="dk1"/>
                </a:solidFill>
                <a:latin typeface="+mn-lt"/>
                <a:ea typeface="+mn-ea"/>
              </a:rPr>
              <a:t>64</a:t>
            </a:fld>
            <a:endParaRPr lang="en-US" sz="1200" b="0" strike="noStrike" spc="-1">
              <a:solidFill>
                <a:srgbClr val="000000"/>
              </a:solidFill>
              <a:latin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 name="PlaceHolder 1"/>
          <p:cNvSpPr>
            <a:spLocks noGrp="1" noRot="1" noChangeAspect="1"/>
          </p:cNvSpPr>
          <p:nvPr>
            <p:ph type="sldImg"/>
          </p:nvPr>
        </p:nvSpPr>
        <p:spPr>
          <a:xfrm>
            <a:off x="685800" y="1143000"/>
            <a:ext cx="5486040" cy="3085920"/>
          </a:xfrm>
          <a:prstGeom prst="rect">
            <a:avLst/>
          </a:prstGeom>
          <a:ln w="0">
            <a:noFill/>
          </a:ln>
        </p:spPr>
      </p:sp>
      <p:sp>
        <p:nvSpPr>
          <p:cNvPr id="15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578"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14B67FB-7BC7-4CF4-B1E5-771E1CE8A2ED}" type="slidenum">
              <a:rPr lang="en-US" sz="1200" b="0" strike="noStrike" spc="-1">
                <a:solidFill>
                  <a:schemeClr val="dk1"/>
                </a:solidFill>
                <a:latin typeface="+mn-lt"/>
                <a:ea typeface="+mn-ea"/>
              </a:rPr>
              <a:t>65</a:t>
            </a:fld>
            <a:endParaRPr lang="en-US" sz="1200" b="0" strike="noStrike" spc="-1">
              <a:solidFill>
                <a:srgbClr val="000000"/>
              </a:solidFill>
              <a:latin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9" name="PlaceHolder 1"/>
          <p:cNvSpPr>
            <a:spLocks noGrp="1" noRot="1" noChangeAspect="1"/>
          </p:cNvSpPr>
          <p:nvPr>
            <p:ph type="sldImg"/>
          </p:nvPr>
        </p:nvSpPr>
        <p:spPr>
          <a:xfrm>
            <a:off x="685800" y="1143000"/>
            <a:ext cx="5486040" cy="3085920"/>
          </a:xfrm>
          <a:prstGeom prst="rect">
            <a:avLst/>
          </a:prstGeom>
          <a:ln w="0">
            <a:noFill/>
          </a:ln>
        </p:spPr>
      </p:sp>
      <p:sp>
        <p:nvSpPr>
          <p:cNvPr id="15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Charleston forecast: the human-facing deliverable. Uncertainty stated, certainty never claimed.</a:t>
            </a:r>
          </a:p>
        </p:txBody>
      </p:sp>
      <p:sp>
        <p:nvSpPr>
          <p:cNvPr id="1581"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60A4510-8294-40D0-AB66-8E08D79F9EB1}" type="slidenum">
              <a:rPr lang="en-US" sz="1200" b="0" strike="noStrike" spc="-1">
                <a:solidFill>
                  <a:schemeClr val="dk1"/>
                </a:solidFill>
                <a:latin typeface="+mn-lt"/>
                <a:ea typeface="+mn-ea"/>
              </a:rPr>
              <a:t>66</a:t>
            </a:fld>
            <a:endParaRPr lang="en-US" sz="1200" b="0" strike="noStrike" spc="-1">
              <a:solidFill>
                <a:srgbClr val="000000"/>
              </a:solidFill>
              <a:latin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2" name="PlaceHolder 1"/>
          <p:cNvSpPr>
            <a:spLocks noGrp="1" noRot="1" noChangeAspect="1"/>
          </p:cNvSpPr>
          <p:nvPr>
            <p:ph type="sldImg"/>
          </p:nvPr>
        </p:nvSpPr>
        <p:spPr>
          <a:xfrm>
            <a:off x="685800" y="1143000"/>
            <a:ext cx="5486040" cy="3085920"/>
          </a:xfrm>
          <a:prstGeom prst="rect">
            <a:avLst/>
          </a:prstGeom>
          <a:ln w="0">
            <a:noFill/>
          </a:ln>
        </p:spPr>
      </p:sp>
      <p:sp>
        <p:nvSpPr>
          <p:cNvPr id="15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five findings double as the judges' expected-results checklist. A team hitting these understood the problem.</a:t>
            </a:r>
          </a:p>
        </p:txBody>
      </p:sp>
      <p:sp>
        <p:nvSpPr>
          <p:cNvPr id="1584"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1E25429-B3E7-489C-A94D-9112A64FB761}" type="slidenum">
              <a:rPr lang="en-US" sz="1200" b="0" strike="noStrike" spc="-1">
                <a:solidFill>
                  <a:schemeClr val="dk1"/>
                </a:solidFill>
                <a:latin typeface="+mn-lt"/>
                <a:ea typeface="+mn-ea"/>
              </a:rPr>
              <a:t>67</a:t>
            </a:fld>
            <a:endParaRPr lang="en-US" sz="1200" b="0" strike="noStrike" spc="-1">
              <a:solidFill>
                <a:srgbClr val="000000"/>
              </a:solidFill>
              <a:latin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5" name="PlaceHolder 1"/>
          <p:cNvSpPr>
            <a:spLocks noGrp="1" noRot="1" noChangeAspect="1"/>
          </p:cNvSpPr>
          <p:nvPr>
            <p:ph type="sldImg"/>
          </p:nvPr>
        </p:nvSpPr>
        <p:spPr>
          <a:xfrm>
            <a:off x="685800" y="1143000"/>
            <a:ext cx="5486400" cy="3086100"/>
          </a:xfrm>
          <a:prstGeom prst="rect">
            <a:avLst/>
          </a:prstGeom>
          <a:ln w="0">
            <a:noFill/>
          </a:ln>
        </p:spPr>
      </p:sp>
      <p:sp>
        <p:nvSpPr>
          <p:cNvPr id="15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portable checklist — the deck's transferable value beyond this one competition.</a:t>
            </a:r>
          </a:p>
        </p:txBody>
      </p:sp>
      <p:sp>
        <p:nvSpPr>
          <p:cNvPr id="1587"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D2710FE-D4A2-4016-8E10-A70147AA8D9E}" type="slidenum">
              <a:rPr lang="en-US" sz="1200" b="0" strike="noStrike" spc="-1">
                <a:solidFill>
                  <a:schemeClr val="dk1"/>
                </a:solidFill>
                <a:latin typeface="+mn-lt"/>
                <a:ea typeface="+mn-ea"/>
              </a:rPr>
              <a:t>68</a:t>
            </a:fld>
            <a:endParaRPr lang="en-US" sz="1200" b="0" strike="noStrike" spc="-1">
              <a:solidFill>
                <a:srgbClr val="000000"/>
              </a:solidFill>
              <a:latin typeface="Times New Roman"/>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8" name="PlaceHolder 1"/>
          <p:cNvSpPr>
            <a:spLocks noGrp="1" noRot="1" noChangeAspect="1"/>
          </p:cNvSpPr>
          <p:nvPr>
            <p:ph type="sldImg"/>
          </p:nvPr>
        </p:nvSpPr>
        <p:spPr>
          <a:xfrm>
            <a:off x="685800" y="1143000"/>
            <a:ext cx="5486040" cy="3085920"/>
          </a:xfrm>
          <a:prstGeom prst="rect">
            <a:avLst/>
          </a:prstGeom>
          <a:ln w="0">
            <a:noFill/>
          </a:ln>
        </p:spPr>
      </p:sp>
      <p:sp>
        <p:nvSpPr>
          <p:cNvPr id="15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Closing. The transferable skill — honest forecasting — is the real prize, and it outlasts the hardware.</a:t>
            </a:r>
          </a:p>
        </p:txBody>
      </p:sp>
      <p:sp>
        <p:nvSpPr>
          <p:cNvPr id="1590" name="PlaceHolder 3"/>
          <p:cNvSpPr>
            <a:spLocks noGrp="1"/>
          </p:cNvSpPr>
          <p:nvPr>
            <p:ph type="sldNum" idx="7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83D098C-54D6-418C-A55D-C8325567C272}" type="slidenum">
              <a:rPr lang="en-US" sz="1200" b="0" strike="noStrike" spc="-1">
                <a:solidFill>
                  <a:schemeClr val="dk1"/>
                </a:solidFill>
                <a:latin typeface="+mn-lt"/>
                <a:ea typeface="+mn-ea"/>
              </a:rPr>
              <a:t>69</a:t>
            </a:fld>
            <a:endParaRPr lang="en-US" sz="1200" b="0" strike="noStrike" spc="-1">
              <a:solidFill>
                <a:srgbClr val="000000"/>
              </a:solidFill>
              <a:latin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1" name="PlaceHolder 1"/>
          <p:cNvSpPr>
            <a:spLocks noGrp="1" noRot="1" noChangeAspect="1"/>
          </p:cNvSpPr>
          <p:nvPr>
            <p:ph type="sldImg"/>
          </p:nvPr>
        </p:nvSpPr>
        <p:spPr>
          <a:xfrm>
            <a:off x="685800" y="1143000"/>
            <a:ext cx="5486040" cy="3085920"/>
          </a:xfrm>
          <a:prstGeom prst="rect">
            <a:avLst/>
          </a:prstGeom>
          <a:ln w="0">
            <a:noFill/>
          </a:ln>
        </p:spPr>
      </p:sp>
      <p:sp>
        <p:nvSpPr>
          <p:cNvPr id="15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Transition into the deep-dive appendix: reference-grade detail for a second pass.</a:t>
            </a:r>
          </a:p>
        </p:txBody>
      </p:sp>
      <p:sp>
        <p:nvSpPr>
          <p:cNvPr id="1593" name="PlaceHolder 3"/>
          <p:cNvSpPr>
            <a:spLocks noGrp="1"/>
          </p:cNvSpPr>
          <p:nvPr>
            <p:ph type="sldNum" idx="7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7EF35A3-A0E2-47A9-938A-57950CD20CA4}" type="slidenum">
              <a:rPr lang="en-US" sz="1200" b="0" strike="noStrike" spc="-1">
                <a:solidFill>
                  <a:schemeClr val="dk1"/>
                </a:solidFill>
                <a:latin typeface="+mn-lt"/>
                <a:ea typeface="+mn-ea"/>
              </a:rPr>
              <a:t>70</a:t>
            </a:fld>
            <a:endParaRPr lang="en-US" sz="1200" b="0" strike="noStrike" spc="-1">
              <a:solidFill>
                <a:srgbClr val="000000"/>
              </a:solidFill>
              <a:latin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4" name="PlaceHolder 1"/>
          <p:cNvSpPr>
            <a:spLocks noGrp="1" noRot="1" noChangeAspect="1"/>
          </p:cNvSpPr>
          <p:nvPr>
            <p:ph type="sldImg"/>
          </p:nvPr>
        </p:nvSpPr>
        <p:spPr>
          <a:xfrm>
            <a:off x="685800" y="1143000"/>
            <a:ext cx="5486400" cy="3086100"/>
          </a:xfrm>
          <a:prstGeom prst="rect">
            <a:avLst/>
          </a:prstGeom>
          <a:ln w="0">
            <a:noFill/>
          </a:ln>
        </p:spPr>
      </p:sp>
      <p:sp>
        <p:nvSpPr>
          <p:cNvPr id="15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Spatial map. Grounds the whole problem in geography.</a:t>
            </a:r>
          </a:p>
        </p:txBody>
      </p:sp>
      <p:sp>
        <p:nvSpPr>
          <p:cNvPr id="1596" name="PlaceHolder 3"/>
          <p:cNvSpPr>
            <a:spLocks noGrp="1"/>
          </p:cNvSpPr>
          <p:nvPr>
            <p:ph type="sldNum" idx="7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6DC3C65-7C85-4CC1-A393-1A7B967BDF82}" type="slidenum">
              <a:rPr lang="en-US" sz="1200" b="0" strike="noStrike" spc="-1">
                <a:solidFill>
                  <a:schemeClr val="dk1"/>
                </a:solidFill>
                <a:latin typeface="+mn-lt"/>
                <a:ea typeface="+mn-ea"/>
              </a:rPr>
              <a:t>71</a:t>
            </a:fld>
            <a:endParaRPr lang="en-US" sz="1200" b="0" strike="noStrike" spc="-1">
              <a:solidFill>
                <a:srgbClr val="000000"/>
              </a:solidFill>
              <a:latin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 name="PlaceHolder 1"/>
          <p:cNvSpPr>
            <a:spLocks noGrp="1" noRot="1" noChangeAspect="1"/>
          </p:cNvSpPr>
          <p:nvPr>
            <p:ph type="sldImg"/>
          </p:nvPr>
        </p:nvSpPr>
        <p:spPr>
          <a:xfrm>
            <a:off x="685800" y="1143000"/>
            <a:ext cx="5486040" cy="3085920"/>
          </a:xfrm>
          <a:prstGeom prst="rect">
            <a:avLst/>
          </a:prstGeom>
          <a:ln w="0">
            <a:noFill/>
          </a:ln>
        </p:spPr>
      </p:sp>
      <p:sp>
        <p:nvSpPr>
          <p:cNvPr id="15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Mag-depth histograms as a data-quality check.</a:t>
            </a:r>
          </a:p>
        </p:txBody>
      </p:sp>
      <p:sp>
        <p:nvSpPr>
          <p:cNvPr id="1599" name="PlaceHolder 3"/>
          <p:cNvSpPr>
            <a:spLocks noGrp="1"/>
          </p:cNvSpPr>
          <p:nvPr>
            <p:ph type="sldNum" idx="7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E982B8A-97B6-4D18-AC83-9FB49978FA22}" type="slidenum">
              <a:rPr lang="en-US" sz="1200" b="0" strike="noStrike" spc="-1">
                <a:solidFill>
                  <a:schemeClr val="dk1"/>
                </a:solidFill>
                <a:latin typeface="+mn-lt"/>
                <a:ea typeface="+mn-ea"/>
              </a:rPr>
              <a:t>72</a:t>
            </a:fld>
            <a:endParaRPr lang="en-US" sz="1200" b="0" strike="noStrike" spc="-1">
              <a:solidFill>
                <a:srgbClr val="000000"/>
              </a:solidFill>
              <a:latin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0" name="PlaceHolder 1"/>
          <p:cNvSpPr>
            <a:spLocks noGrp="1" noRot="1" noChangeAspect="1"/>
          </p:cNvSpPr>
          <p:nvPr>
            <p:ph type="sldImg"/>
          </p:nvPr>
        </p:nvSpPr>
        <p:spPr>
          <a:xfrm>
            <a:off x="685800" y="1143000"/>
            <a:ext cx="5486040" cy="3085920"/>
          </a:xfrm>
          <a:prstGeom prst="rect">
            <a:avLst/>
          </a:prstGeom>
          <a:ln w="0">
            <a:noFill/>
          </a:ln>
        </p:spPr>
      </p:sp>
      <p:sp>
        <p:nvSpPr>
          <p:cNvPr id="16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Target concentration: spatial prior is necessary but not sufficient.</a:t>
            </a:r>
          </a:p>
        </p:txBody>
      </p:sp>
      <p:sp>
        <p:nvSpPr>
          <p:cNvPr id="1602" name="PlaceHolder 3"/>
          <p:cNvSpPr>
            <a:spLocks noGrp="1"/>
          </p:cNvSpPr>
          <p:nvPr>
            <p:ph type="sldNum" idx="7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F1A3182-BD19-4A1E-9D83-4568CDA3FB24}" type="slidenum">
              <a:rPr lang="en-US" sz="1200" b="0" strike="noStrike" spc="-1">
                <a:solidFill>
                  <a:schemeClr val="dk1"/>
                </a:solidFill>
                <a:latin typeface="+mn-lt"/>
                <a:ea typeface="+mn-ea"/>
              </a:rPr>
              <a:t>73</a:t>
            </a:fld>
            <a:endParaRPr lang="en-US" sz="1200" b="0" strike="noStrike" spc="-1">
              <a:solidFill>
                <a:srgbClr val="000000"/>
              </a:solidFill>
              <a:latin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3" name="PlaceHolder 1"/>
          <p:cNvSpPr>
            <a:spLocks noGrp="1" noRot="1" noChangeAspect="1"/>
          </p:cNvSpPr>
          <p:nvPr>
            <p:ph type="sldImg"/>
          </p:nvPr>
        </p:nvSpPr>
        <p:spPr>
          <a:xfrm>
            <a:off x="685800" y="1143000"/>
            <a:ext cx="5486040" cy="3085920"/>
          </a:xfrm>
          <a:prstGeom prst="rect">
            <a:avLst/>
          </a:prstGeom>
          <a:ln w="0">
            <a:noFill/>
          </a:ln>
        </p:spPr>
      </p:sp>
      <p:sp>
        <p:nvSpPr>
          <p:cNvPr id="16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Classical leaderboard. Boosted trees win; watch the overfit gap.</a:t>
            </a:r>
          </a:p>
        </p:txBody>
      </p:sp>
      <p:sp>
        <p:nvSpPr>
          <p:cNvPr id="1605" name="PlaceHolder 3"/>
          <p:cNvSpPr>
            <a:spLocks noGrp="1"/>
          </p:cNvSpPr>
          <p:nvPr>
            <p:ph type="sldNum" idx="7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7CE6553-5D0A-4DC6-B124-549BFCB9FD7B}" type="slidenum">
              <a:rPr lang="en-US" sz="1200" b="0" strike="noStrike" spc="-1">
                <a:solidFill>
                  <a:schemeClr val="dk1"/>
                </a:solidFill>
                <a:latin typeface="+mn-lt"/>
                <a:ea typeface="+mn-ea"/>
              </a:rPr>
              <a:t>74</a:t>
            </a:fld>
            <a:endParaRPr lang="en-US" sz="1200" b="0" strike="noStrike" spc="-1">
              <a:solidFill>
                <a:srgbClr val="000000"/>
              </a:solidFill>
              <a:latin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6" name="PlaceHolder 1"/>
          <p:cNvSpPr>
            <a:spLocks noGrp="1" noRot="1" noChangeAspect="1"/>
          </p:cNvSpPr>
          <p:nvPr>
            <p:ph type="sldImg"/>
          </p:nvPr>
        </p:nvSpPr>
        <p:spPr>
          <a:xfrm>
            <a:off x="685800" y="1143000"/>
            <a:ext cx="5486040" cy="3085920"/>
          </a:xfrm>
          <a:prstGeom prst="rect">
            <a:avLst/>
          </a:prstGeom>
          <a:ln w="0">
            <a:noFill/>
          </a:ln>
        </p:spPr>
      </p:sp>
      <p:sp>
        <p:nvSpPr>
          <p:cNvPr id="16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All-models bar chart. Quantum-only trails; physics leads.</a:t>
            </a:r>
          </a:p>
        </p:txBody>
      </p:sp>
      <p:sp>
        <p:nvSpPr>
          <p:cNvPr id="1608" name="PlaceHolder 3"/>
          <p:cNvSpPr>
            <a:spLocks noGrp="1"/>
          </p:cNvSpPr>
          <p:nvPr>
            <p:ph type="sldNum" idx="7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519D04C-C9A8-4655-8948-3A6BC035C5A7}" type="slidenum">
              <a:rPr lang="en-US" sz="1200" b="0" strike="noStrike" spc="-1">
                <a:solidFill>
                  <a:schemeClr val="dk1"/>
                </a:solidFill>
                <a:latin typeface="+mn-lt"/>
                <a:ea typeface="+mn-ea"/>
              </a:rPr>
              <a:t>75</a:t>
            </a:fld>
            <a:endParaRPr lang="en-US" sz="1200" b="0" strike="noStrike" spc="-1">
              <a:solidFill>
                <a:srgbClr val="000000"/>
              </a:solidFill>
              <a:latin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9" name="PlaceHolder 1"/>
          <p:cNvSpPr>
            <a:spLocks noGrp="1" noRot="1" noChangeAspect="1"/>
          </p:cNvSpPr>
          <p:nvPr>
            <p:ph type="sldImg"/>
          </p:nvPr>
        </p:nvSpPr>
        <p:spPr>
          <a:xfrm>
            <a:off x="685800" y="1143000"/>
            <a:ext cx="5486040" cy="3085920"/>
          </a:xfrm>
          <a:prstGeom prst="rect">
            <a:avLst/>
          </a:prstGeom>
          <a:ln w="0">
            <a:noFill/>
          </a:ln>
        </p:spPr>
      </p:sp>
      <p:sp>
        <p:nvSpPr>
          <p:cNvPr id="16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Blind heatmap: multi-metric view, physics on top.</a:t>
            </a:r>
          </a:p>
        </p:txBody>
      </p:sp>
      <p:sp>
        <p:nvSpPr>
          <p:cNvPr id="1611" name="PlaceHolder 3"/>
          <p:cNvSpPr>
            <a:spLocks noGrp="1"/>
          </p:cNvSpPr>
          <p:nvPr>
            <p:ph type="sldNum" idx="7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B484D68-E922-4D8E-BE59-B9E7F93659B9}" type="slidenum">
              <a:rPr lang="en-US" sz="1200" b="0" strike="noStrike" spc="-1">
                <a:solidFill>
                  <a:schemeClr val="dk1"/>
                </a:solidFill>
                <a:latin typeface="+mn-lt"/>
                <a:ea typeface="+mn-ea"/>
              </a:rPr>
              <a:t>76</a:t>
            </a:fld>
            <a:endParaRPr lang="en-US" sz="1200" b="0" strike="noStrike" spc="-1">
              <a:solidFill>
                <a:srgbClr val="000000"/>
              </a:solidFill>
              <a:latin typeface="Times New Roman"/>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2" name="PlaceHolder 1"/>
          <p:cNvSpPr>
            <a:spLocks noGrp="1" noRot="1" noChangeAspect="1"/>
          </p:cNvSpPr>
          <p:nvPr>
            <p:ph type="sldImg"/>
          </p:nvPr>
        </p:nvSpPr>
        <p:spPr>
          <a:xfrm>
            <a:off x="685800" y="1143000"/>
            <a:ext cx="5486040" cy="3085920"/>
          </a:xfrm>
          <a:prstGeom prst="rect">
            <a:avLst/>
          </a:prstGeom>
          <a:ln w="0">
            <a:noFill/>
          </a:ln>
        </p:spPr>
      </p:sp>
      <p:sp>
        <p:nvSpPr>
          <p:cNvPr id="16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ROC vs PR; PR is the honest view for rare positives.</a:t>
            </a:r>
          </a:p>
        </p:txBody>
      </p:sp>
      <p:sp>
        <p:nvSpPr>
          <p:cNvPr id="1614" name="PlaceHolder 3"/>
          <p:cNvSpPr>
            <a:spLocks noGrp="1"/>
          </p:cNvSpPr>
          <p:nvPr>
            <p:ph type="sldNum" idx="8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979E323-A9E2-4CC2-862B-F96F7FD15CF3}" type="slidenum">
              <a:rPr lang="en-US" sz="1200" b="0" strike="noStrike" spc="-1">
                <a:solidFill>
                  <a:schemeClr val="dk1"/>
                </a:solidFill>
                <a:latin typeface="+mn-lt"/>
                <a:ea typeface="+mn-ea"/>
              </a:rPr>
              <a:t>77</a:t>
            </a:fld>
            <a:endParaRPr lang="en-US" sz="1200" b="0" strike="noStrike" spc="-1">
              <a:solidFill>
                <a:srgbClr val="000000"/>
              </a:solidFill>
              <a:latin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5" name="PlaceHolder 1"/>
          <p:cNvSpPr>
            <a:spLocks noGrp="1" noRot="1" noChangeAspect="1"/>
          </p:cNvSpPr>
          <p:nvPr>
            <p:ph type="sldImg"/>
          </p:nvPr>
        </p:nvSpPr>
        <p:spPr>
          <a:xfrm>
            <a:off x="685800" y="1143000"/>
            <a:ext cx="5486040" cy="3085920"/>
          </a:xfrm>
          <a:prstGeom prst="rect">
            <a:avLst/>
          </a:prstGeom>
          <a:ln w="0">
            <a:noFill/>
          </a:ln>
        </p:spPr>
      </p:sp>
      <p:sp>
        <p:nvSpPr>
          <p:cNvPr id="16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AUC overlay: the thin sliver of improvement over physics, made visual.</a:t>
            </a:r>
          </a:p>
        </p:txBody>
      </p:sp>
      <p:sp>
        <p:nvSpPr>
          <p:cNvPr id="1617" name="PlaceHolder 3"/>
          <p:cNvSpPr>
            <a:spLocks noGrp="1"/>
          </p:cNvSpPr>
          <p:nvPr>
            <p:ph type="sldNum" idx="8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BF45D8A-E94E-499F-B8ED-8F4CE73CD603}" type="slidenum">
              <a:rPr lang="en-US" sz="1200" b="0" strike="noStrike" spc="-1">
                <a:solidFill>
                  <a:schemeClr val="dk1"/>
                </a:solidFill>
                <a:latin typeface="+mn-lt"/>
                <a:ea typeface="+mn-ea"/>
              </a:rPr>
              <a:t>78</a:t>
            </a:fld>
            <a:endParaRPr lang="en-US" sz="1200" b="0" strike="noStrike" spc="-1">
              <a:solidFill>
                <a:srgbClr val="000000"/>
              </a:solidFill>
              <a:latin typeface="Times New Roman"/>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8" name="PlaceHolder 1"/>
          <p:cNvSpPr>
            <a:spLocks noGrp="1" noRot="1" noChangeAspect="1"/>
          </p:cNvSpPr>
          <p:nvPr>
            <p:ph type="sldImg"/>
          </p:nvPr>
        </p:nvSpPr>
        <p:spPr>
          <a:xfrm>
            <a:off x="685800" y="1143000"/>
            <a:ext cx="5486040" cy="3085920"/>
          </a:xfrm>
          <a:prstGeom prst="rect">
            <a:avLst/>
          </a:prstGeom>
          <a:ln w="0">
            <a:noFill/>
          </a:ln>
        </p:spPr>
      </p:sp>
      <p:sp>
        <p:nvSpPr>
          <p:cNvPr id="16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AUC-area by lead window: proves time-dependence.</a:t>
            </a:r>
          </a:p>
        </p:txBody>
      </p:sp>
      <p:sp>
        <p:nvSpPr>
          <p:cNvPr id="1620" name="PlaceHolder 3"/>
          <p:cNvSpPr>
            <a:spLocks noGrp="1"/>
          </p:cNvSpPr>
          <p:nvPr>
            <p:ph type="sldNum" idx="8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80B8F2B-C3D6-4D41-8817-72489FBCFD57}" type="slidenum">
              <a:rPr lang="en-US" sz="1200" b="0" strike="noStrike" spc="-1">
                <a:solidFill>
                  <a:schemeClr val="dk1"/>
                </a:solidFill>
                <a:latin typeface="+mn-lt"/>
                <a:ea typeface="+mn-ea"/>
              </a:rPr>
              <a:t>79</a:t>
            </a:fld>
            <a:endParaRPr lang="en-US" sz="1200" b="0" strike="noStrike" spc="-1">
              <a:solidFill>
                <a:srgbClr val="000000"/>
              </a:solidFill>
              <a:latin typeface="Times New Roman"/>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1" name="PlaceHolder 1"/>
          <p:cNvSpPr>
            <a:spLocks noGrp="1" noRot="1" noChangeAspect="1"/>
          </p:cNvSpPr>
          <p:nvPr>
            <p:ph type="sldImg"/>
          </p:nvPr>
        </p:nvSpPr>
        <p:spPr>
          <a:xfrm>
            <a:off x="685800" y="1143000"/>
            <a:ext cx="5486040" cy="3085920"/>
          </a:xfrm>
          <a:prstGeom prst="rect">
            <a:avLst/>
          </a:prstGeom>
          <a:ln w="0">
            <a:noFill/>
          </a:ln>
        </p:spPr>
      </p:sp>
      <p:sp>
        <p:nvSpPr>
          <p:cNvPr id="16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Feature-importance by source: catalog dominates.</a:t>
            </a:r>
          </a:p>
        </p:txBody>
      </p:sp>
      <p:sp>
        <p:nvSpPr>
          <p:cNvPr id="1623" name="PlaceHolder 3"/>
          <p:cNvSpPr>
            <a:spLocks noGrp="1"/>
          </p:cNvSpPr>
          <p:nvPr>
            <p:ph type="sldNum" idx="8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FE0F867-3E42-4E78-A9B1-322ED0568AF2}" type="slidenum">
              <a:rPr lang="en-US" sz="1200" b="0" strike="noStrike" spc="-1">
                <a:solidFill>
                  <a:schemeClr val="dk1"/>
                </a:solidFill>
                <a:latin typeface="+mn-lt"/>
                <a:ea typeface="+mn-ea"/>
              </a:rPr>
              <a:t>80</a:t>
            </a:fld>
            <a:endParaRPr lang="en-US" sz="1200" b="0" strike="noStrike" spc="-1">
              <a:solidFill>
                <a:srgbClr val="000000"/>
              </a:solidFill>
              <a:latin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4" name="PlaceHolder 1"/>
          <p:cNvSpPr>
            <a:spLocks noGrp="1" noRot="1" noChangeAspect="1"/>
          </p:cNvSpPr>
          <p:nvPr>
            <p:ph type="sldImg"/>
          </p:nvPr>
        </p:nvSpPr>
        <p:spPr>
          <a:xfrm>
            <a:off x="685800" y="1143000"/>
            <a:ext cx="5486040" cy="3085920"/>
          </a:xfrm>
          <a:prstGeom prst="rect">
            <a:avLst/>
          </a:prstGeom>
          <a:ln w="0">
            <a:noFill/>
          </a:ln>
        </p:spPr>
      </p:sp>
      <p:sp>
        <p:nvSpPr>
          <p:cNvPr id="16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Source ablation: the four non-seismic streams are near-nulls.</a:t>
            </a:r>
          </a:p>
        </p:txBody>
      </p:sp>
      <p:sp>
        <p:nvSpPr>
          <p:cNvPr id="1626" name="PlaceHolder 3"/>
          <p:cNvSpPr>
            <a:spLocks noGrp="1"/>
          </p:cNvSpPr>
          <p:nvPr>
            <p:ph type="sldNum" idx="8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38B42CA-15A7-43FB-AAC5-0FE19F8F3993}" type="slidenum">
              <a:rPr lang="en-US" sz="1200" b="0" strike="noStrike" spc="-1">
                <a:solidFill>
                  <a:schemeClr val="dk1"/>
                </a:solidFill>
                <a:latin typeface="+mn-lt"/>
                <a:ea typeface="+mn-ea"/>
              </a:rPr>
              <a:t>81</a:t>
            </a:fld>
            <a:endParaRPr lang="en-US" sz="1200" b="0" strike="noStrike" spc="-1">
              <a:solidFill>
                <a:srgbClr val="000000"/>
              </a:solidFill>
              <a:latin typeface="Times New Roman"/>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7" name="PlaceHolder 1"/>
          <p:cNvSpPr>
            <a:spLocks noGrp="1" noRot="1" noChangeAspect="1"/>
          </p:cNvSpPr>
          <p:nvPr>
            <p:ph type="sldImg"/>
          </p:nvPr>
        </p:nvSpPr>
        <p:spPr>
          <a:xfrm>
            <a:off x="685800" y="1143000"/>
            <a:ext cx="5486040" cy="3085920"/>
          </a:xfrm>
          <a:prstGeom prst="rect">
            <a:avLst/>
          </a:prstGeom>
          <a:ln w="0">
            <a:noFill/>
          </a:ln>
        </p:spPr>
      </p:sp>
      <p:sp>
        <p:nvSpPr>
          <p:cNvPr id="16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value table: the whole result in one artifact.</a:t>
            </a:r>
          </a:p>
        </p:txBody>
      </p:sp>
      <p:sp>
        <p:nvSpPr>
          <p:cNvPr id="1629" name="PlaceHolder 3"/>
          <p:cNvSpPr>
            <a:spLocks noGrp="1"/>
          </p:cNvSpPr>
          <p:nvPr>
            <p:ph type="sldNum" idx="8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C0D8E23-5360-443A-A6E2-33B5735768F9}" type="slidenum">
              <a:rPr lang="en-US" sz="1200" b="0" strike="noStrike" spc="-1">
                <a:solidFill>
                  <a:schemeClr val="dk1"/>
                </a:solidFill>
                <a:latin typeface="+mn-lt"/>
                <a:ea typeface="+mn-ea"/>
              </a:rPr>
              <a:t>82</a:t>
            </a:fld>
            <a:endParaRPr lang="en-US" sz="1200" b="0" strike="noStrike" spc="-1">
              <a:solidFill>
                <a:srgbClr val="000000"/>
              </a:solidFill>
              <a:latin typeface="Times New Roman"/>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0" name="PlaceHolder 1"/>
          <p:cNvSpPr>
            <a:spLocks noGrp="1" noRot="1" noChangeAspect="1"/>
          </p:cNvSpPr>
          <p:nvPr>
            <p:ph type="sldImg"/>
          </p:nvPr>
        </p:nvSpPr>
        <p:spPr>
          <a:xfrm>
            <a:off x="685800" y="1143000"/>
            <a:ext cx="5486040" cy="3085920"/>
          </a:xfrm>
          <a:prstGeom prst="rect">
            <a:avLst/>
          </a:prstGeom>
          <a:ln w="0">
            <a:noFill/>
          </a:ln>
        </p:spPr>
      </p:sp>
      <p:sp>
        <p:nvSpPr>
          <p:cNvPr id="16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Naive suite: model choice matters even without features; logistic on raw data implodes.</a:t>
            </a:r>
          </a:p>
        </p:txBody>
      </p:sp>
      <p:sp>
        <p:nvSpPr>
          <p:cNvPr id="1632" name="PlaceHolder 3"/>
          <p:cNvSpPr>
            <a:spLocks noGrp="1"/>
          </p:cNvSpPr>
          <p:nvPr>
            <p:ph type="sldNum" idx="8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4E45B2B-9483-4264-A000-2462BAC89264}" type="slidenum">
              <a:rPr lang="en-US" sz="1200" b="0" strike="noStrike" spc="-1">
                <a:solidFill>
                  <a:schemeClr val="dk1"/>
                </a:solidFill>
                <a:latin typeface="+mn-lt"/>
                <a:ea typeface="+mn-ea"/>
              </a:rPr>
              <a:t>83</a:t>
            </a:fld>
            <a:endParaRPr lang="en-US" sz="1200" b="0" strike="noStrike" spc="-1">
              <a:solidFill>
                <a:srgbClr val="000000"/>
              </a:solidFill>
              <a:latin typeface="Times New Roman"/>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3" name="PlaceHolder 1"/>
          <p:cNvSpPr>
            <a:spLocks noGrp="1" noRot="1" noChangeAspect="1"/>
          </p:cNvSpPr>
          <p:nvPr>
            <p:ph type="sldImg"/>
          </p:nvPr>
        </p:nvSpPr>
        <p:spPr>
          <a:xfrm>
            <a:off x="685800" y="1143000"/>
            <a:ext cx="5486040" cy="3085920"/>
          </a:xfrm>
          <a:prstGeom prst="rect">
            <a:avLst/>
          </a:prstGeom>
          <a:ln w="0">
            <a:noFill/>
          </a:ln>
        </p:spPr>
      </p:sp>
      <p:sp>
        <p:nvSpPr>
          <p:cNvPr id="16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Forecast map: the human-facing deliverable, one more time.</a:t>
            </a:r>
          </a:p>
        </p:txBody>
      </p:sp>
      <p:sp>
        <p:nvSpPr>
          <p:cNvPr id="1635" name="PlaceHolder 3"/>
          <p:cNvSpPr>
            <a:spLocks noGrp="1"/>
          </p:cNvSpPr>
          <p:nvPr>
            <p:ph type="sldNum" idx="8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C13D710-1732-4664-B1C7-76D617D0ED23}" type="slidenum">
              <a:rPr lang="en-US" sz="1200" b="0" strike="noStrike" spc="-1">
                <a:solidFill>
                  <a:schemeClr val="dk1"/>
                </a:solidFill>
                <a:latin typeface="+mn-lt"/>
                <a:ea typeface="+mn-ea"/>
              </a:rPr>
              <a:t>84</a:t>
            </a:fld>
            <a:endParaRPr lang="en-US" sz="1200" b="0" strike="noStrike" spc="-1">
              <a:solidFill>
                <a:srgbClr val="000000"/>
              </a:solidFill>
              <a:latin typeface="Times New Roman"/>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6" name="PlaceHolder 1"/>
          <p:cNvSpPr>
            <a:spLocks noGrp="1" noRot="1" noChangeAspect="1"/>
          </p:cNvSpPr>
          <p:nvPr>
            <p:ph type="sldImg"/>
          </p:nvPr>
        </p:nvSpPr>
        <p:spPr>
          <a:xfrm>
            <a:off x="685800" y="1143000"/>
            <a:ext cx="5486400" cy="3086100"/>
          </a:xfrm>
          <a:prstGeom prst="rect">
            <a:avLst/>
          </a:prstGeom>
          <a:ln w="0">
            <a:noFill/>
          </a:ln>
        </p:spPr>
      </p:sp>
      <p:sp>
        <p:nvSpPr>
          <p:cNvPr id="16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Capstone exercise: synthesizes the entire deck. The +0.28 prompt tests the tripwire instinct.</a:t>
            </a:r>
          </a:p>
        </p:txBody>
      </p:sp>
      <p:sp>
        <p:nvSpPr>
          <p:cNvPr id="1638" name="PlaceHolder 3"/>
          <p:cNvSpPr>
            <a:spLocks noGrp="1"/>
          </p:cNvSpPr>
          <p:nvPr>
            <p:ph type="sldNum" idx="8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3DD565A-C627-46E0-A2D8-44F75E0326EF}" type="slidenum">
              <a:rPr lang="en-US" sz="1200" b="0" strike="noStrike" spc="-1">
                <a:solidFill>
                  <a:schemeClr val="dk1"/>
                </a:solidFill>
                <a:latin typeface="+mn-lt"/>
                <a:ea typeface="+mn-ea"/>
              </a:rPr>
              <a:t>85</a:t>
            </a:fld>
            <a:endParaRPr lang="en-US" sz="1200" b="0" strike="noStrike" spc="-1">
              <a:solidFill>
                <a:srgbClr val="000000"/>
              </a:solidFill>
              <a:latin typeface="Times New Roman"/>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 name="PlaceHolder 1"/>
          <p:cNvSpPr>
            <a:spLocks noGrp="1" noRot="1" noChangeAspect="1"/>
          </p:cNvSpPr>
          <p:nvPr>
            <p:ph type="sldImg"/>
          </p:nvPr>
        </p:nvSpPr>
        <p:spPr>
          <a:xfrm>
            <a:off x="685800" y="1143000"/>
            <a:ext cx="5486040" cy="3085920"/>
          </a:xfrm>
          <a:prstGeom prst="rect">
            <a:avLst/>
          </a:prstGeom>
          <a:ln w="0">
            <a:noFill/>
          </a:ln>
        </p:spPr>
      </p:sp>
      <p:sp>
        <p:nvSpPr>
          <p:cNvPr id="16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Capstone answer key: the whole deck, self-tested.</a:t>
            </a:r>
          </a:p>
        </p:txBody>
      </p:sp>
      <p:sp>
        <p:nvSpPr>
          <p:cNvPr id="1641" name="PlaceHolder 3"/>
          <p:cNvSpPr>
            <a:spLocks noGrp="1"/>
          </p:cNvSpPr>
          <p:nvPr>
            <p:ph type="sldNum" idx="8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CD358DE-F608-4639-B3B8-0BB3D5C2BB50}" type="slidenum">
              <a:rPr lang="en-US" sz="1200" b="0" strike="noStrike" spc="-1">
                <a:solidFill>
                  <a:schemeClr val="dk1"/>
                </a:solidFill>
                <a:latin typeface="+mn-lt"/>
                <a:ea typeface="+mn-ea"/>
              </a:rPr>
              <a:t>86</a:t>
            </a:fld>
            <a:endParaRPr lang="en-US" sz="1200" b="0" strike="noStrike" spc="-1">
              <a:solidFill>
                <a:srgbClr val="000000"/>
              </a:solidFill>
              <a:latin typeface="Times New Roman"/>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2" name="PlaceHolder 1"/>
          <p:cNvSpPr>
            <a:spLocks noGrp="1" noRot="1" noChangeAspect="1"/>
          </p:cNvSpPr>
          <p:nvPr>
            <p:ph type="sldImg"/>
          </p:nvPr>
        </p:nvSpPr>
        <p:spPr>
          <a:xfrm>
            <a:off x="685800" y="1143000"/>
            <a:ext cx="5486040" cy="3085920"/>
          </a:xfrm>
          <a:prstGeom prst="rect">
            <a:avLst/>
          </a:prstGeom>
          <a:ln w="0">
            <a:noFill/>
          </a:ln>
        </p:spPr>
      </p:sp>
      <p:sp>
        <p:nvSpPr>
          <p:cNvPr id="16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Three fully worked numeric examples for self-study.</a:t>
            </a:r>
          </a:p>
        </p:txBody>
      </p:sp>
      <p:sp>
        <p:nvSpPr>
          <p:cNvPr id="1644" name="PlaceHolder 3"/>
          <p:cNvSpPr>
            <a:spLocks noGrp="1"/>
          </p:cNvSpPr>
          <p:nvPr>
            <p:ph type="sldNum" idx="9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6EB2188-DE3C-4E90-97EA-88DC5DE18124}" type="slidenum">
              <a:rPr lang="en-US" sz="1200" b="0" strike="noStrike" spc="-1">
                <a:solidFill>
                  <a:schemeClr val="dk1"/>
                </a:solidFill>
                <a:latin typeface="+mn-lt"/>
                <a:ea typeface="+mn-ea"/>
              </a:rPr>
              <a:t>87</a:t>
            </a:fld>
            <a:endParaRPr lang="en-US" sz="1200" b="0" strike="noStrike" spc="-1">
              <a:solidFill>
                <a:srgbClr val="000000"/>
              </a:solidFill>
              <a:latin typeface="Times New Roman"/>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5" name="PlaceHolder 1"/>
          <p:cNvSpPr>
            <a:spLocks noGrp="1" noRot="1" noChangeAspect="1"/>
          </p:cNvSpPr>
          <p:nvPr>
            <p:ph type="sldImg"/>
          </p:nvPr>
        </p:nvSpPr>
        <p:spPr>
          <a:xfrm>
            <a:off x="685800" y="1143000"/>
            <a:ext cx="5486040" cy="3085920"/>
          </a:xfrm>
          <a:prstGeom prst="rect">
            <a:avLst/>
          </a:prstGeom>
          <a:ln w="0">
            <a:noFill/>
          </a:ln>
        </p:spPr>
      </p:sp>
      <p:sp>
        <p:nvSpPr>
          <p:cNvPr id="16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Worked b-value, numerically correct: m̄=2.263, Mc=1.75 → b=0.846. Shows sensitivity to Mc.</a:t>
            </a:r>
          </a:p>
        </p:txBody>
      </p:sp>
      <p:sp>
        <p:nvSpPr>
          <p:cNvPr id="1647" name="PlaceHolder 3"/>
          <p:cNvSpPr>
            <a:spLocks noGrp="1"/>
          </p:cNvSpPr>
          <p:nvPr>
            <p:ph type="sldNum" idx="9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3E912B2-BF10-4E93-8208-2AC0E9D8AC20}" type="slidenum">
              <a:rPr lang="en-US" sz="1200" b="0" strike="noStrike" spc="-1">
                <a:solidFill>
                  <a:schemeClr val="dk1"/>
                </a:solidFill>
                <a:latin typeface="+mn-lt"/>
                <a:ea typeface="+mn-ea"/>
              </a:rPr>
              <a:t>88</a:t>
            </a:fld>
            <a:endParaRPr lang="en-US" sz="1200" b="0" strike="noStrike" spc="-1">
              <a:solidFill>
                <a:srgbClr val="000000"/>
              </a:solidFill>
              <a:latin typeface="Times New Roman"/>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 name="PlaceHolder 1"/>
          <p:cNvSpPr>
            <a:spLocks noGrp="1" noRot="1" noChangeAspect="1"/>
          </p:cNvSpPr>
          <p:nvPr>
            <p:ph type="sldImg"/>
          </p:nvPr>
        </p:nvSpPr>
        <p:spPr>
          <a:xfrm>
            <a:off x="685800" y="1143000"/>
            <a:ext cx="5486040" cy="3085920"/>
          </a:xfrm>
          <a:prstGeom prst="rect">
            <a:avLst/>
          </a:prstGeom>
          <a:ln w="0">
            <a:noFill/>
          </a:ln>
        </p:spPr>
      </p:sp>
      <p:sp>
        <p:nvSpPr>
          <p:cNvPr id="16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Worked ETAS: expected count → probability via 1−exp(−Λ). This is the baseline everything is measured against.</a:t>
            </a:r>
          </a:p>
        </p:txBody>
      </p:sp>
      <p:sp>
        <p:nvSpPr>
          <p:cNvPr id="1650" name="PlaceHolder 3"/>
          <p:cNvSpPr>
            <a:spLocks noGrp="1"/>
          </p:cNvSpPr>
          <p:nvPr>
            <p:ph type="sldNum" idx="9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B9439A8-3BC7-445B-B904-73BAC72435B9}" type="slidenum">
              <a:rPr lang="en-US" sz="1200" b="0" strike="noStrike" spc="-1">
                <a:solidFill>
                  <a:schemeClr val="dk1"/>
                </a:solidFill>
                <a:latin typeface="+mn-lt"/>
                <a:ea typeface="+mn-ea"/>
              </a:rPr>
              <a:t>89</a:t>
            </a:fld>
            <a:endParaRPr lang="en-US" sz="1200" b="0" strike="noStrike" spc="-1">
              <a:solidFill>
                <a:srgbClr val="000000"/>
              </a:solidFill>
              <a:latin typeface="Times New Roman"/>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1" name="PlaceHolder 1"/>
          <p:cNvSpPr>
            <a:spLocks noGrp="1" noRot="1" noChangeAspect="1"/>
          </p:cNvSpPr>
          <p:nvPr>
            <p:ph type="sldImg"/>
          </p:nvPr>
        </p:nvSpPr>
        <p:spPr>
          <a:xfrm>
            <a:off x="685800" y="1143000"/>
            <a:ext cx="5486040" cy="3085920"/>
          </a:xfrm>
          <a:prstGeom prst="rect">
            <a:avLst/>
          </a:prstGeom>
          <a:ln w="0">
            <a:noFill/>
          </a:ln>
        </p:spPr>
      </p:sp>
      <p:sp>
        <p:nvSpPr>
          <p:cNvPr id="16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Worked IG: log-loss difference in bits. Connects the scoring rule to the headline numbers.</a:t>
            </a:r>
          </a:p>
        </p:txBody>
      </p:sp>
      <p:sp>
        <p:nvSpPr>
          <p:cNvPr id="1653" name="PlaceHolder 3"/>
          <p:cNvSpPr>
            <a:spLocks noGrp="1"/>
          </p:cNvSpPr>
          <p:nvPr>
            <p:ph type="sldNum" idx="9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3DA9834-8A49-4E3A-8218-257721CAE6FE}" type="slidenum">
              <a:rPr lang="en-US" sz="1200" b="0" strike="noStrike" spc="-1">
                <a:solidFill>
                  <a:schemeClr val="dk1"/>
                </a:solidFill>
                <a:latin typeface="+mn-lt"/>
                <a:ea typeface="+mn-ea"/>
              </a:rPr>
              <a:t>90</a:t>
            </a:fld>
            <a:endParaRPr lang="en-US" sz="1200" b="0" strike="noStrike" spc="-1">
              <a:solidFill>
                <a:srgbClr val="000000"/>
              </a:solidFill>
              <a:latin typeface="Times New Roman"/>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4" name="PlaceHolder 1"/>
          <p:cNvSpPr>
            <a:spLocks noGrp="1" noRot="1" noChangeAspect="1"/>
          </p:cNvSpPr>
          <p:nvPr>
            <p:ph type="sldImg"/>
          </p:nvPr>
        </p:nvSpPr>
        <p:spPr>
          <a:xfrm>
            <a:off x="685800" y="1143000"/>
            <a:ext cx="5486040" cy="3085920"/>
          </a:xfrm>
          <a:prstGeom prst="rect">
            <a:avLst/>
          </a:prstGeom>
          <a:ln w="0">
            <a:noFill/>
          </a:ln>
        </p:spPr>
      </p:sp>
      <p:sp>
        <p:nvSpPr>
          <p:cNvPr id="16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ten-mistake gallery doubles as a pre-submission checklist.</a:t>
            </a:r>
          </a:p>
        </p:txBody>
      </p:sp>
      <p:sp>
        <p:nvSpPr>
          <p:cNvPr id="1656" name="PlaceHolder 3"/>
          <p:cNvSpPr>
            <a:spLocks noGrp="1"/>
          </p:cNvSpPr>
          <p:nvPr>
            <p:ph type="sldNum" idx="9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8EE7747-E788-4C3A-B8D5-F525E60873EC}" type="slidenum">
              <a:rPr lang="en-US" sz="1200" b="0" strike="noStrike" spc="-1">
                <a:solidFill>
                  <a:schemeClr val="dk1"/>
                </a:solidFill>
                <a:latin typeface="+mn-lt"/>
                <a:ea typeface="+mn-ea"/>
              </a:rPr>
              <a:t>91</a:t>
            </a:fld>
            <a:endParaRPr lang="en-US" sz="1200" b="0" strike="noStrike" spc="-1">
              <a:solidFill>
                <a:srgbClr val="000000"/>
              </a:solidFill>
              <a:latin typeface="Times New Roman"/>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7" name="PlaceHolder 1"/>
          <p:cNvSpPr>
            <a:spLocks noGrp="1" noRot="1" noChangeAspect="1"/>
          </p:cNvSpPr>
          <p:nvPr>
            <p:ph type="sldImg"/>
          </p:nvPr>
        </p:nvSpPr>
        <p:spPr>
          <a:xfrm>
            <a:off x="685800" y="1143000"/>
            <a:ext cx="5486040" cy="3085920"/>
          </a:xfrm>
          <a:prstGeom prst="rect">
            <a:avLst/>
          </a:prstGeom>
          <a:ln w="0">
            <a:noFill/>
          </a:ln>
        </p:spPr>
      </p:sp>
      <p:sp>
        <p:nvSpPr>
          <p:cNvPr id="16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659" name="PlaceHolder 3"/>
          <p:cNvSpPr>
            <a:spLocks noGrp="1"/>
          </p:cNvSpPr>
          <p:nvPr>
            <p:ph type="sldNum" idx="9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4ED904E-03AE-4CAB-A94E-5E90CEDF6259}" type="slidenum">
              <a:rPr lang="en-US" sz="1200" b="0" strike="noStrike" spc="-1">
                <a:solidFill>
                  <a:schemeClr val="dk1"/>
                </a:solidFill>
                <a:latin typeface="+mn-lt"/>
                <a:ea typeface="+mn-ea"/>
              </a:rPr>
              <a:t>92</a:t>
            </a:fld>
            <a:endParaRPr lang="en-US" sz="1200" b="0" strike="noStrike" spc="-1">
              <a:solidFill>
                <a:srgbClr val="000000"/>
              </a:solidFill>
              <a:latin typeface="Times New Roman"/>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0" name="PlaceHolder 1"/>
          <p:cNvSpPr>
            <a:spLocks noGrp="1" noRot="1" noChangeAspect="1"/>
          </p:cNvSpPr>
          <p:nvPr>
            <p:ph type="sldImg"/>
          </p:nvPr>
        </p:nvSpPr>
        <p:spPr>
          <a:xfrm>
            <a:off x="685800" y="1143000"/>
            <a:ext cx="5486040" cy="3085920"/>
          </a:xfrm>
          <a:prstGeom prst="rect">
            <a:avLst/>
          </a:prstGeom>
          <a:ln w="0">
            <a:noFill/>
          </a:ln>
        </p:spPr>
      </p:sp>
      <p:sp>
        <p:nvSpPr>
          <p:cNvPr id="16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662" name="PlaceHolder 3"/>
          <p:cNvSpPr>
            <a:spLocks noGrp="1"/>
          </p:cNvSpPr>
          <p:nvPr>
            <p:ph type="sldNum" idx="9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7BC51CF-86B8-400C-AE43-B821CDE949A4}" type="slidenum">
              <a:rPr lang="en-US" sz="1200" b="0" strike="noStrike" spc="-1">
                <a:solidFill>
                  <a:schemeClr val="dk1"/>
                </a:solidFill>
                <a:latin typeface="+mn-lt"/>
                <a:ea typeface="+mn-ea"/>
              </a:rPr>
              <a:t>93</a:t>
            </a:fld>
            <a:endParaRPr lang="en-US" sz="1200" b="0" strike="noStrike" spc="-1">
              <a:solidFill>
                <a:srgbClr val="000000"/>
              </a:solidFill>
              <a:latin typeface="Times New Roman"/>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3" name="PlaceHolder 1"/>
          <p:cNvSpPr>
            <a:spLocks noGrp="1" noRot="1" noChangeAspect="1"/>
          </p:cNvSpPr>
          <p:nvPr>
            <p:ph type="sldImg"/>
          </p:nvPr>
        </p:nvSpPr>
        <p:spPr>
          <a:xfrm>
            <a:off x="685800" y="1143000"/>
            <a:ext cx="5486040" cy="3085920"/>
          </a:xfrm>
          <a:prstGeom prst="rect">
            <a:avLst/>
          </a:prstGeom>
          <a:ln w="0">
            <a:noFill/>
          </a:ln>
        </p:spPr>
      </p:sp>
      <p:sp>
        <p:nvSpPr>
          <p:cNvPr id="16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Leakage check: blind ≥ test is the anti-leakage signature. Real numbers: test +0.110 → blind +0.134.</a:t>
            </a:r>
          </a:p>
        </p:txBody>
      </p:sp>
      <p:sp>
        <p:nvSpPr>
          <p:cNvPr id="1665" name="PlaceHolder 3"/>
          <p:cNvSpPr>
            <a:spLocks noGrp="1"/>
          </p:cNvSpPr>
          <p:nvPr>
            <p:ph type="sldNum" idx="9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F397E98-0786-4D20-A8CD-EAB5AEEA77B6}" type="slidenum">
              <a:rPr lang="en-US" sz="1200" b="0" strike="noStrike" spc="-1">
                <a:solidFill>
                  <a:schemeClr val="dk1"/>
                </a:solidFill>
                <a:latin typeface="+mn-lt"/>
                <a:ea typeface="+mn-ea"/>
              </a:rPr>
              <a:t>94</a:t>
            </a:fld>
            <a:endParaRPr lang="en-US" sz="1200" b="0" strike="noStrike" spc="-1">
              <a:solidFill>
                <a:srgbClr val="000000"/>
              </a:solidFill>
              <a:latin typeface="Times New Roman"/>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6" name="PlaceHolder 1"/>
          <p:cNvSpPr>
            <a:spLocks noGrp="1" noRot="1" noChangeAspect="1"/>
          </p:cNvSpPr>
          <p:nvPr>
            <p:ph type="sldImg"/>
          </p:nvPr>
        </p:nvSpPr>
        <p:spPr>
          <a:xfrm>
            <a:off x="685800" y="1143000"/>
            <a:ext cx="5486040" cy="3085920"/>
          </a:xfrm>
          <a:prstGeom prst="rect">
            <a:avLst/>
          </a:prstGeom>
          <a:ln w="0">
            <a:noFill/>
          </a:ln>
        </p:spPr>
      </p:sp>
      <p:sp>
        <p:nvSpPr>
          <p:cNvPr id="16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Per-window skill detail: the forecast tracks real activity variation.</a:t>
            </a:r>
          </a:p>
        </p:txBody>
      </p:sp>
      <p:sp>
        <p:nvSpPr>
          <p:cNvPr id="1668" name="PlaceHolder 3"/>
          <p:cNvSpPr>
            <a:spLocks noGrp="1"/>
          </p:cNvSpPr>
          <p:nvPr>
            <p:ph type="sldNum" idx="9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A25BCF5-C29D-44D6-A389-A793C5F9D2AB}" type="slidenum">
              <a:rPr lang="en-US" sz="1200" b="0" strike="noStrike" spc="-1">
                <a:solidFill>
                  <a:schemeClr val="dk1"/>
                </a:solidFill>
                <a:latin typeface="+mn-lt"/>
                <a:ea typeface="+mn-ea"/>
              </a:rPr>
              <a:t>95</a:t>
            </a:fld>
            <a:endParaRPr lang="en-US" sz="1200" b="0" strike="noStrike" spc="-1">
              <a:solidFill>
                <a:srgbClr val="000000"/>
              </a:solidFill>
              <a:latin typeface="Times New Roman"/>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 name="PlaceHolder 1"/>
          <p:cNvSpPr>
            <a:spLocks noGrp="1" noRot="1" noChangeAspect="1"/>
          </p:cNvSpPr>
          <p:nvPr>
            <p:ph type="sldImg"/>
          </p:nvPr>
        </p:nvSpPr>
        <p:spPr>
          <a:xfrm>
            <a:off x="685800" y="1143000"/>
            <a:ext cx="5486040" cy="3085920"/>
          </a:xfrm>
          <a:prstGeom prst="rect">
            <a:avLst/>
          </a:prstGeom>
          <a:ln w="0">
            <a:noFill/>
          </a:ln>
        </p:spPr>
      </p:sp>
      <p:sp>
        <p:nvSpPr>
          <p:cNvPr id="16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Forecast vs truth map: the eyeball test for a probabilistic forecast.</a:t>
            </a:r>
          </a:p>
        </p:txBody>
      </p:sp>
      <p:sp>
        <p:nvSpPr>
          <p:cNvPr id="1671" name="PlaceHolder 3"/>
          <p:cNvSpPr>
            <a:spLocks noGrp="1"/>
          </p:cNvSpPr>
          <p:nvPr>
            <p:ph type="sldNum" idx="9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DB5A5DC-F6DC-4A77-A1D0-C9344F594BE1}" type="slidenum">
              <a:rPr lang="en-US" sz="1200" b="0" strike="noStrike" spc="-1">
                <a:solidFill>
                  <a:schemeClr val="dk1"/>
                </a:solidFill>
                <a:latin typeface="+mn-lt"/>
                <a:ea typeface="+mn-ea"/>
              </a:rPr>
              <a:t>96</a:t>
            </a:fld>
            <a:endParaRPr lang="en-US" sz="1200" b="0" strike="noStrike" spc="-1">
              <a:solidFill>
                <a:srgbClr val="000000"/>
              </a:solidFill>
              <a:latin typeface="Times New Roman"/>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2" name="PlaceHolder 1"/>
          <p:cNvSpPr>
            <a:spLocks noGrp="1" noRot="1" noChangeAspect="1"/>
          </p:cNvSpPr>
          <p:nvPr>
            <p:ph type="sldImg"/>
          </p:nvPr>
        </p:nvSpPr>
        <p:spPr>
          <a:xfrm>
            <a:off x="685800" y="1143000"/>
            <a:ext cx="5486400" cy="3086100"/>
          </a:xfrm>
          <a:prstGeom prst="rect">
            <a:avLst/>
          </a:prstGeom>
          <a:ln w="0">
            <a:noFill/>
          </a:ln>
        </p:spPr>
      </p:sp>
      <p:sp>
        <p:nvSpPr>
          <p:cNvPr id="16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two-audience primer meets each participant where they are and points them at their growth edge.</a:t>
            </a:r>
          </a:p>
        </p:txBody>
      </p:sp>
      <p:sp>
        <p:nvSpPr>
          <p:cNvPr id="1674" name="PlaceHolder 3"/>
          <p:cNvSpPr>
            <a:spLocks noGrp="1"/>
          </p:cNvSpPr>
          <p:nvPr>
            <p:ph type="sldNum" idx="10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7799760-39E2-4D10-8263-8C088D19F005}" type="slidenum">
              <a:rPr lang="en-US" sz="1200" b="0" strike="noStrike" spc="-1">
                <a:solidFill>
                  <a:schemeClr val="dk1"/>
                </a:solidFill>
                <a:latin typeface="+mn-lt"/>
                <a:ea typeface="+mn-ea"/>
              </a:rPr>
              <a:t>97</a:t>
            </a:fld>
            <a:endParaRPr lang="en-US" sz="1200" b="0" strike="noStrike" spc="-1">
              <a:solidFill>
                <a:srgbClr val="000000"/>
              </a:solidFill>
              <a:latin typeface="Times New Roman"/>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5" name="PlaceHolder 1"/>
          <p:cNvSpPr>
            <a:spLocks noGrp="1" noRot="1" noChangeAspect="1"/>
          </p:cNvSpPr>
          <p:nvPr>
            <p:ph type="sldImg"/>
          </p:nvPr>
        </p:nvSpPr>
        <p:spPr>
          <a:xfrm>
            <a:off x="685800" y="1143000"/>
            <a:ext cx="5486400" cy="3086100"/>
          </a:xfrm>
          <a:prstGeom prst="rect">
            <a:avLst/>
          </a:prstGeom>
          <a:ln w="0">
            <a:noFill/>
          </a:ln>
        </p:spPr>
      </p:sp>
      <p:sp>
        <p:nvSpPr>
          <p:cNvPr id="16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Orientation slide: how the reference notebook is structured, so participants can navigate the code.</a:t>
            </a:r>
          </a:p>
        </p:txBody>
      </p:sp>
      <p:sp>
        <p:nvSpPr>
          <p:cNvPr id="1677" name="PlaceHolder 3"/>
          <p:cNvSpPr>
            <a:spLocks noGrp="1"/>
          </p:cNvSpPr>
          <p:nvPr>
            <p:ph type="sldNum" idx="10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1C4CD9C-0ED8-4828-AACC-543878734E72}" type="slidenum">
              <a:rPr lang="en-US" sz="1200" b="0" strike="noStrike" spc="-1">
                <a:solidFill>
                  <a:schemeClr val="dk1"/>
                </a:solidFill>
                <a:latin typeface="+mn-lt"/>
                <a:ea typeface="+mn-ea"/>
              </a:rPr>
              <a:t>98</a:t>
            </a:fld>
            <a:endParaRPr lang="en-US" sz="1200" b="0" strike="noStrike" spc="-1">
              <a:solidFill>
                <a:srgbClr val="000000"/>
              </a:solidFill>
              <a:latin typeface="Times New Roman"/>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8" name="PlaceHolder 1"/>
          <p:cNvSpPr>
            <a:spLocks noGrp="1" noRot="1" noChangeAspect="1"/>
          </p:cNvSpPr>
          <p:nvPr>
            <p:ph type="sldImg"/>
          </p:nvPr>
        </p:nvSpPr>
        <p:spPr>
          <a:xfrm>
            <a:off x="685800" y="1143000"/>
            <a:ext cx="5486400" cy="3086100"/>
          </a:xfrm>
          <a:prstGeom prst="rect">
            <a:avLst/>
          </a:prstGeom>
          <a:ln w="0">
            <a:noFill/>
          </a:ln>
        </p:spPr>
      </p:sp>
      <p:sp>
        <p:nvSpPr>
          <p:cNvPr id="16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Next-steps slide: concrete research directions and the transferability message.</a:t>
            </a:r>
          </a:p>
        </p:txBody>
      </p:sp>
      <p:sp>
        <p:nvSpPr>
          <p:cNvPr id="1680" name="PlaceHolder 3"/>
          <p:cNvSpPr>
            <a:spLocks noGrp="1"/>
          </p:cNvSpPr>
          <p:nvPr>
            <p:ph type="sldNum" idx="10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2291A25-0CA3-4546-9208-C64A1CBC39FD}" type="slidenum">
              <a:rPr lang="en-US" sz="1200" b="0" strike="noStrike" spc="-1">
                <a:solidFill>
                  <a:schemeClr val="dk1"/>
                </a:solidFill>
                <a:latin typeface="+mn-lt"/>
                <a:ea typeface="+mn-ea"/>
              </a:rPr>
              <a:t>99</a:t>
            </a:fld>
            <a:endParaRPr lang="en-US" sz="1200" b="0" strike="noStrike" spc="-1">
              <a:solidFill>
                <a:srgbClr val="000000"/>
              </a:solidFill>
              <a:latin typeface="Times New Roman"/>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1" name="PlaceHolder 1"/>
          <p:cNvSpPr>
            <a:spLocks noGrp="1" noRot="1" noChangeAspect="1"/>
          </p:cNvSpPr>
          <p:nvPr>
            <p:ph type="sldImg"/>
          </p:nvPr>
        </p:nvSpPr>
        <p:spPr>
          <a:xfrm>
            <a:off x="685800" y="1143000"/>
            <a:ext cx="5486040" cy="3085920"/>
          </a:xfrm>
          <a:prstGeom prst="rect">
            <a:avLst/>
          </a:prstGeom>
          <a:ln w="0">
            <a:noFill/>
          </a:ln>
        </p:spPr>
      </p:sp>
      <p:sp>
        <p:nvSpPr>
          <p:cNvPr id="16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single summary card — the entire challenge on one slide, for quick reference.</a:t>
            </a:r>
          </a:p>
        </p:txBody>
      </p:sp>
      <p:sp>
        <p:nvSpPr>
          <p:cNvPr id="1683" name="PlaceHolder 3"/>
          <p:cNvSpPr>
            <a:spLocks noGrp="1"/>
          </p:cNvSpPr>
          <p:nvPr>
            <p:ph type="sldNum" idx="10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B6216C53-4D7A-470F-832F-EAC8C5FAE2C1}" type="slidenum">
              <a:rPr lang="en-US" sz="1200" b="0" strike="noStrike" spc="-1">
                <a:solidFill>
                  <a:schemeClr val="dk1"/>
                </a:solidFill>
                <a:latin typeface="+mn-lt"/>
                <a:ea typeface="+mn-ea"/>
              </a:rPr>
              <a:t>100</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120" y="273600"/>
            <a:ext cx="1096956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609120" y="1604520"/>
            <a:ext cx="1096956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8" name="Shape 0"/>
          <p:cNvSpPr/>
          <p:nvPr/>
        </p:nvSpPr>
        <p:spPr>
          <a:xfrm>
            <a:off x="0" y="3200400"/>
            <a:ext cx="677160" cy="9144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 name="Shape 1"/>
          <p:cNvSpPr/>
          <p:nvPr/>
        </p:nvSpPr>
        <p:spPr>
          <a:xfrm>
            <a:off x="677160" y="3200400"/>
            <a:ext cx="677160" cy="14616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0" name="Shape 2"/>
          <p:cNvSpPr/>
          <p:nvPr/>
        </p:nvSpPr>
        <p:spPr>
          <a:xfrm>
            <a:off x="1354320" y="3145320"/>
            <a:ext cx="677160" cy="20124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1" name="Shape 3"/>
          <p:cNvSpPr/>
          <p:nvPr/>
        </p:nvSpPr>
        <p:spPr>
          <a:xfrm>
            <a:off x="2031480" y="3145320"/>
            <a:ext cx="677160" cy="32940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2" name="Shape 4"/>
          <p:cNvSpPr/>
          <p:nvPr/>
        </p:nvSpPr>
        <p:spPr>
          <a:xfrm>
            <a:off x="2708640" y="2834640"/>
            <a:ext cx="677160" cy="64008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3" name="Shape 5"/>
          <p:cNvSpPr/>
          <p:nvPr/>
        </p:nvSpPr>
        <p:spPr>
          <a:xfrm>
            <a:off x="3385800" y="2834640"/>
            <a:ext cx="677160" cy="100584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4" name="Shape 6"/>
          <p:cNvSpPr/>
          <p:nvPr/>
        </p:nvSpPr>
        <p:spPr>
          <a:xfrm>
            <a:off x="4062960" y="2468880"/>
            <a:ext cx="677160" cy="1371600"/>
          </a:xfrm>
          <a:prstGeom prst="line">
            <a:avLst/>
          </a:prstGeom>
          <a:ln w="31750">
            <a:solidFill>
              <a:srgbClr val="C0392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5" name="Shape 7"/>
          <p:cNvSpPr/>
          <p:nvPr/>
        </p:nvSpPr>
        <p:spPr>
          <a:xfrm>
            <a:off x="4740120" y="2468880"/>
            <a:ext cx="677160" cy="1645920"/>
          </a:xfrm>
          <a:prstGeom prst="line">
            <a:avLst/>
          </a:prstGeom>
          <a:ln w="31750">
            <a:solidFill>
              <a:srgbClr val="C0392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6" name="Shape 8"/>
          <p:cNvSpPr/>
          <p:nvPr/>
        </p:nvSpPr>
        <p:spPr>
          <a:xfrm>
            <a:off x="5417280" y="2331720"/>
            <a:ext cx="677160" cy="1783080"/>
          </a:xfrm>
          <a:prstGeom prst="line">
            <a:avLst/>
          </a:prstGeom>
          <a:ln w="31750">
            <a:solidFill>
              <a:srgbClr val="C0392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7" name="Shape 9"/>
          <p:cNvSpPr/>
          <p:nvPr/>
        </p:nvSpPr>
        <p:spPr>
          <a:xfrm>
            <a:off x="6094440" y="2331720"/>
            <a:ext cx="677160" cy="1645920"/>
          </a:xfrm>
          <a:prstGeom prst="line">
            <a:avLst/>
          </a:prstGeom>
          <a:ln w="31750">
            <a:solidFill>
              <a:srgbClr val="C0392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8" name="Shape 10"/>
          <p:cNvSpPr/>
          <p:nvPr/>
        </p:nvSpPr>
        <p:spPr>
          <a:xfrm>
            <a:off x="6771600" y="3017520"/>
            <a:ext cx="677160" cy="960120"/>
          </a:xfrm>
          <a:prstGeom prst="line">
            <a:avLst/>
          </a:prstGeom>
          <a:ln w="31750">
            <a:solidFill>
              <a:srgbClr val="C0392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19" name="Shape 11"/>
          <p:cNvSpPr/>
          <p:nvPr/>
        </p:nvSpPr>
        <p:spPr>
          <a:xfrm>
            <a:off x="7448760" y="3017520"/>
            <a:ext cx="677160" cy="36576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20" name="Shape 12"/>
          <p:cNvSpPr/>
          <p:nvPr/>
        </p:nvSpPr>
        <p:spPr>
          <a:xfrm>
            <a:off x="8125920" y="3218400"/>
            <a:ext cx="677160" cy="16488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21" name="Shape 13"/>
          <p:cNvSpPr/>
          <p:nvPr/>
        </p:nvSpPr>
        <p:spPr>
          <a:xfrm>
            <a:off x="8803080" y="3218400"/>
            <a:ext cx="677160" cy="7344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28440" rIns="90000" bIns="28440" anchor="t" anchorCtr="1">
            <a:noAutofit/>
          </a:bodyPr>
          <a:lstStyle/>
          <a:p>
            <a:endParaRPr lang="en-US" sz="1800" b="0" strike="noStrike" spc="-1">
              <a:solidFill>
                <a:srgbClr val="FFFFFF"/>
              </a:solidFill>
              <a:latin typeface="Arial"/>
            </a:endParaRPr>
          </a:p>
        </p:txBody>
      </p:sp>
      <p:sp>
        <p:nvSpPr>
          <p:cNvPr id="22" name="Shape 14"/>
          <p:cNvSpPr/>
          <p:nvPr/>
        </p:nvSpPr>
        <p:spPr>
          <a:xfrm>
            <a:off x="9480240" y="3273480"/>
            <a:ext cx="677160" cy="1836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26640" rIns="90000" bIns="-26640" anchor="t" anchorCtr="1">
            <a:noAutofit/>
          </a:bodyPr>
          <a:lstStyle/>
          <a:p>
            <a:endParaRPr lang="en-US" sz="1800" b="0" strike="noStrike" spc="-1">
              <a:solidFill>
                <a:srgbClr val="FFFFFF"/>
              </a:solidFill>
              <a:latin typeface="Arial"/>
            </a:endParaRPr>
          </a:p>
        </p:txBody>
      </p:sp>
      <p:sp>
        <p:nvSpPr>
          <p:cNvPr id="23" name="Shape 15"/>
          <p:cNvSpPr/>
          <p:nvPr/>
        </p:nvSpPr>
        <p:spPr>
          <a:xfrm>
            <a:off x="10157400" y="3273480"/>
            <a:ext cx="677160" cy="2736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17640" rIns="90000" bIns="-17640" anchor="t" anchorCtr="1">
            <a:noAutofit/>
          </a:bodyPr>
          <a:lstStyle/>
          <a:p>
            <a:endParaRPr lang="en-US" sz="1800" b="0" strike="noStrike" spc="-1">
              <a:solidFill>
                <a:srgbClr val="FFFFFF"/>
              </a:solidFill>
              <a:latin typeface="Arial"/>
            </a:endParaRPr>
          </a:p>
        </p:txBody>
      </p:sp>
      <p:sp>
        <p:nvSpPr>
          <p:cNvPr id="24" name="Shape 16"/>
          <p:cNvSpPr/>
          <p:nvPr/>
        </p:nvSpPr>
        <p:spPr>
          <a:xfrm>
            <a:off x="10834560" y="3282480"/>
            <a:ext cx="677160" cy="1836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26640" rIns="90000" bIns="-26640" anchor="t" anchorCtr="1">
            <a:noAutofit/>
          </a:bodyPr>
          <a:lstStyle/>
          <a:p>
            <a:endParaRPr lang="en-US" sz="1800" b="0" strike="noStrike" spc="-1">
              <a:solidFill>
                <a:srgbClr val="FFFFFF"/>
              </a:solidFill>
              <a:latin typeface="Arial"/>
            </a:endParaRPr>
          </a:p>
        </p:txBody>
      </p:sp>
      <p:sp>
        <p:nvSpPr>
          <p:cNvPr id="25" name="Shape 17"/>
          <p:cNvSpPr/>
          <p:nvPr/>
        </p:nvSpPr>
        <p:spPr>
          <a:xfrm>
            <a:off x="11511720" y="3282480"/>
            <a:ext cx="677160" cy="9360"/>
          </a:xfrm>
          <a:prstGeom prst="line">
            <a:avLst/>
          </a:prstGeom>
          <a:ln w="12700">
            <a:solidFill>
              <a:srgbClr val="C0392B">
                <a:alpha val="42000"/>
              </a:srgbClr>
            </a:solidFill>
            <a:round/>
          </a:ln>
        </p:spPr>
        <p:style>
          <a:lnRef idx="0">
            <a:scrgbClr r="0" g="0" b="0"/>
          </a:lnRef>
          <a:fillRef idx="0">
            <a:scrgbClr r="0" g="0" b="0"/>
          </a:fillRef>
          <a:effectRef idx="0">
            <a:scrgbClr r="0" g="0" b="0"/>
          </a:effectRef>
          <a:fontRef idx="minor"/>
        </p:style>
        <p:txBody>
          <a:bodyPr lIns="90000" tIns="-35640" rIns="90000" bIns="-35640" anchor="t" anchorCtr="1">
            <a:noAutofit/>
          </a:bodyPr>
          <a:lstStyle/>
          <a:p>
            <a:endParaRPr lang="en-US" sz="1800" b="0" strike="noStrike" spc="-1">
              <a:solidFill>
                <a:srgbClr val="FFFFFF"/>
              </a:solidFill>
              <a:latin typeface="Arial"/>
            </a:endParaRPr>
          </a:p>
        </p:txBody>
      </p:sp>
      <p:sp>
        <p:nvSpPr>
          <p:cNvPr id="26" name="Text 18"/>
          <p:cNvSpPr/>
          <p:nvPr/>
        </p:nvSpPr>
        <p:spPr>
          <a:xfrm>
            <a:off x="640080" y="4297680"/>
            <a:ext cx="1097244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000" b="1" strike="noStrike" spc="299">
                <a:solidFill>
                  <a:srgbClr val="FFFFFF"/>
                </a:solidFill>
                <a:latin typeface="Cambria"/>
                <a:ea typeface="Cambria"/>
              </a:rPr>
              <a:t>EARTHQUAKE-Q</a:t>
            </a:r>
            <a:endParaRPr lang="en-US" sz="6000" b="0" strike="noStrike" spc="-1">
              <a:solidFill>
                <a:srgbClr val="FFFFFF"/>
              </a:solidFill>
              <a:latin typeface="Arial"/>
            </a:endParaRPr>
          </a:p>
        </p:txBody>
      </p:sp>
      <p:sp>
        <p:nvSpPr>
          <p:cNvPr id="27" name="Text 19"/>
          <p:cNvSpPr/>
          <p:nvPr/>
        </p:nvSpPr>
        <p:spPr>
          <a:xfrm>
            <a:off x="658440" y="52578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0" i="1" strike="noStrike" spc="-1">
                <a:solidFill>
                  <a:srgbClr val="D98C1F"/>
                </a:solidFill>
                <a:latin typeface="Cambria"/>
                <a:ea typeface="Cambria"/>
              </a:rPr>
              <a:t>A Quantum–Classical Earthquake-Forecasting Challenge</a:t>
            </a:r>
            <a:endParaRPr lang="en-US" sz="2200" b="0" strike="noStrike" spc="-1">
              <a:solidFill>
                <a:srgbClr val="FFFFFF"/>
              </a:solidFill>
              <a:latin typeface="Arial"/>
            </a:endParaRPr>
          </a:p>
        </p:txBody>
      </p:sp>
      <p:sp>
        <p:nvSpPr>
          <p:cNvPr id="28" name="Text 20"/>
          <p:cNvSpPr/>
          <p:nvPr/>
        </p:nvSpPr>
        <p:spPr>
          <a:xfrm>
            <a:off x="658440" y="640080"/>
            <a:ext cx="10972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299">
                <a:solidFill>
                  <a:srgbClr val="AEB9C4"/>
                </a:solidFill>
                <a:latin typeface="Calibri"/>
                <a:ea typeface="Calibri"/>
              </a:rPr>
              <a:t>PARTICIPANT STUDY DECK</a:t>
            </a:r>
            <a:endParaRPr lang="en-US" sz="1500" b="0" strike="noStrike" spc="-1">
              <a:solidFill>
                <a:srgbClr val="FFFFFF"/>
              </a:solidFill>
              <a:latin typeface="Arial"/>
            </a:endParaRPr>
          </a:p>
        </p:txBody>
      </p:sp>
      <p:sp>
        <p:nvSpPr>
          <p:cNvPr id="29" name="Text 21"/>
          <p:cNvSpPr/>
          <p:nvPr/>
        </p:nvSpPr>
        <p:spPr>
          <a:xfrm>
            <a:off x="658440" y="960120"/>
            <a:ext cx="10972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8996A3"/>
                </a:solidFill>
                <a:latin typeface="Calibri"/>
                <a:ea typeface="Calibri"/>
              </a:rPr>
              <a:t>QuantathonV3  ·  Clemson University  ·  September 2026</a:t>
            </a:r>
            <a:endParaRPr lang="en-US" sz="1400" b="0" strike="noStrike" spc="-1">
              <a:solidFill>
                <a:srgbClr val="FFFFFF"/>
              </a:solidFill>
              <a:latin typeface="Arial"/>
            </a:endParaRPr>
          </a:p>
        </p:txBody>
      </p:sp>
      <p:sp>
        <p:nvSpPr>
          <p:cNvPr id="30" name="Shape 22"/>
          <p:cNvSpPr/>
          <p:nvPr/>
        </p:nvSpPr>
        <p:spPr>
          <a:xfrm>
            <a:off x="658440" y="5989320"/>
            <a:ext cx="1151640" cy="402120"/>
          </a:xfrm>
          <a:prstGeom prst="roundRect">
            <a:avLst>
              <a:gd name="adj" fmla="val 50000"/>
            </a:avLst>
          </a:prstGeom>
          <a:solidFill>
            <a:srgbClr val="0E1620"/>
          </a:solidFill>
          <a:ln w="15875">
            <a:solidFill>
              <a:srgbClr val="C0392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1" name="Text 23"/>
          <p:cNvSpPr/>
          <p:nvPr/>
        </p:nvSpPr>
        <p:spPr>
          <a:xfrm>
            <a:off x="658440" y="5989320"/>
            <a:ext cx="11516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C0392B"/>
                </a:solidFill>
                <a:latin typeface="Calibri"/>
                <a:ea typeface="Calibri"/>
              </a:rPr>
              <a:t>Seismology</a:t>
            </a:r>
            <a:endParaRPr lang="en-US" sz="1250" b="0" strike="noStrike" spc="-1">
              <a:solidFill>
                <a:srgbClr val="FFFFFF"/>
              </a:solidFill>
              <a:latin typeface="Arial"/>
            </a:endParaRPr>
          </a:p>
        </p:txBody>
      </p:sp>
      <p:sp>
        <p:nvSpPr>
          <p:cNvPr id="32" name="Shape 24"/>
          <p:cNvSpPr/>
          <p:nvPr/>
        </p:nvSpPr>
        <p:spPr>
          <a:xfrm>
            <a:off x="1993320" y="5989320"/>
            <a:ext cx="1689480" cy="402120"/>
          </a:xfrm>
          <a:prstGeom prst="roundRect">
            <a:avLst>
              <a:gd name="adj" fmla="val 50000"/>
            </a:avLst>
          </a:prstGeom>
          <a:solidFill>
            <a:srgbClr val="0E1620"/>
          </a:solidFill>
          <a:ln w="15875">
            <a:solidFill>
              <a:srgbClr val="1F6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3" name="Text 25"/>
          <p:cNvSpPr/>
          <p:nvPr/>
        </p:nvSpPr>
        <p:spPr>
          <a:xfrm>
            <a:off x="1993320" y="5989320"/>
            <a:ext cx="16894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1F6FB2"/>
                </a:solidFill>
                <a:latin typeface="Calibri"/>
                <a:ea typeface="Calibri"/>
              </a:rPr>
              <a:t>Machine Learning</a:t>
            </a:r>
            <a:endParaRPr lang="en-US" sz="1250" b="0" strike="noStrike" spc="-1">
              <a:solidFill>
                <a:srgbClr val="FFFFFF"/>
              </a:solidFill>
              <a:latin typeface="Arial"/>
            </a:endParaRPr>
          </a:p>
        </p:txBody>
      </p:sp>
      <p:sp>
        <p:nvSpPr>
          <p:cNvPr id="34" name="Shape 26"/>
          <p:cNvSpPr/>
          <p:nvPr/>
        </p:nvSpPr>
        <p:spPr>
          <a:xfrm>
            <a:off x="3866040" y="5989320"/>
            <a:ext cx="883080" cy="402120"/>
          </a:xfrm>
          <a:prstGeom prst="roundRect">
            <a:avLst>
              <a:gd name="adj" fmla="val 50000"/>
            </a:avLst>
          </a:prstGeom>
          <a:solidFill>
            <a:srgbClr val="0E1620"/>
          </a:solidFill>
          <a:ln w="15875">
            <a:solidFill>
              <a:srgbClr val="7B4E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5" name="Text 27"/>
          <p:cNvSpPr/>
          <p:nvPr/>
        </p:nvSpPr>
        <p:spPr>
          <a:xfrm>
            <a:off x="3866040" y="5989320"/>
            <a:ext cx="88308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7B4EA8"/>
                </a:solidFill>
                <a:latin typeface="Calibri"/>
                <a:ea typeface="Calibri"/>
              </a:rPr>
              <a:t>Quantum</a:t>
            </a:r>
            <a:endParaRPr lang="en-US" sz="1250" b="0" strike="noStrike" spc="-1">
              <a:solidFill>
                <a:srgbClr val="FFFFFF"/>
              </a:solidFill>
              <a:latin typeface="Arial"/>
            </a:endParaRPr>
          </a:p>
        </p:txBody>
      </p:sp>
      <p:sp>
        <p:nvSpPr>
          <p:cNvPr id="36" name="Shape 28"/>
          <p:cNvSpPr/>
          <p:nvPr/>
        </p:nvSpPr>
        <p:spPr>
          <a:xfrm>
            <a:off x="4932360" y="5989320"/>
            <a:ext cx="1779120" cy="402120"/>
          </a:xfrm>
          <a:prstGeom prst="roundRect">
            <a:avLst>
              <a:gd name="adj" fmla="val 50000"/>
            </a:avLst>
          </a:prstGeom>
          <a:solidFill>
            <a:srgbClr val="0E1620"/>
          </a:solidFill>
          <a:ln w="15875">
            <a:solidFill>
              <a:srgbClr val="2E7D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7" name="Text 29"/>
          <p:cNvSpPr/>
          <p:nvPr/>
        </p:nvSpPr>
        <p:spPr>
          <a:xfrm>
            <a:off x="4932360" y="5989320"/>
            <a:ext cx="1779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2E7D53"/>
                </a:solidFill>
                <a:latin typeface="Calibri"/>
                <a:ea typeface="Calibri"/>
              </a:rPr>
              <a:t>Honesty over hype</a:t>
            </a:r>
            <a:endParaRPr lang="en-US" sz="125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3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READ ME FIRST</a:t>
            </a:r>
            <a:endParaRPr lang="en-US" sz="1300" b="0" strike="noStrike" spc="-1">
              <a:solidFill>
                <a:srgbClr val="000000"/>
              </a:solidFill>
              <a:latin typeface="Arial"/>
            </a:endParaRPr>
          </a:p>
        </p:txBody>
      </p:sp>
      <p:sp>
        <p:nvSpPr>
          <p:cNvPr id="3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How to use this study deck</a:t>
            </a:r>
            <a:endParaRPr lang="en-US" sz="3000" b="0" strike="noStrike" spc="-1">
              <a:solidFill>
                <a:srgbClr val="000000"/>
              </a:solidFill>
              <a:latin typeface="Arial"/>
            </a:endParaRPr>
          </a:p>
        </p:txBody>
      </p:sp>
      <p:sp>
        <p:nvSpPr>
          <p:cNvPr id="40" name="Shape 2"/>
          <p:cNvSpPr/>
          <p:nvPr/>
        </p:nvSpPr>
        <p:spPr>
          <a:xfrm>
            <a:off x="548640" y="1737360"/>
            <a:ext cx="11091240" cy="1023840"/>
          </a:xfrm>
          <a:prstGeom prst="roundRect">
            <a:avLst>
              <a:gd name="adj" fmla="val 714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1" name="Text 3"/>
          <p:cNvSpPr/>
          <p:nvPr/>
        </p:nvSpPr>
        <p:spPr>
          <a:xfrm>
            <a:off x="731520" y="1883520"/>
            <a:ext cx="8226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400" b="1" strike="noStrike" spc="-1">
                <a:solidFill>
                  <a:srgbClr val="C0392B"/>
                </a:solidFill>
                <a:latin typeface="Cambria"/>
                <a:ea typeface="Cambria"/>
              </a:rPr>
              <a:t>01</a:t>
            </a:r>
            <a:endParaRPr lang="en-US" sz="3400" b="0" strike="noStrike" spc="-1">
              <a:solidFill>
                <a:srgbClr val="000000"/>
              </a:solidFill>
              <a:latin typeface="Arial"/>
            </a:endParaRPr>
          </a:p>
        </p:txBody>
      </p:sp>
      <p:sp>
        <p:nvSpPr>
          <p:cNvPr id="42" name="Text 4"/>
          <p:cNvSpPr/>
          <p:nvPr/>
        </p:nvSpPr>
        <p:spPr>
          <a:xfrm>
            <a:off x="1691640" y="1865520"/>
            <a:ext cx="96922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strike="noStrike" spc="-1">
                <a:solidFill>
                  <a:srgbClr val="16202B"/>
                </a:solidFill>
                <a:latin typeface="Calibri"/>
                <a:ea typeface="Calibri"/>
              </a:rPr>
              <a:t>It is self-paced</a:t>
            </a:r>
            <a:endParaRPr lang="en-US" sz="1700" b="0" strike="noStrike" spc="-1">
              <a:solidFill>
                <a:srgbClr val="000000"/>
              </a:solidFill>
              <a:latin typeface="Arial"/>
            </a:endParaRPr>
          </a:p>
        </p:txBody>
      </p:sp>
      <p:sp>
        <p:nvSpPr>
          <p:cNvPr id="43" name="Text 5"/>
          <p:cNvSpPr/>
          <p:nvPr/>
        </p:nvSpPr>
        <p:spPr>
          <a:xfrm>
            <a:off x="1691640" y="2212920"/>
            <a:ext cx="9783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00" b="0" strike="noStrike" spc="-1">
                <a:solidFill>
                  <a:srgbClr val="5B6B7A"/>
                </a:solidFill>
                <a:latin typeface="Calibri"/>
                <a:ea typeface="Calibri"/>
              </a:rPr>
              <a:t>Nine modules, ~10–14 slides each. Read them in order the first time — they build on each other. Budget 3–4 focused hours for a full pass.</a:t>
            </a:r>
            <a:endParaRPr lang="en-US" sz="1300" b="0" strike="noStrike" spc="-1">
              <a:solidFill>
                <a:srgbClr val="000000"/>
              </a:solidFill>
              <a:latin typeface="Arial"/>
            </a:endParaRPr>
          </a:p>
        </p:txBody>
      </p:sp>
      <p:sp>
        <p:nvSpPr>
          <p:cNvPr id="44" name="Shape 6"/>
          <p:cNvSpPr/>
          <p:nvPr/>
        </p:nvSpPr>
        <p:spPr>
          <a:xfrm>
            <a:off x="548640" y="2871360"/>
            <a:ext cx="11091240" cy="1023840"/>
          </a:xfrm>
          <a:prstGeom prst="roundRect">
            <a:avLst>
              <a:gd name="adj" fmla="val 714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5" name="Text 7"/>
          <p:cNvSpPr/>
          <p:nvPr/>
        </p:nvSpPr>
        <p:spPr>
          <a:xfrm>
            <a:off x="731520" y="3017520"/>
            <a:ext cx="8226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400" b="1" strike="noStrike" spc="-1">
                <a:solidFill>
                  <a:srgbClr val="2E7D53"/>
                </a:solidFill>
                <a:latin typeface="Cambria"/>
                <a:ea typeface="Cambria"/>
              </a:rPr>
              <a:t>02</a:t>
            </a:r>
            <a:endParaRPr lang="en-US" sz="3400" b="0" strike="noStrike" spc="-1">
              <a:solidFill>
                <a:srgbClr val="000000"/>
              </a:solidFill>
              <a:latin typeface="Arial"/>
            </a:endParaRPr>
          </a:p>
        </p:txBody>
      </p:sp>
      <p:sp>
        <p:nvSpPr>
          <p:cNvPr id="46" name="Text 8"/>
          <p:cNvSpPr/>
          <p:nvPr/>
        </p:nvSpPr>
        <p:spPr>
          <a:xfrm>
            <a:off x="1691640" y="2999160"/>
            <a:ext cx="96922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strike="noStrike" spc="-1">
                <a:solidFill>
                  <a:srgbClr val="16202B"/>
                </a:solidFill>
                <a:latin typeface="Calibri"/>
                <a:ea typeface="Calibri"/>
              </a:rPr>
              <a:t>It teaches the real answer</a:t>
            </a:r>
            <a:endParaRPr lang="en-US" sz="1700" b="0" strike="noStrike" spc="-1">
              <a:solidFill>
                <a:srgbClr val="000000"/>
              </a:solidFill>
              <a:latin typeface="Arial"/>
            </a:endParaRPr>
          </a:p>
        </p:txBody>
      </p:sp>
      <p:sp>
        <p:nvSpPr>
          <p:cNvPr id="47" name="Text 9"/>
          <p:cNvSpPr/>
          <p:nvPr/>
        </p:nvSpPr>
        <p:spPr>
          <a:xfrm>
            <a:off x="1691640" y="3346560"/>
            <a:ext cx="9783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00" b="0" strike="noStrike" spc="-1">
                <a:solidFill>
                  <a:srgbClr val="5B6B7A"/>
                </a:solidFill>
                <a:latin typeface="Calibri"/>
                <a:ea typeface="Calibri"/>
              </a:rPr>
              <a:t>Not a teaser. Every method, parameter, and blind-window number is the actual reference solution. If you competed and did not solve it, this is where you learn how.</a:t>
            </a:r>
            <a:endParaRPr lang="en-US" sz="1300" b="0" strike="noStrike" spc="-1">
              <a:solidFill>
                <a:srgbClr val="000000"/>
              </a:solidFill>
              <a:latin typeface="Arial"/>
            </a:endParaRPr>
          </a:p>
        </p:txBody>
      </p:sp>
      <p:sp>
        <p:nvSpPr>
          <p:cNvPr id="48" name="Shape 10"/>
          <p:cNvSpPr/>
          <p:nvPr/>
        </p:nvSpPr>
        <p:spPr>
          <a:xfrm>
            <a:off x="548640" y="4005000"/>
            <a:ext cx="11091240" cy="1023840"/>
          </a:xfrm>
          <a:prstGeom prst="roundRect">
            <a:avLst>
              <a:gd name="adj" fmla="val 714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9" name="Text 11"/>
          <p:cNvSpPr/>
          <p:nvPr/>
        </p:nvSpPr>
        <p:spPr>
          <a:xfrm>
            <a:off x="731520" y="4151520"/>
            <a:ext cx="8226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400" b="1" strike="noStrike" spc="-1">
                <a:solidFill>
                  <a:srgbClr val="D98C1F"/>
                </a:solidFill>
                <a:latin typeface="Cambria"/>
                <a:ea typeface="Cambria"/>
              </a:rPr>
              <a:t>03</a:t>
            </a:r>
            <a:endParaRPr lang="en-US" sz="3400" b="0" strike="noStrike" spc="-1">
              <a:solidFill>
                <a:srgbClr val="000000"/>
              </a:solidFill>
              <a:latin typeface="Arial"/>
            </a:endParaRPr>
          </a:p>
        </p:txBody>
      </p:sp>
      <p:sp>
        <p:nvSpPr>
          <p:cNvPr id="50" name="Text 12"/>
          <p:cNvSpPr/>
          <p:nvPr/>
        </p:nvSpPr>
        <p:spPr>
          <a:xfrm>
            <a:off x="1691640" y="4133160"/>
            <a:ext cx="96922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strike="noStrike" spc="-1">
                <a:solidFill>
                  <a:srgbClr val="16202B"/>
                </a:solidFill>
                <a:latin typeface="Calibri"/>
                <a:ea typeface="Calibri"/>
              </a:rPr>
              <a:t>It has exercises</a:t>
            </a:r>
            <a:endParaRPr lang="en-US" sz="1700" b="0" strike="noStrike" spc="-1">
              <a:solidFill>
                <a:srgbClr val="000000"/>
              </a:solidFill>
              <a:latin typeface="Arial"/>
            </a:endParaRPr>
          </a:p>
        </p:txBody>
      </p:sp>
      <p:sp>
        <p:nvSpPr>
          <p:cNvPr id="51" name="Text 13"/>
          <p:cNvSpPr/>
          <p:nvPr/>
        </p:nvSpPr>
        <p:spPr>
          <a:xfrm>
            <a:off x="1691640" y="4480560"/>
            <a:ext cx="9783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00" b="0" strike="noStrike" spc="-1">
                <a:solidFill>
                  <a:srgbClr val="5B6B7A"/>
                </a:solidFill>
                <a:latin typeface="Calibri"/>
                <a:ea typeface="Calibri"/>
              </a:rPr>
              <a:t>Look for the amber “Try it yourself” cards. Work them before turning the page; each module ends with an Answer Key.</a:t>
            </a:r>
            <a:endParaRPr lang="en-US" sz="1300" b="0" strike="noStrike" spc="-1">
              <a:solidFill>
                <a:srgbClr val="000000"/>
              </a:solidFill>
              <a:latin typeface="Arial"/>
            </a:endParaRPr>
          </a:p>
        </p:txBody>
      </p:sp>
      <p:sp>
        <p:nvSpPr>
          <p:cNvPr id="52" name="Shape 14"/>
          <p:cNvSpPr/>
          <p:nvPr/>
        </p:nvSpPr>
        <p:spPr>
          <a:xfrm>
            <a:off x="548640" y="5139000"/>
            <a:ext cx="11091240" cy="1023840"/>
          </a:xfrm>
          <a:prstGeom prst="roundRect">
            <a:avLst>
              <a:gd name="adj" fmla="val 714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3" name="Text 15"/>
          <p:cNvSpPr/>
          <p:nvPr/>
        </p:nvSpPr>
        <p:spPr>
          <a:xfrm>
            <a:off x="731520" y="5285160"/>
            <a:ext cx="8226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400" b="1" strike="noStrike" spc="-1">
                <a:solidFill>
                  <a:srgbClr val="7B4EA8"/>
                </a:solidFill>
                <a:latin typeface="Cambria"/>
                <a:ea typeface="Cambria"/>
              </a:rPr>
              <a:t>04</a:t>
            </a:r>
            <a:endParaRPr lang="en-US" sz="3400" b="0" strike="noStrike" spc="-1">
              <a:solidFill>
                <a:srgbClr val="000000"/>
              </a:solidFill>
              <a:latin typeface="Arial"/>
            </a:endParaRPr>
          </a:p>
        </p:txBody>
      </p:sp>
      <p:sp>
        <p:nvSpPr>
          <p:cNvPr id="54" name="Text 16"/>
          <p:cNvSpPr/>
          <p:nvPr/>
        </p:nvSpPr>
        <p:spPr>
          <a:xfrm>
            <a:off x="1691640" y="5266800"/>
            <a:ext cx="96922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strike="noStrike" spc="-1">
                <a:solidFill>
                  <a:srgbClr val="16202B"/>
                </a:solidFill>
                <a:latin typeface="Calibri"/>
                <a:ea typeface="Calibri"/>
              </a:rPr>
              <a:t>It rewards a mindset</a:t>
            </a:r>
            <a:endParaRPr lang="en-US" sz="1700" b="0" strike="noStrike" spc="-1">
              <a:solidFill>
                <a:srgbClr val="000000"/>
              </a:solidFill>
              <a:latin typeface="Arial"/>
            </a:endParaRPr>
          </a:p>
        </p:txBody>
      </p:sp>
      <p:sp>
        <p:nvSpPr>
          <p:cNvPr id="55" name="Text 17"/>
          <p:cNvSpPr/>
          <p:nvPr/>
        </p:nvSpPr>
        <p:spPr>
          <a:xfrm>
            <a:off x="1691640" y="5614560"/>
            <a:ext cx="9783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00" b="0" strike="noStrike" spc="-1">
                <a:solidFill>
                  <a:srgbClr val="5B6B7A"/>
                </a:solidFill>
                <a:latin typeface="Calibri"/>
                <a:ea typeface="Calibri"/>
              </a:rPr>
              <a:t>The hardest lesson is not quantum computing — it is intellectual honesty. The “Honesty checkpoint” cards are the point.</a:t>
            </a:r>
            <a:endParaRPr lang="en-US" sz="1300" b="0" strike="noStrike" spc="-1">
              <a:solidFill>
                <a:srgbClr val="000000"/>
              </a:solidFill>
              <a:latin typeface="Arial"/>
            </a:endParaRPr>
          </a:p>
        </p:txBody>
      </p:sp>
      <p:sp>
        <p:nvSpPr>
          <p:cNvPr id="56" name="Text 18"/>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Front matter</a:t>
            </a:r>
            <a:endParaRPr lang="en-US" sz="1000" b="0" strike="noStrike" spc="-1">
              <a:solidFill>
                <a:srgbClr val="000000"/>
              </a:solidFill>
              <a:latin typeface="Arial"/>
            </a:endParaRPr>
          </a:p>
        </p:txBody>
      </p:sp>
      <p:sp>
        <p:nvSpPr>
          <p:cNvPr id="57" name="Text 19"/>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58" name="Text 20"/>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2</a:t>
            </a:r>
            <a:endParaRPr lang="en-US" sz="10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59" name="Text 0"/>
          <p:cNvSpPr/>
          <p:nvPr/>
        </p:nvSpPr>
        <p:spPr>
          <a:xfrm>
            <a:off x="548640" y="45720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THE ROAD AHEAD</a:t>
            </a:r>
            <a:endParaRPr lang="en-US" sz="1300" b="0" strike="noStrike" spc="-1">
              <a:solidFill>
                <a:srgbClr val="FFFFFF"/>
              </a:solidFill>
              <a:latin typeface="Arial"/>
            </a:endParaRPr>
          </a:p>
        </p:txBody>
      </p:sp>
      <p:sp>
        <p:nvSpPr>
          <p:cNvPr id="60" name="Text 1"/>
          <p:cNvSpPr/>
          <p:nvPr/>
        </p:nvSpPr>
        <p:spPr>
          <a:xfrm>
            <a:off x="548640" y="731520"/>
            <a:ext cx="109724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strike="noStrike" spc="-1">
                <a:solidFill>
                  <a:srgbClr val="FFFFFF"/>
                </a:solidFill>
                <a:latin typeface="Cambria"/>
                <a:ea typeface="Cambria"/>
              </a:rPr>
              <a:t>Nine modules, one honest forecast</a:t>
            </a:r>
            <a:endParaRPr lang="en-US" sz="3000" b="0" strike="noStrike" spc="-1">
              <a:solidFill>
                <a:srgbClr val="FFFFFF"/>
              </a:solidFill>
              <a:latin typeface="Arial"/>
            </a:endParaRPr>
          </a:p>
        </p:txBody>
      </p:sp>
      <p:sp>
        <p:nvSpPr>
          <p:cNvPr id="61" name="Shape 2"/>
          <p:cNvSpPr/>
          <p:nvPr/>
        </p:nvSpPr>
        <p:spPr>
          <a:xfrm>
            <a:off x="548640" y="1691640"/>
            <a:ext cx="3565800" cy="1371240"/>
          </a:xfrm>
          <a:prstGeom prst="roundRect">
            <a:avLst>
              <a:gd name="adj" fmla="val 5333"/>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2" name="Shape 3"/>
          <p:cNvSpPr/>
          <p:nvPr/>
        </p:nvSpPr>
        <p:spPr>
          <a:xfrm>
            <a:off x="749880" y="1911240"/>
            <a:ext cx="566640" cy="56664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3" name="Text 4"/>
          <p:cNvSpPr/>
          <p:nvPr/>
        </p:nvSpPr>
        <p:spPr>
          <a:xfrm>
            <a:off x="749880" y="191124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FFFFFF"/>
                </a:solidFill>
                <a:latin typeface="Cambria"/>
                <a:ea typeface="Cambria"/>
              </a:rPr>
              <a:t>1</a:t>
            </a:r>
            <a:endParaRPr lang="en-US" sz="2600" b="0" strike="noStrike" spc="-1">
              <a:solidFill>
                <a:srgbClr val="FFFFFF"/>
              </a:solidFill>
              <a:latin typeface="Arial"/>
            </a:endParaRPr>
          </a:p>
        </p:txBody>
      </p:sp>
      <p:sp>
        <p:nvSpPr>
          <p:cNvPr id="64" name="Text 5"/>
          <p:cNvSpPr/>
          <p:nvPr/>
        </p:nvSpPr>
        <p:spPr>
          <a:xfrm>
            <a:off x="1463040" y="1874520"/>
            <a:ext cx="2559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Calibri"/>
                <a:ea typeface="Calibri"/>
              </a:rPr>
              <a:t>The Problem</a:t>
            </a:r>
            <a:endParaRPr lang="en-US" sz="1500" b="0" strike="noStrike" spc="-1">
              <a:solidFill>
                <a:srgbClr val="FFFFFF"/>
              </a:solidFill>
              <a:latin typeface="Arial"/>
            </a:endParaRPr>
          </a:p>
        </p:txBody>
      </p:sp>
      <p:sp>
        <p:nvSpPr>
          <p:cNvPr id="65" name="Text 6"/>
          <p:cNvSpPr/>
          <p:nvPr/>
        </p:nvSpPr>
        <p:spPr>
          <a:xfrm>
            <a:off x="1463040" y="225864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AEB9C4"/>
                </a:solidFill>
                <a:latin typeface="Calibri"/>
                <a:ea typeface="Calibri"/>
              </a:rPr>
              <a:t>What we forecast, and why it's hard</a:t>
            </a:r>
            <a:endParaRPr lang="en-US" sz="1100" b="0" strike="noStrike" spc="-1">
              <a:solidFill>
                <a:srgbClr val="FFFFFF"/>
              </a:solidFill>
              <a:latin typeface="Arial"/>
            </a:endParaRPr>
          </a:p>
        </p:txBody>
      </p:sp>
      <p:sp>
        <p:nvSpPr>
          <p:cNvPr id="66" name="Shape 7"/>
          <p:cNvSpPr/>
          <p:nvPr/>
        </p:nvSpPr>
        <p:spPr>
          <a:xfrm>
            <a:off x="4316040" y="1691640"/>
            <a:ext cx="3565800" cy="1371240"/>
          </a:xfrm>
          <a:prstGeom prst="roundRect">
            <a:avLst>
              <a:gd name="adj" fmla="val 5333"/>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7" name="Shape 8"/>
          <p:cNvSpPr/>
          <p:nvPr/>
        </p:nvSpPr>
        <p:spPr>
          <a:xfrm>
            <a:off x="4517280" y="1911240"/>
            <a:ext cx="566640" cy="56664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8" name="Text 9"/>
          <p:cNvSpPr/>
          <p:nvPr/>
        </p:nvSpPr>
        <p:spPr>
          <a:xfrm>
            <a:off x="4517280" y="191124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FFFFFF"/>
                </a:solidFill>
                <a:latin typeface="Cambria"/>
                <a:ea typeface="Cambria"/>
              </a:rPr>
              <a:t>2</a:t>
            </a:r>
            <a:endParaRPr lang="en-US" sz="2600" b="0" strike="noStrike" spc="-1">
              <a:solidFill>
                <a:srgbClr val="FFFFFF"/>
              </a:solidFill>
              <a:latin typeface="Arial"/>
            </a:endParaRPr>
          </a:p>
        </p:txBody>
      </p:sp>
      <p:sp>
        <p:nvSpPr>
          <p:cNvPr id="69" name="Text 10"/>
          <p:cNvSpPr/>
          <p:nvPr/>
        </p:nvSpPr>
        <p:spPr>
          <a:xfrm>
            <a:off x="5230440" y="1874520"/>
            <a:ext cx="2559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Calibri"/>
                <a:ea typeface="Calibri"/>
              </a:rPr>
              <a:t>The Raw Data</a:t>
            </a:r>
            <a:endParaRPr lang="en-US" sz="1500" b="0" strike="noStrike" spc="-1">
              <a:solidFill>
                <a:srgbClr val="FFFFFF"/>
              </a:solidFill>
              <a:latin typeface="Arial"/>
            </a:endParaRPr>
          </a:p>
        </p:txBody>
      </p:sp>
      <p:sp>
        <p:nvSpPr>
          <p:cNvPr id="70" name="Text 11"/>
          <p:cNvSpPr/>
          <p:nvPr/>
        </p:nvSpPr>
        <p:spPr>
          <a:xfrm>
            <a:off x="5230440" y="225864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AEB9C4"/>
                </a:solidFill>
                <a:latin typeface="Calibri"/>
                <a:ea typeface="Calibri"/>
              </a:rPr>
              <a:t>Five live sources, and what leaks</a:t>
            </a:r>
            <a:endParaRPr lang="en-US" sz="1100" b="0" strike="noStrike" spc="-1">
              <a:solidFill>
                <a:srgbClr val="FFFFFF"/>
              </a:solidFill>
              <a:latin typeface="Arial"/>
            </a:endParaRPr>
          </a:p>
        </p:txBody>
      </p:sp>
      <p:sp>
        <p:nvSpPr>
          <p:cNvPr id="71" name="Shape 12"/>
          <p:cNvSpPr/>
          <p:nvPr/>
        </p:nvSpPr>
        <p:spPr>
          <a:xfrm>
            <a:off x="8083440" y="1691640"/>
            <a:ext cx="3565800" cy="1371240"/>
          </a:xfrm>
          <a:prstGeom prst="roundRect">
            <a:avLst>
              <a:gd name="adj" fmla="val 5333"/>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2" name="Shape 13"/>
          <p:cNvSpPr/>
          <p:nvPr/>
        </p:nvSpPr>
        <p:spPr>
          <a:xfrm>
            <a:off x="8284320" y="1911240"/>
            <a:ext cx="566640" cy="56664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3" name="Text 14"/>
          <p:cNvSpPr/>
          <p:nvPr/>
        </p:nvSpPr>
        <p:spPr>
          <a:xfrm>
            <a:off x="8284320" y="191124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FFFFFF"/>
                </a:solidFill>
                <a:latin typeface="Cambria"/>
                <a:ea typeface="Cambria"/>
              </a:rPr>
              <a:t>3</a:t>
            </a:r>
            <a:endParaRPr lang="en-US" sz="2600" b="0" strike="noStrike" spc="-1">
              <a:solidFill>
                <a:srgbClr val="FFFFFF"/>
              </a:solidFill>
              <a:latin typeface="Arial"/>
            </a:endParaRPr>
          </a:p>
        </p:txBody>
      </p:sp>
      <p:sp>
        <p:nvSpPr>
          <p:cNvPr id="74" name="Text 15"/>
          <p:cNvSpPr/>
          <p:nvPr/>
        </p:nvSpPr>
        <p:spPr>
          <a:xfrm>
            <a:off x="8997840" y="1874520"/>
            <a:ext cx="2559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Calibri"/>
                <a:ea typeface="Calibri"/>
              </a:rPr>
              <a:t>Seismology You Need</a:t>
            </a:r>
            <a:endParaRPr lang="en-US" sz="1500" b="0" strike="noStrike" spc="-1">
              <a:solidFill>
                <a:srgbClr val="FFFFFF"/>
              </a:solidFill>
              <a:latin typeface="Arial"/>
            </a:endParaRPr>
          </a:p>
        </p:txBody>
      </p:sp>
      <p:sp>
        <p:nvSpPr>
          <p:cNvPr id="75" name="Text 16"/>
          <p:cNvSpPr/>
          <p:nvPr/>
        </p:nvSpPr>
        <p:spPr>
          <a:xfrm>
            <a:off x="8997840" y="225864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AEB9C4"/>
                </a:solidFill>
                <a:latin typeface="Calibri"/>
                <a:ea typeface="Calibri"/>
              </a:rPr>
              <a:t>Gutenberg–Richter, completeness, ETAS</a:t>
            </a:r>
            <a:endParaRPr lang="en-US" sz="1100" b="0" strike="noStrike" spc="-1">
              <a:solidFill>
                <a:srgbClr val="FFFFFF"/>
              </a:solidFill>
              <a:latin typeface="Arial"/>
            </a:endParaRPr>
          </a:p>
        </p:txBody>
      </p:sp>
      <p:sp>
        <p:nvSpPr>
          <p:cNvPr id="76" name="Shape 17"/>
          <p:cNvSpPr/>
          <p:nvPr/>
        </p:nvSpPr>
        <p:spPr>
          <a:xfrm>
            <a:off x="548640" y="3227760"/>
            <a:ext cx="3565800" cy="1371240"/>
          </a:xfrm>
          <a:prstGeom prst="roundRect">
            <a:avLst>
              <a:gd name="adj" fmla="val 5333"/>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7" name="Shape 18"/>
          <p:cNvSpPr/>
          <p:nvPr/>
        </p:nvSpPr>
        <p:spPr>
          <a:xfrm>
            <a:off x="749880" y="3447360"/>
            <a:ext cx="566640" cy="56664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8" name="Text 19"/>
          <p:cNvSpPr/>
          <p:nvPr/>
        </p:nvSpPr>
        <p:spPr>
          <a:xfrm>
            <a:off x="749880" y="344736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FFFFFF"/>
                </a:solidFill>
                <a:latin typeface="Cambria"/>
                <a:ea typeface="Cambria"/>
              </a:rPr>
              <a:t>4</a:t>
            </a:r>
            <a:endParaRPr lang="en-US" sz="2600" b="0" strike="noStrike" spc="-1">
              <a:solidFill>
                <a:srgbClr val="FFFFFF"/>
              </a:solidFill>
              <a:latin typeface="Arial"/>
            </a:endParaRPr>
          </a:p>
        </p:txBody>
      </p:sp>
      <p:sp>
        <p:nvSpPr>
          <p:cNvPr id="79" name="Text 20"/>
          <p:cNvSpPr/>
          <p:nvPr/>
        </p:nvSpPr>
        <p:spPr>
          <a:xfrm>
            <a:off x="1463040" y="3410640"/>
            <a:ext cx="2559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Calibri"/>
                <a:ea typeface="Calibri"/>
              </a:rPr>
              <a:t>Feature Engineering</a:t>
            </a:r>
            <a:endParaRPr lang="en-US" sz="1500" b="0" strike="noStrike" spc="-1">
              <a:solidFill>
                <a:srgbClr val="FFFFFF"/>
              </a:solidFill>
              <a:latin typeface="Arial"/>
            </a:endParaRPr>
          </a:p>
        </p:txBody>
      </p:sp>
      <p:sp>
        <p:nvSpPr>
          <p:cNvPr id="80" name="Text 21"/>
          <p:cNvSpPr/>
          <p:nvPr/>
        </p:nvSpPr>
        <p:spPr>
          <a:xfrm>
            <a:off x="1463040" y="379476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AEB9C4"/>
                </a:solidFill>
                <a:latin typeface="Calibri"/>
                <a:ea typeface="Calibri"/>
              </a:rPr>
              <a:t>Raw streams → a design matrix</a:t>
            </a:r>
            <a:endParaRPr lang="en-US" sz="1100" b="0" strike="noStrike" spc="-1">
              <a:solidFill>
                <a:srgbClr val="FFFFFF"/>
              </a:solidFill>
              <a:latin typeface="Arial"/>
            </a:endParaRPr>
          </a:p>
        </p:txBody>
      </p:sp>
      <p:sp>
        <p:nvSpPr>
          <p:cNvPr id="81" name="Shape 22"/>
          <p:cNvSpPr/>
          <p:nvPr/>
        </p:nvSpPr>
        <p:spPr>
          <a:xfrm>
            <a:off x="4316040" y="3227760"/>
            <a:ext cx="3565800" cy="1371240"/>
          </a:xfrm>
          <a:prstGeom prst="roundRect">
            <a:avLst>
              <a:gd name="adj" fmla="val 5333"/>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2" name="Shape 23"/>
          <p:cNvSpPr/>
          <p:nvPr/>
        </p:nvSpPr>
        <p:spPr>
          <a:xfrm>
            <a:off x="4517280" y="3447360"/>
            <a:ext cx="566640" cy="56664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3" name="Text 24"/>
          <p:cNvSpPr/>
          <p:nvPr/>
        </p:nvSpPr>
        <p:spPr>
          <a:xfrm>
            <a:off x="4517280" y="344736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FFFFFF"/>
                </a:solidFill>
                <a:latin typeface="Cambria"/>
                <a:ea typeface="Cambria"/>
              </a:rPr>
              <a:t>5</a:t>
            </a:r>
            <a:endParaRPr lang="en-US" sz="2600" b="0" strike="noStrike" spc="-1">
              <a:solidFill>
                <a:srgbClr val="FFFFFF"/>
              </a:solidFill>
              <a:latin typeface="Arial"/>
            </a:endParaRPr>
          </a:p>
        </p:txBody>
      </p:sp>
      <p:sp>
        <p:nvSpPr>
          <p:cNvPr id="84" name="Text 25"/>
          <p:cNvSpPr/>
          <p:nvPr/>
        </p:nvSpPr>
        <p:spPr>
          <a:xfrm>
            <a:off x="5230440" y="3410640"/>
            <a:ext cx="2559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Calibri"/>
                <a:ea typeface="Calibri"/>
              </a:rPr>
              <a:t>Validation &amp; Calibration</a:t>
            </a:r>
            <a:endParaRPr lang="en-US" sz="1500" b="0" strike="noStrike" spc="-1">
              <a:solidFill>
                <a:srgbClr val="FFFFFF"/>
              </a:solidFill>
              <a:latin typeface="Arial"/>
            </a:endParaRPr>
          </a:p>
        </p:txBody>
      </p:sp>
      <p:sp>
        <p:nvSpPr>
          <p:cNvPr id="85" name="Text 26"/>
          <p:cNvSpPr/>
          <p:nvPr/>
        </p:nvSpPr>
        <p:spPr>
          <a:xfrm>
            <a:off x="5230440" y="379476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AEB9C4"/>
                </a:solidFill>
                <a:latin typeface="Calibri"/>
                <a:ea typeface="Calibri"/>
              </a:rPr>
              <a:t>The part that separates winners</a:t>
            </a:r>
            <a:endParaRPr lang="en-US" sz="1100" b="0" strike="noStrike" spc="-1">
              <a:solidFill>
                <a:srgbClr val="FFFFFF"/>
              </a:solidFill>
              <a:latin typeface="Arial"/>
            </a:endParaRPr>
          </a:p>
        </p:txBody>
      </p:sp>
      <p:sp>
        <p:nvSpPr>
          <p:cNvPr id="86" name="Shape 27"/>
          <p:cNvSpPr/>
          <p:nvPr/>
        </p:nvSpPr>
        <p:spPr>
          <a:xfrm>
            <a:off x="8083440" y="3227760"/>
            <a:ext cx="3565800" cy="1371240"/>
          </a:xfrm>
          <a:prstGeom prst="roundRect">
            <a:avLst>
              <a:gd name="adj" fmla="val 5333"/>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7" name="Shape 28"/>
          <p:cNvSpPr/>
          <p:nvPr/>
        </p:nvSpPr>
        <p:spPr>
          <a:xfrm>
            <a:off x="8284320" y="3447360"/>
            <a:ext cx="566640" cy="56664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8" name="Text 29"/>
          <p:cNvSpPr/>
          <p:nvPr/>
        </p:nvSpPr>
        <p:spPr>
          <a:xfrm>
            <a:off x="8284320" y="344736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FFFFFF"/>
                </a:solidFill>
                <a:latin typeface="Cambria"/>
                <a:ea typeface="Cambria"/>
              </a:rPr>
              <a:t>6</a:t>
            </a:r>
            <a:endParaRPr lang="en-US" sz="2600" b="0" strike="noStrike" spc="-1">
              <a:solidFill>
                <a:srgbClr val="FFFFFF"/>
              </a:solidFill>
              <a:latin typeface="Arial"/>
            </a:endParaRPr>
          </a:p>
        </p:txBody>
      </p:sp>
      <p:sp>
        <p:nvSpPr>
          <p:cNvPr id="89" name="Text 30"/>
          <p:cNvSpPr/>
          <p:nvPr/>
        </p:nvSpPr>
        <p:spPr>
          <a:xfrm>
            <a:off x="8997840" y="3410640"/>
            <a:ext cx="2559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Calibri"/>
                <a:ea typeface="Calibri"/>
              </a:rPr>
              <a:t>Quantum Methods</a:t>
            </a:r>
            <a:endParaRPr lang="en-US" sz="1500" b="0" strike="noStrike" spc="-1">
              <a:solidFill>
                <a:srgbClr val="FFFFFF"/>
              </a:solidFill>
              <a:latin typeface="Arial"/>
            </a:endParaRPr>
          </a:p>
        </p:txBody>
      </p:sp>
      <p:sp>
        <p:nvSpPr>
          <p:cNvPr id="90" name="Text 31"/>
          <p:cNvSpPr/>
          <p:nvPr/>
        </p:nvSpPr>
        <p:spPr>
          <a:xfrm>
            <a:off x="8997840" y="379476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AEB9C4"/>
                </a:solidFill>
                <a:latin typeface="Calibri"/>
                <a:ea typeface="Calibri"/>
              </a:rPr>
              <a:t>Encoding, kernels, VQC, plateaus</a:t>
            </a:r>
            <a:endParaRPr lang="en-US" sz="1100" b="0" strike="noStrike" spc="-1">
              <a:solidFill>
                <a:srgbClr val="FFFFFF"/>
              </a:solidFill>
              <a:latin typeface="Arial"/>
            </a:endParaRPr>
          </a:p>
        </p:txBody>
      </p:sp>
      <p:sp>
        <p:nvSpPr>
          <p:cNvPr id="91" name="Shape 32"/>
          <p:cNvSpPr/>
          <p:nvPr/>
        </p:nvSpPr>
        <p:spPr>
          <a:xfrm>
            <a:off x="548640" y="4763880"/>
            <a:ext cx="3565800" cy="1371240"/>
          </a:xfrm>
          <a:prstGeom prst="roundRect">
            <a:avLst>
              <a:gd name="adj" fmla="val 5333"/>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2" name="Shape 33"/>
          <p:cNvSpPr/>
          <p:nvPr/>
        </p:nvSpPr>
        <p:spPr>
          <a:xfrm>
            <a:off x="749880" y="4983480"/>
            <a:ext cx="566640" cy="56664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3" name="Text 34"/>
          <p:cNvSpPr/>
          <p:nvPr/>
        </p:nvSpPr>
        <p:spPr>
          <a:xfrm>
            <a:off x="749880" y="498348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FFFFFF"/>
                </a:solidFill>
                <a:latin typeface="Cambria"/>
                <a:ea typeface="Cambria"/>
              </a:rPr>
              <a:t>7</a:t>
            </a:r>
            <a:endParaRPr lang="en-US" sz="2600" b="0" strike="noStrike" spc="-1">
              <a:solidFill>
                <a:srgbClr val="FFFFFF"/>
              </a:solidFill>
              <a:latin typeface="Arial"/>
            </a:endParaRPr>
          </a:p>
        </p:txBody>
      </p:sp>
      <p:sp>
        <p:nvSpPr>
          <p:cNvPr id="94" name="Text 35"/>
          <p:cNvSpPr/>
          <p:nvPr/>
        </p:nvSpPr>
        <p:spPr>
          <a:xfrm>
            <a:off x="1463040" y="4946760"/>
            <a:ext cx="2559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Calibri"/>
                <a:ea typeface="Calibri"/>
              </a:rPr>
              <a:t>The Honest Verdict</a:t>
            </a:r>
            <a:endParaRPr lang="en-US" sz="1500" b="0" strike="noStrike" spc="-1">
              <a:solidFill>
                <a:srgbClr val="FFFFFF"/>
              </a:solidFill>
              <a:latin typeface="Arial"/>
            </a:endParaRPr>
          </a:p>
        </p:txBody>
      </p:sp>
      <p:sp>
        <p:nvSpPr>
          <p:cNvPr id="95" name="Text 36"/>
          <p:cNvSpPr/>
          <p:nvPr/>
        </p:nvSpPr>
        <p:spPr>
          <a:xfrm>
            <a:off x="1463040" y="533088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AEB9C4"/>
                </a:solidFill>
                <a:latin typeface="Calibri"/>
                <a:ea typeface="Calibri"/>
              </a:rPr>
              <a:t>Does any of it beat 5-param physics?</a:t>
            </a:r>
            <a:endParaRPr lang="en-US" sz="1100" b="0" strike="noStrike" spc="-1">
              <a:solidFill>
                <a:srgbClr val="FFFFFF"/>
              </a:solidFill>
              <a:latin typeface="Arial"/>
            </a:endParaRPr>
          </a:p>
        </p:txBody>
      </p:sp>
      <p:sp>
        <p:nvSpPr>
          <p:cNvPr id="96" name="Shape 37"/>
          <p:cNvSpPr/>
          <p:nvPr/>
        </p:nvSpPr>
        <p:spPr>
          <a:xfrm>
            <a:off x="4316040" y="4763880"/>
            <a:ext cx="3565800" cy="1371240"/>
          </a:xfrm>
          <a:prstGeom prst="roundRect">
            <a:avLst>
              <a:gd name="adj" fmla="val 5333"/>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7" name="Shape 38"/>
          <p:cNvSpPr/>
          <p:nvPr/>
        </p:nvSpPr>
        <p:spPr>
          <a:xfrm>
            <a:off x="4517280" y="4983480"/>
            <a:ext cx="566640" cy="56664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8" name="Text 39"/>
          <p:cNvSpPr/>
          <p:nvPr/>
        </p:nvSpPr>
        <p:spPr>
          <a:xfrm>
            <a:off x="4517280" y="498348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FFFFFF"/>
                </a:solidFill>
                <a:latin typeface="Cambria"/>
                <a:ea typeface="Cambria"/>
              </a:rPr>
              <a:t>8</a:t>
            </a:r>
            <a:endParaRPr lang="en-US" sz="2600" b="0" strike="noStrike" spc="-1">
              <a:solidFill>
                <a:srgbClr val="FFFFFF"/>
              </a:solidFill>
              <a:latin typeface="Arial"/>
            </a:endParaRPr>
          </a:p>
        </p:txBody>
      </p:sp>
      <p:sp>
        <p:nvSpPr>
          <p:cNvPr id="99" name="Text 40"/>
          <p:cNvSpPr/>
          <p:nvPr/>
        </p:nvSpPr>
        <p:spPr>
          <a:xfrm>
            <a:off x="5230440" y="4946760"/>
            <a:ext cx="2559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Calibri"/>
                <a:ea typeface="Calibri"/>
              </a:rPr>
              <a:t>The Naive Control</a:t>
            </a:r>
            <a:endParaRPr lang="en-US" sz="1500" b="0" strike="noStrike" spc="-1">
              <a:solidFill>
                <a:srgbClr val="FFFFFF"/>
              </a:solidFill>
              <a:latin typeface="Arial"/>
            </a:endParaRPr>
          </a:p>
        </p:txBody>
      </p:sp>
      <p:sp>
        <p:nvSpPr>
          <p:cNvPr id="100" name="Text 41"/>
          <p:cNvSpPr/>
          <p:nvPr/>
        </p:nvSpPr>
        <p:spPr>
          <a:xfrm>
            <a:off x="5230440" y="533088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AEB9C4"/>
                </a:solidFill>
                <a:latin typeface="Calibri"/>
                <a:ea typeface="Calibri"/>
              </a:rPr>
              <a:t>What raw data alone already buys</a:t>
            </a:r>
            <a:endParaRPr lang="en-US" sz="1100" b="0" strike="noStrike" spc="-1">
              <a:solidFill>
                <a:srgbClr val="FFFFFF"/>
              </a:solidFill>
              <a:latin typeface="Arial"/>
            </a:endParaRPr>
          </a:p>
        </p:txBody>
      </p:sp>
      <p:sp>
        <p:nvSpPr>
          <p:cNvPr id="101" name="Shape 42"/>
          <p:cNvSpPr/>
          <p:nvPr/>
        </p:nvSpPr>
        <p:spPr>
          <a:xfrm>
            <a:off x="8083440" y="4763880"/>
            <a:ext cx="3565800" cy="1371240"/>
          </a:xfrm>
          <a:prstGeom prst="roundRect">
            <a:avLst>
              <a:gd name="adj" fmla="val 5333"/>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2" name="Shape 43"/>
          <p:cNvSpPr/>
          <p:nvPr/>
        </p:nvSpPr>
        <p:spPr>
          <a:xfrm>
            <a:off x="8284320" y="4983480"/>
            <a:ext cx="566640" cy="56664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3" name="Text 44"/>
          <p:cNvSpPr/>
          <p:nvPr/>
        </p:nvSpPr>
        <p:spPr>
          <a:xfrm>
            <a:off x="8284320" y="498348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FFFFFF"/>
                </a:solidFill>
                <a:latin typeface="Cambria"/>
                <a:ea typeface="Cambria"/>
              </a:rPr>
              <a:t>9</a:t>
            </a:r>
            <a:endParaRPr lang="en-US" sz="2600" b="0" strike="noStrike" spc="-1">
              <a:solidFill>
                <a:srgbClr val="FFFFFF"/>
              </a:solidFill>
              <a:latin typeface="Arial"/>
            </a:endParaRPr>
          </a:p>
        </p:txBody>
      </p:sp>
      <p:sp>
        <p:nvSpPr>
          <p:cNvPr id="104" name="Text 45"/>
          <p:cNvSpPr/>
          <p:nvPr/>
        </p:nvSpPr>
        <p:spPr>
          <a:xfrm>
            <a:off x="8997840" y="4946760"/>
            <a:ext cx="2559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Calibri"/>
                <a:ea typeface="Calibri"/>
              </a:rPr>
              <a:t>Deploy &amp; Reflect</a:t>
            </a:r>
            <a:endParaRPr lang="en-US" sz="1500" b="0" strike="noStrike" spc="-1">
              <a:solidFill>
                <a:srgbClr val="FFFFFF"/>
              </a:solidFill>
              <a:latin typeface="Arial"/>
            </a:endParaRPr>
          </a:p>
        </p:txBody>
      </p:sp>
      <p:sp>
        <p:nvSpPr>
          <p:cNvPr id="105" name="Text 46"/>
          <p:cNvSpPr/>
          <p:nvPr/>
        </p:nvSpPr>
        <p:spPr>
          <a:xfrm>
            <a:off x="8997840" y="5330880"/>
            <a:ext cx="2605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AEB9C4"/>
                </a:solidFill>
                <a:latin typeface="Calibri"/>
                <a:ea typeface="Calibri"/>
              </a:rPr>
              <a:t>A real forecast, and the lessons</a:t>
            </a:r>
            <a:endParaRPr lang="en-US" sz="1100" b="0" strike="noStrike" spc="-1">
              <a:solidFill>
                <a:srgbClr val="FFFFFF"/>
              </a:solidFill>
              <a:latin typeface="Arial"/>
            </a:endParaRPr>
          </a:p>
        </p:txBody>
      </p:sp>
      <p:sp>
        <p:nvSpPr>
          <p:cNvPr id="106" name="Text 47"/>
          <p:cNvSpPr/>
          <p:nvPr/>
        </p:nvSpPr>
        <p:spPr>
          <a:xfrm>
            <a:off x="548640" y="635508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strike="noStrike" spc="-1">
                <a:solidFill>
                  <a:srgbClr val="8996A3"/>
                </a:solidFill>
                <a:latin typeface="Calibri"/>
                <a:ea typeface="Calibri"/>
              </a:rPr>
              <a:t>Each module ends with exercises and a full answer key.</a:t>
            </a:r>
            <a:endParaRPr lang="en-US" sz="1200" b="0" strike="noStrike" spc="-1">
              <a:solidFill>
                <a:srgbClr val="FFFFF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107" name="Shape 0"/>
          <p:cNvSpPr/>
          <p:nvPr/>
        </p:nvSpPr>
        <p:spPr>
          <a:xfrm>
            <a:off x="640080" y="1371600"/>
            <a:ext cx="1371240" cy="137124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8" name="Text 1"/>
          <p:cNvSpPr/>
          <p:nvPr/>
        </p:nvSpPr>
        <p:spPr>
          <a:xfrm>
            <a:off x="640080" y="137160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6200" b="1" strike="noStrike" spc="-1">
                <a:solidFill>
                  <a:srgbClr val="FFFFFF"/>
                </a:solidFill>
                <a:latin typeface="Cambria"/>
                <a:ea typeface="Cambria"/>
              </a:rPr>
              <a:t>1</a:t>
            </a:r>
            <a:endParaRPr lang="en-US" sz="6200" b="0" strike="noStrike" spc="-1">
              <a:solidFill>
                <a:srgbClr val="FFFFFF"/>
              </a:solidFill>
              <a:latin typeface="Arial"/>
            </a:endParaRPr>
          </a:p>
        </p:txBody>
      </p:sp>
      <p:sp>
        <p:nvSpPr>
          <p:cNvPr id="109" name="Text 2"/>
          <p:cNvSpPr/>
          <p:nvPr/>
        </p:nvSpPr>
        <p:spPr>
          <a:xfrm>
            <a:off x="2331720" y="14814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299">
                <a:solidFill>
                  <a:srgbClr val="C0392B"/>
                </a:solidFill>
                <a:latin typeface="Calibri"/>
                <a:ea typeface="Calibri"/>
              </a:rPr>
              <a:t>MODULE 1</a:t>
            </a:r>
            <a:endParaRPr lang="en-US" sz="1500" b="0" strike="noStrike" spc="-1">
              <a:solidFill>
                <a:srgbClr val="FFFFFF"/>
              </a:solidFill>
              <a:latin typeface="Arial"/>
            </a:endParaRPr>
          </a:p>
        </p:txBody>
      </p:sp>
      <p:sp>
        <p:nvSpPr>
          <p:cNvPr id="110" name="Text 3"/>
          <p:cNvSpPr/>
          <p:nvPr/>
        </p:nvSpPr>
        <p:spPr>
          <a:xfrm>
            <a:off x="2286000" y="1810440"/>
            <a:ext cx="932652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4000" b="1" strike="noStrike" spc="-1">
                <a:solidFill>
                  <a:srgbClr val="FFFFFF"/>
                </a:solidFill>
                <a:latin typeface="Cambria"/>
                <a:ea typeface="Cambria"/>
              </a:rPr>
              <a:t>The Problem</a:t>
            </a:r>
            <a:endParaRPr lang="en-US" sz="4000" b="0" strike="noStrike" spc="-1">
              <a:solidFill>
                <a:srgbClr val="FFFFFF"/>
              </a:solidFill>
              <a:latin typeface="Arial"/>
            </a:endParaRPr>
          </a:p>
        </p:txBody>
      </p:sp>
      <p:sp>
        <p:nvSpPr>
          <p:cNvPr id="111" name="Text 4"/>
          <p:cNvSpPr/>
          <p:nvPr/>
        </p:nvSpPr>
        <p:spPr>
          <a:xfrm>
            <a:off x="2331720" y="2743200"/>
            <a:ext cx="9052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strike="noStrike" spc="-1">
                <a:solidFill>
                  <a:srgbClr val="C7D0D9"/>
                </a:solidFill>
                <a:latin typeface="Calibri"/>
                <a:ea typeface="Calibri"/>
              </a:rPr>
              <a:t>What exactly are we forecasting, and why is it genuinely hard?</a:t>
            </a:r>
            <a:endParaRPr lang="en-US" sz="1700" b="0" strike="noStrike" spc="-1">
              <a:solidFill>
                <a:srgbClr val="FFFFFF"/>
              </a:solidFill>
              <a:latin typeface="Arial"/>
            </a:endParaRPr>
          </a:p>
        </p:txBody>
      </p:sp>
      <p:sp>
        <p:nvSpPr>
          <p:cNvPr id="112" name="Text 5"/>
          <p:cNvSpPr/>
          <p:nvPr/>
        </p:nvSpPr>
        <p:spPr>
          <a:xfrm>
            <a:off x="2331720" y="36118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8996A3"/>
                </a:solidFill>
                <a:latin typeface="Calibri"/>
                <a:ea typeface="Calibri"/>
              </a:rPr>
              <a:t>IN THIS MODULE</a:t>
            </a:r>
            <a:endParaRPr lang="en-US" sz="1200" b="0" strike="noStrike" spc="-1">
              <a:solidFill>
                <a:srgbClr val="FFFFFF"/>
              </a:solidFill>
              <a:latin typeface="Arial"/>
            </a:endParaRPr>
          </a:p>
        </p:txBody>
      </p:sp>
      <p:sp>
        <p:nvSpPr>
          <p:cNvPr id="113" name="Text 6"/>
          <p:cNvSpPr/>
          <p:nvPr/>
        </p:nvSpPr>
        <p:spPr>
          <a:xfrm>
            <a:off x="2331720" y="3931920"/>
            <a:ext cx="914364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The precise forecasting target and its units</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Why this is a probability problem, not a prediction problem</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The grid, the windows, and the scoring philosophy</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Why a high AUC can still be a failing answer</a:t>
            </a:r>
            <a:endParaRPr lang="en-US" sz="1450" b="0" strike="noStrike" spc="-1">
              <a:solidFill>
                <a:srgbClr val="FFFFFF"/>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14"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THE TARGET</a:t>
            </a:r>
            <a:endParaRPr lang="en-US" sz="1300" b="0" strike="noStrike" spc="-1">
              <a:solidFill>
                <a:srgbClr val="000000"/>
              </a:solidFill>
              <a:latin typeface="Arial"/>
            </a:endParaRPr>
          </a:p>
        </p:txBody>
      </p:sp>
      <p:sp>
        <p:nvSpPr>
          <p:cNvPr id="115"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One question, asked 23,265 times</a:t>
            </a:r>
            <a:endParaRPr lang="en-US" sz="3000" b="0" strike="noStrike" spc="-1">
              <a:solidFill>
                <a:srgbClr val="000000"/>
              </a:solidFill>
              <a:latin typeface="Arial"/>
            </a:endParaRPr>
          </a:p>
        </p:txBody>
      </p:sp>
      <p:sp>
        <p:nvSpPr>
          <p:cNvPr id="116"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0" i="1" strike="noStrike" spc="-1">
                <a:solidFill>
                  <a:srgbClr val="16202B"/>
                </a:solidFill>
                <a:latin typeface="Calibri"/>
                <a:ea typeface="Calibri"/>
              </a:rPr>
              <a:t>For every cell on a map of the central &amp; eastern United States, and for each of 15 consecutive 30-day windows, answer one question:</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8E2A20"/>
                </a:solidFill>
                <a:latin typeface="Calibri"/>
                <a:ea typeface="Calibri"/>
              </a:rPr>
              <a:t>“What is the probability that at least one magnitude ≥ 2.0 earthquake occurs within 100 km of this cell during this window?”</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That is a calibrated probability in [0, 1] — not a yes/no, not a magnitude, not a time.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1,551 grid cells × 15 windows = 23,265 probabilities per submission. The window spans 2025-01 to 2026-04.</a:t>
            </a:r>
            <a:endParaRPr lang="en-US" sz="1500" b="0" strike="noStrike" spc="-1">
              <a:solidFill>
                <a:srgbClr val="000000"/>
              </a:solidFill>
              <a:latin typeface="Arial"/>
            </a:endParaRPr>
          </a:p>
        </p:txBody>
      </p:sp>
      <p:sp>
        <p:nvSpPr>
          <p:cNvPr id="117" name="Shape 3"/>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8" name="Shape 4"/>
          <p:cNvSpPr/>
          <p:nvPr/>
        </p:nvSpPr>
        <p:spPr>
          <a:xfrm>
            <a:off x="6949440" y="223128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9"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Spatial unit</a:t>
            </a:r>
            <a:endParaRPr lang="en-US" sz="1450" b="0" strike="noStrike" spc="-1">
              <a:solidFill>
                <a:srgbClr val="000000"/>
              </a:solidFill>
              <a:latin typeface="Arial"/>
            </a:endParaRPr>
          </a:p>
        </p:txBody>
      </p:sp>
      <p:sp>
        <p:nvSpPr>
          <p:cNvPr id="120" name="Text 6"/>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0.5° grid cells over 25–50°N, 65–90°W — the seismically active eastern US.</a:t>
            </a:r>
            <a:endParaRPr lang="en-US" sz="1200" b="0" strike="noStrike" spc="-1">
              <a:solidFill>
                <a:srgbClr val="000000"/>
              </a:solidFill>
              <a:latin typeface="Arial"/>
            </a:endParaRPr>
          </a:p>
        </p:txBody>
      </p:sp>
      <p:sp>
        <p:nvSpPr>
          <p:cNvPr id="121" name="Shape 7"/>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2" name="Shape 8"/>
          <p:cNvSpPr/>
          <p:nvPr/>
        </p:nvSpPr>
        <p:spPr>
          <a:xfrm>
            <a:off x="6949440" y="3785760"/>
            <a:ext cx="292320" cy="29232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3" name="Text 9"/>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Temporal unit</a:t>
            </a:r>
            <a:endParaRPr lang="en-US" sz="1450" b="0" strike="noStrike" spc="-1">
              <a:solidFill>
                <a:srgbClr val="000000"/>
              </a:solidFill>
              <a:latin typeface="Arial"/>
            </a:endParaRPr>
          </a:p>
        </p:txBody>
      </p:sp>
      <p:sp>
        <p:nvSpPr>
          <p:cNvPr id="124" name="Text 10"/>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Fifteen 30-day windows, forecast from a single fixed information cutoff (2025-01-01).</a:t>
            </a:r>
            <a:endParaRPr lang="en-US" sz="1200" b="0" strike="noStrike" spc="-1">
              <a:solidFill>
                <a:srgbClr val="000000"/>
              </a:solidFill>
              <a:latin typeface="Arial"/>
            </a:endParaRPr>
          </a:p>
        </p:txBody>
      </p:sp>
      <p:sp>
        <p:nvSpPr>
          <p:cNvPr id="125" name="Shape 11"/>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6" name="Shape 12"/>
          <p:cNvSpPr/>
          <p:nvPr/>
        </p:nvSpPr>
        <p:spPr>
          <a:xfrm>
            <a:off x="6949440" y="534024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7" name="Text 13"/>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What counts</a:t>
            </a:r>
            <a:endParaRPr lang="en-US" sz="1450" b="0" strike="noStrike" spc="-1">
              <a:solidFill>
                <a:srgbClr val="000000"/>
              </a:solidFill>
              <a:latin typeface="Arial"/>
            </a:endParaRPr>
          </a:p>
        </p:txBody>
      </p:sp>
      <p:sp>
        <p:nvSpPr>
          <p:cNvPr id="128" name="Text 14"/>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Any M≥2.0 event within 100 km. Rare: only ~9.5% of cell-windows are positive.</a:t>
            </a:r>
            <a:endParaRPr lang="en-US" sz="1200" b="0" strike="noStrike" spc="-1">
              <a:solidFill>
                <a:srgbClr val="000000"/>
              </a:solidFill>
              <a:latin typeface="Arial"/>
            </a:endParaRPr>
          </a:p>
        </p:txBody>
      </p:sp>
      <p:sp>
        <p:nvSpPr>
          <p:cNvPr id="129" name="Text 1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1 · The Problem</a:t>
            </a:r>
            <a:endParaRPr lang="en-US" sz="1000" b="0" strike="noStrike" spc="-1">
              <a:solidFill>
                <a:srgbClr val="000000"/>
              </a:solidFill>
              <a:latin typeface="Arial"/>
            </a:endParaRPr>
          </a:p>
        </p:txBody>
      </p:sp>
      <p:sp>
        <p:nvSpPr>
          <p:cNvPr id="130" name="Text 1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31" name="Text 1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5</a:t>
            </a:r>
            <a:endParaRPr lang="en-US" sz="10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32"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WHY IT'S HARD</a:t>
            </a:r>
            <a:endParaRPr lang="en-US" sz="1300" b="0" strike="noStrike" spc="-1">
              <a:solidFill>
                <a:srgbClr val="000000"/>
              </a:solidFill>
              <a:latin typeface="Arial"/>
            </a:endParaRPr>
          </a:p>
        </p:txBody>
      </p:sp>
      <p:sp>
        <p:nvSpPr>
          <p:cNvPr id="133"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Four things that make this a real problem</a:t>
            </a:r>
            <a:endParaRPr lang="en-US" sz="3000" b="0" strike="noStrike" spc="-1">
              <a:solidFill>
                <a:srgbClr val="000000"/>
              </a:solidFill>
              <a:latin typeface="Arial"/>
            </a:endParaRPr>
          </a:p>
        </p:txBody>
      </p:sp>
      <p:sp>
        <p:nvSpPr>
          <p:cNvPr id="134" name="Shape 2"/>
          <p:cNvSpPr/>
          <p:nvPr/>
        </p:nvSpPr>
        <p:spPr>
          <a:xfrm>
            <a:off x="548640" y="1691640"/>
            <a:ext cx="5851800" cy="2148480"/>
          </a:xfrm>
          <a:prstGeom prst="roundRect">
            <a:avLst>
              <a:gd name="adj" fmla="val 3404"/>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5" name="Shape 3"/>
          <p:cNvSpPr/>
          <p:nvPr/>
        </p:nvSpPr>
        <p:spPr>
          <a:xfrm>
            <a:off x="731520" y="261972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6" name="Text 4"/>
          <p:cNvSpPr/>
          <p:nvPr/>
        </p:nvSpPr>
        <p:spPr>
          <a:xfrm>
            <a:off x="1170360" y="1801440"/>
            <a:ext cx="5120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1 · Rarity</a:t>
            </a:r>
            <a:endParaRPr lang="en-US" sz="1450" b="0" strike="noStrike" spc="-1">
              <a:solidFill>
                <a:srgbClr val="000000"/>
              </a:solidFill>
              <a:latin typeface="Arial"/>
            </a:endParaRPr>
          </a:p>
        </p:txBody>
      </p:sp>
      <p:sp>
        <p:nvSpPr>
          <p:cNvPr id="137" name="Text 5"/>
          <p:cNvSpPr/>
          <p:nvPr/>
        </p:nvSpPr>
        <p:spPr>
          <a:xfrm>
            <a:off x="1170360" y="2094120"/>
            <a:ext cx="506556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9.5% base rate. A model that always predicts 'no' is 90% accurate and completely useless.</a:t>
            </a:r>
            <a:endParaRPr lang="en-US" sz="1200" b="0" strike="noStrike" spc="-1">
              <a:solidFill>
                <a:srgbClr val="000000"/>
              </a:solidFill>
              <a:latin typeface="Arial"/>
            </a:endParaRPr>
          </a:p>
        </p:txBody>
      </p:sp>
      <p:sp>
        <p:nvSpPr>
          <p:cNvPr id="138" name="Shape 6"/>
          <p:cNvSpPr/>
          <p:nvPr/>
        </p:nvSpPr>
        <p:spPr>
          <a:xfrm>
            <a:off x="548640" y="4023360"/>
            <a:ext cx="5851800" cy="2148480"/>
          </a:xfrm>
          <a:prstGeom prst="roundRect">
            <a:avLst>
              <a:gd name="adj" fmla="val 3404"/>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9" name="Shape 7"/>
          <p:cNvSpPr/>
          <p:nvPr/>
        </p:nvSpPr>
        <p:spPr>
          <a:xfrm>
            <a:off x="731520" y="4951440"/>
            <a:ext cx="292320" cy="29232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0" name="Text 8"/>
          <p:cNvSpPr/>
          <p:nvPr/>
        </p:nvSpPr>
        <p:spPr>
          <a:xfrm>
            <a:off x="1170360" y="4133160"/>
            <a:ext cx="5120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dirty="0">
                <a:solidFill>
                  <a:srgbClr val="16202B"/>
                </a:solidFill>
                <a:latin typeface="Calibri"/>
                <a:ea typeface="Calibri"/>
              </a:rPr>
              <a:t>2 · You build everything from a base solution</a:t>
            </a:r>
            <a:endParaRPr lang="en-US" sz="1450" b="0" strike="noStrike" spc="-1" dirty="0">
              <a:solidFill>
                <a:srgbClr val="000000"/>
              </a:solidFill>
              <a:latin typeface="Arial"/>
            </a:endParaRPr>
          </a:p>
        </p:txBody>
      </p:sp>
      <p:sp>
        <p:nvSpPr>
          <p:cNvPr id="141" name="Text 9"/>
          <p:cNvSpPr/>
          <p:nvPr/>
        </p:nvSpPr>
        <p:spPr>
          <a:xfrm>
            <a:off x="1170360" y="4425840"/>
            <a:ext cx="506556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dirty="0">
                <a:solidFill>
                  <a:srgbClr val="5B6B7A"/>
                </a:solidFill>
                <a:latin typeface="Calibri"/>
                <a:ea typeface="Calibri"/>
              </a:rPr>
              <a:t>We ship an example solution and raw data. </a:t>
            </a:r>
            <a:endParaRPr lang="en-US" sz="1200" b="0" strike="noStrike" spc="-1" dirty="0">
              <a:solidFill>
                <a:srgbClr val="000000"/>
              </a:solidFill>
              <a:latin typeface="Arial"/>
            </a:endParaRPr>
          </a:p>
        </p:txBody>
      </p:sp>
      <p:sp>
        <p:nvSpPr>
          <p:cNvPr id="142" name="Shape 10"/>
          <p:cNvSpPr/>
          <p:nvPr/>
        </p:nvSpPr>
        <p:spPr>
          <a:xfrm>
            <a:off x="6766560" y="1691640"/>
            <a:ext cx="4873320" cy="2148480"/>
          </a:xfrm>
          <a:prstGeom prst="roundRect">
            <a:avLst>
              <a:gd name="adj" fmla="val 3404"/>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3" name="Shape 11"/>
          <p:cNvSpPr/>
          <p:nvPr/>
        </p:nvSpPr>
        <p:spPr>
          <a:xfrm>
            <a:off x="6949440" y="2619720"/>
            <a:ext cx="292320" cy="29232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4" name="Text 12"/>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3 · Leakage is easy</a:t>
            </a:r>
            <a:endParaRPr lang="en-US" sz="1450" b="0" strike="noStrike" spc="-1">
              <a:solidFill>
                <a:srgbClr val="000000"/>
              </a:solidFill>
              <a:latin typeface="Arial"/>
            </a:endParaRPr>
          </a:p>
        </p:txBody>
      </p:sp>
      <p:sp>
        <p:nvSpPr>
          <p:cNvPr id="145" name="Text 13"/>
          <p:cNvSpPr/>
          <p:nvPr/>
        </p:nvSpPr>
        <p:spPr>
          <a:xfrm>
            <a:off x="7388280" y="2094120"/>
            <a:ext cx="408708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With time-series data, it is trivially easy to let the future leak into the past and fool yourself.</a:t>
            </a:r>
            <a:endParaRPr lang="en-US" sz="1200" b="0" strike="noStrike" spc="-1">
              <a:solidFill>
                <a:srgbClr val="000000"/>
              </a:solidFill>
              <a:latin typeface="Arial"/>
            </a:endParaRPr>
          </a:p>
        </p:txBody>
      </p:sp>
      <p:sp>
        <p:nvSpPr>
          <p:cNvPr id="146" name="Shape 14"/>
          <p:cNvSpPr/>
          <p:nvPr/>
        </p:nvSpPr>
        <p:spPr>
          <a:xfrm>
            <a:off x="6766560" y="4023360"/>
            <a:ext cx="4873320" cy="2148480"/>
          </a:xfrm>
          <a:prstGeom prst="roundRect">
            <a:avLst>
              <a:gd name="adj" fmla="val 3404"/>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7" name="Shape 15"/>
          <p:cNvSpPr/>
          <p:nvPr/>
        </p:nvSpPr>
        <p:spPr>
          <a:xfrm>
            <a:off x="6949440" y="4951440"/>
            <a:ext cx="292320" cy="2923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8" name="Text 16"/>
          <p:cNvSpPr/>
          <p:nvPr/>
        </p:nvSpPr>
        <p:spPr>
          <a:xfrm>
            <a:off x="7388280" y="413316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4 · Physics is strong</a:t>
            </a:r>
            <a:endParaRPr lang="en-US" sz="1450" b="0" strike="noStrike" spc="-1">
              <a:solidFill>
                <a:srgbClr val="000000"/>
              </a:solidFill>
              <a:latin typeface="Arial"/>
            </a:endParaRPr>
          </a:p>
        </p:txBody>
      </p:sp>
      <p:sp>
        <p:nvSpPr>
          <p:cNvPr id="149" name="Text 17"/>
          <p:cNvSpPr/>
          <p:nvPr/>
        </p:nvSpPr>
        <p:spPr>
          <a:xfrm>
            <a:off x="7388280" y="4425840"/>
            <a:ext cx="408708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A 5-parameter statistical model of aftershocks is shockingly hard to beat. You must know it exists.</a:t>
            </a:r>
            <a:endParaRPr lang="en-US" sz="1200" b="0" strike="noStrike" spc="-1">
              <a:solidFill>
                <a:srgbClr val="000000"/>
              </a:solidFill>
              <a:latin typeface="Arial"/>
            </a:endParaRPr>
          </a:p>
        </p:txBody>
      </p:sp>
      <p:sp>
        <p:nvSpPr>
          <p:cNvPr id="150" name="Text 18"/>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1 · The Problem</a:t>
            </a:r>
            <a:endParaRPr lang="en-US" sz="1000" b="0" strike="noStrike" spc="-1">
              <a:solidFill>
                <a:srgbClr val="000000"/>
              </a:solidFill>
              <a:latin typeface="Arial"/>
            </a:endParaRPr>
          </a:p>
        </p:txBody>
      </p:sp>
      <p:sp>
        <p:nvSpPr>
          <p:cNvPr id="151" name="Text 19"/>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52" name="Text 20"/>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6</a:t>
            </a:r>
            <a:endParaRPr lang="en-US" sz="10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53"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THE TARGET, VISUALIZED</a:t>
            </a:r>
            <a:endParaRPr lang="en-US" sz="1300" b="0" strike="noStrike" spc="-1">
              <a:solidFill>
                <a:srgbClr val="000000"/>
              </a:solidFill>
              <a:latin typeface="Arial"/>
            </a:endParaRPr>
          </a:p>
        </p:txBody>
      </p:sp>
      <p:sp>
        <p:nvSpPr>
          <p:cNvPr id="154"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Most cells are almost never active</a:t>
            </a:r>
            <a:endParaRPr lang="en-US" sz="3000" b="0" strike="noStrike" spc="-1">
              <a:solidFill>
                <a:srgbClr val="000000"/>
              </a:solidFill>
              <a:latin typeface="Arial"/>
            </a:endParaRPr>
          </a:p>
        </p:txBody>
      </p:sp>
      <p:pic>
        <p:nvPicPr>
          <p:cNvPr id="155" name="Image 0" descr="figs/full_10.png"/>
          <p:cNvPicPr/>
          <p:nvPr/>
        </p:nvPicPr>
        <p:blipFill>
          <a:blip r:embed="rId3"/>
          <a:stretch/>
        </p:blipFill>
        <p:spPr>
          <a:xfrm>
            <a:off x="548640" y="1843560"/>
            <a:ext cx="11063880" cy="3262320"/>
          </a:xfrm>
          <a:prstGeom prst="rect">
            <a:avLst/>
          </a:prstGeom>
          <a:ln w="0">
            <a:noFill/>
          </a:ln>
        </p:spPr>
      </p:pic>
      <p:sp>
        <p:nvSpPr>
          <p:cNvPr id="156"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Class balance across the modelling sets. The positive class (a qualifying earthquake occurs) is rare and roughly stationary across train / calibration / test.</a:t>
            </a:r>
            <a:endParaRPr lang="en-US" sz="1100" b="0" strike="noStrike" spc="-1">
              <a:solidFill>
                <a:srgbClr val="000000"/>
              </a:solidFill>
              <a:latin typeface="Arial"/>
            </a:endParaRPr>
          </a:p>
        </p:txBody>
      </p:sp>
      <p:sp>
        <p:nvSpPr>
          <p:cNvPr id="157"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8"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9"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dirty="0">
                <a:solidFill>
                  <a:srgbClr val="8E2A20"/>
                </a:solidFill>
                <a:latin typeface="Calibri"/>
                <a:ea typeface="Calibri"/>
              </a:rPr>
              <a:t>Takeaway: </a:t>
            </a:r>
            <a:r>
              <a:rPr lang="en-US" sz="1350" b="0" strike="noStrike" spc="-1" dirty="0">
                <a:solidFill>
                  <a:srgbClr val="16202B"/>
                </a:solidFill>
                <a:latin typeface="Calibri"/>
                <a:ea typeface="Calibri"/>
              </a:rPr>
              <a:t>Because positives are rare, accuracy is a trap. The whole game is assigning well-calibrated probabilities to rare events — and proving you did.</a:t>
            </a:r>
            <a:endParaRPr lang="en-US" sz="1350" b="0" strike="noStrike" spc="-1" dirty="0">
              <a:solidFill>
                <a:srgbClr val="000000"/>
              </a:solidFill>
              <a:latin typeface="Arial"/>
            </a:endParaRPr>
          </a:p>
        </p:txBody>
      </p:sp>
      <p:sp>
        <p:nvSpPr>
          <p:cNvPr id="160"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1 · The Problem</a:t>
            </a:r>
            <a:endParaRPr lang="en-US" sz="1000" b="0" strike="noStrike" spc="-1">
              <a:solidFill>
                <a:srgbClr val="000000"/>
              </a:solidFill>
              <a:latin typeface="Arial"/>
            </a:endParaRPr>
          </a:p>
        </p:txBody>
      </p:sp>
      <p:sp>
        <p:nvSpPr>
          <p:cNvPr id="161"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62"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7</a:t>
            </a:r>
            <a:endParaRPr lang="en-US" sz="10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63"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HOW WE SCORE</a:t>
            </a:r>
            <a:endParaRPr lang="en-US" sz="1300" b="0" strike="noStrike" spc="-1">
              <a:solidFill>
                <a:srgbClr val="000000"/>
              </a:solidFill>
              <a:latin typeface="Arial"/>
            </a:endParaRPr>
          </a:p>
        </p:txBody>
      </p:sp>
      <p:sp>
        <p:nvSpPr>
          <p:cNvPr id="164"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Information gain, not accuracy</a:t>
            </a:r>
            <a:endParaRPr lang="en-US" sz="3000" b="0" strike="noStrike" spc="-1">
              <a:solidFill>
                <a:srgbClr val="000000"/>
              </a:solidFill>
              <a:latin typeface="Arial"/>
            </a:endParaRPr>
          </a:p>
        </p:txBody>
      </p:sp>
      <p:sp>
        <p:nvSpPr>
          <p:cNvPr id="165"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We score every forecast by how much it beats two references, in bits per prediction:</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Information Gain (IG) = (log-loss of the reference) − (log-loss of your forecast). Positive means you carry real information beyond the reference.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1F6FB2"/>
                </a:solidFill>
                <a:latin typeface="Calibri"/>
                <a:ea typeface="Calibri"/>
              </a:rPr>
              <a:t>Reference 1 — Climatology:</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the historical base rate. Beating it means you know where and when, not just how often.</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2E7D53"/>
                </a:solidFill>
                <a:latin typeface="Calibri"/>
                <a:ea typeface="Calibri"/>
              </a:rPr>
              <a:t>Reference 2 — ETAS:</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a fitted physics model of earthquake triggering. Beating it means your ML added something physics didn't already know.</a:t>
            </a:r>
            <a:endParaRPr lang="en-US" sz="1500" b="0" strike="noStrike" spc="-1">
              <a:solidFill>
                <a:srgbClr val="000000"/>
              </a:solidFill>
              <a:latin typeface="Arial"/>
            </a:endParaRPr>
          </a:p>
        </p:txBody>
      </p:sp>
      <p:sp>
        <p:nvSpPr>
          <p:cNvPr id="166" name="Shape 3"/>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7" name="Shape 4"/>
          <p:cNvSpPr/>
          <p:nvPr/>
        </p:nvSpPr>
        <p:spPr>
          <a:xfrm>
            <a:off x="6949440" y="223128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68"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IG vs climatology</a:t>
            </a:r>
            <a:endParaRPr lang="en-US" sz="1450" b="0" strike="noStrike" spc="-1">
              <a:solidFill>
                <a:srgbClr val="000000"/>
              </a:solidFill>
              <a:latin typeface="Arial"/>
            </a:endParaRPr>
          </a:p>
        </p:txBody>
      </p:sp>
      <p:sp>
        <p:nvSpPr>
          <p:cNvPr id="169" name="Text 6"/>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The headline skill number. The reference reaches +0.136 bits on the blind window.</a:t>
            </a:r>
            <a:endParaRPr lang="en-US" sz="1200" b="0" strike="noStrike" spc="-1">
              <a:solidFill>
                <a:srgbClr val="000000"/>
              </a:solidFill>
              <a:latin typeface="Arial"/>
            </a:endParaRPr>
          </a:p>
        </p:txBody>
      </p:sp>
      <p:sp>
        <p:nvSpPr>
          <p:cNvPr id="170" name="Shape 7"/>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1" name="Shape 8"/>
          <p:cNvSpPr/>
          <p:nvPr/>
        </p:nvSpPr>
        <p:spPr>
          <a:xfrm>
            <a:off x="6949440" y="378576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72" name="Text 9"/>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IG vs ETAS</a:t>
            </a:r>
            <a:endParaRPr lang="en-US" sz="1450" b="0" strike="noStrike" spc="-1">
              <a:solidFill>
                <a:srgbClr val="000000"/>
              </a:solidFill>
              <a:latin typeface="Arial"/>
            </a:endParaRPr>
          </a:p>
        </p:txBody>
      </p:sp>
      <p:sp>
        <p:nvSpPr>
          <p:cNvPr id="173" name="Text 10"/>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The hard bar. The reference clears it by only +0.002 bits — statistical parity.</a:t>
            </a:r>
            <a:endParaRPr lang="en-US" sz="1200" b="0" strike="noStrike" spc="-1">
              <a:solidFill>
                <a:srgbClr val="000000"/>
              </a:solidFill>
              <a:latin typeface="Arial"/>
            </a:endParaRPr>
          </a:p>
        </p:txBody>
      </p:sp>
      <p:sp>
        <p:nvSpPr>
          <p:cNvPr id="174" name="Shape 11"/>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5" name="Shape 12"/>
          <p:cNvSpPr/>
          <p:nvPr/>
        </p:nvSpPr>
        <p:spPr>
          <a:xfrm>
            <a:off x="6949440" y="5340240"/>
            <a:ext cx="292320" cy="2923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76" name="Text 13"/>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Calibration (ECE)</a:t>
            </a:r>
            <a:endParaRPr lang="en-US" sz="1450" b="0" strike="noStrike" spc="-1">
              <a:solidFill>
                <a:srgbClr val="000000"/>
              </a:solidFill>
              <a:latin typeface="Arial"/>
            </a:endParaRPr>
          </a:p>
        </p:txBody>
      </p:sp>
      <p:sp>
        <p:nvSpPr>
          <p:cNvPr id="177" name="Text 14"/>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Are your stated probabilities honest? Expected Calibration Error must be &lt; 0.02.</a:t>
            </a:r>
            <a:endParaRPr lang="en-US" sz="1200" b="0" strike="noStrike" spc="-1">
              <a:solidFill>
                <a:srgbClr val="000000"/>
              </a:solidFill>
              <a:latin typeface="Arial"/>
            </a:endParaRPr>
          </a:p>
        </p:txBody>
      </p:sp>
      <p:sp>
        <p:nvSpPr>
          <p:cNvPr id="178" name="Text 1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1 · The Problem</a:t>
            </a:r>
            <a:endParaRPr lang="en-US" sz="1000" b="0" strike="noStrike" spc="-1">
              <a:solidFill>
                <a:srgbClr val="000000"/>
              </a:solidFill>
              <a:latin typeface="Arial"/>
            </a:endParaRPr>
          </a:p>
        </p:txBody>
      </p:sp>
      <p:sp>
        <p:nvSpPr>
          <p:cNvPr id="179" name="Text 1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80" name="Text 1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8</a:t>
            </a:r>
            <a:endParaRPr lang="en-US" sz="10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181" name="Shape 0"/>
          <p:cNvSpPr/>
          <p:nvPr/>
        </p:nvSpPr>
        <p:spPr>
          <a:xfrm>
            <a:off x="640080" y="640080"/>
            <a:ext cx="639720" cy="6397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2" name="Text 1"/>
          <p:cNvSpPr/>
          <p:nvPr/>
        </p:nvSpPr>
        <p:spPr>
          <a:xfrm>
            <a:off x="640080" y="621720"/>
            <a:ext cx="639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strike="noStrike" spc="-1">
                <a:solidFill>
                  <a:srgbClr val="FFFFFF"/>
                </a:solidFill>
                <a:latin typeface="Cambria"/>
                <a:ea typeface="Cambria"/>
              </a:rPr>
              <a:t>✓</a:t>
            </a:r>
            <a:endParaRPr lang="en-US" sz="3000" b="0" strike="noStrike" spc="-1">
              <a:solidFill>
                <a:srgbClr val="FFFFFF"/>
              </a:solidFill>
              <a:latin typeface="Arial"/>
            </a:endParaRPr>
          </a:p>
        </p:txBody>
      </p:sp>
      <p:sp>
        <p:nvSpPr>
          <p:cNvPr id="183" name="Text 2"/>
          <p:cNvSpPr/>
          <p:nvPr/>
        </p:nvSpPr>
        <p:spPr>
          <a:xfrm>
            <a:off x="1463040" y="658440"/>
            <a:ext cx="9143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99">
                <a:solidFill>
                  <a:srgbClr val="7B4EA8"/>
                </a:solidFill>
                <a:latin typeface="Calibri"/>
                <a:ea typeface="Calibri"/>
              </a:rPr>
              <a:t>HONESTY CHECKPOINT</a:t>
            </a:r>
            <a:endParaRPr lang="en-US" sz="1500" b="0" strike="noStrike" spc="-1">
              <a:solidFill>
                <a:srgbClr val="FFFFFF"/>
              </a:solidFill>
              <a:latin typeface="Arial"/>
            </a:endParaRPr>
          </a:p>
        </p:txBody>
      </p:sp>
      <p:sp>
        <p:nvSpPr>
          <p:cNvPr id="184" name="Text 3"/>
          <p:cNvSpPr/>
          <p:nvPr/>
        </p:nvSpPr>
        <p:spPr>
          <a:xfrm>
            <a:off x="1463040" y="969120"/>
            <a:ext cx="10058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2700" b="1" strike="noStrike" spc="-1">
                <a:solidFill>
                  <a:srgbClr val="FFFFFF"/>
                </a:solidFill>
                <a:latin typeface="Cambria"/>
                <a:ea typeface="Cambria"/>
              </a:rPr>
              <a:t>A high AUC can be a failing answer</a:t>
            </a:r>
            <a:endParaRPr lang="en-US" sz="2700" b="0" strike="noStrike" spc="-1">
              <a:solidFill>
                <a:srgbClr val="FFFFFF"/>
              </a:solidFill>
              <a:latin typeface="Arial"/>
            </a:endParaRPr>
          </a:p>
        </p:txBody>
      </p:sp>
      <p:sp>
        <p:nvSpPr>
          <p:cNvPr id="185" name="Text 4"/>
          <p:cNvSpPr/>
          <p:nvPr/>
        </p:nvSpPr>
        <p:spPr>
          <a:xfrm>
            <a:off x="1463040" y="2103120"/>
            <a:ext cx="996660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spcAft>
                <a:spcPts val="1199"/>
              </a:spcAft>
              <a:tabLst>
                <a:tab pos="0" algn="l"/>
              </a:tabLst>
            </a:pPr>
            <a:r>
              <a:rPr lang="en-US" sz="1600" b="0" strike="noStrike" spc="-1">
                <a:solidFill>
                  <a:srgbClr val="E4E9EE"/>
                </a:solidFill>
                <a:latin typeface="Calibri"/>
                <a:ea typeface="Calibri"/>
              </a:rPr>
              <a:t>Because earthquakes cluster in the same few zones year after year, almost any model that learns 'where' gets an ROC-AUC around 0.85. That number feels impressive and means almost nothing here.</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1" strike="noStrike" spc="-1">
                <a:solidFill>
                  <a:srgbClr val="E9DDF5"/>
                </a:solidFill>
                <a:latin typeface="Calibri"/>
                <a:ea typeface="Calibri"/>
              </a:rPr>
              <a:t>AUC measures ranking. It does not measure whether your probabilities are true.</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A model can rank cells perfectly and still be badly overconfident — stating 0.9 where the truth is 0.3. That model has a great AUC and a terrible, useless forecast.</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So we treat AUC as a screening check, and judge on information gain with calibration.</a:t>
            </a:r>
            <a:endParaRPr lang="en-US" sz="1600" b="0" strike="noStrike" spc="-1">
              <a:solidFill>
                <a:srgbClr val="FFFFFF"/>
              </a:solidFill>
              <a:latin typeface="Arial"/>
            </a:endParaRPr>
          </a:p>
        </p:txBody>
      </p:sp>
      <p:sp>
        <p:nvSpPr>
          <p:cNvPr id="186" name="Shape 5"/>
          <p:cNvSpPr/>
          <p:nvPr/>
        </p:nvSpPr>
        <p:spPr>
          <a:xfrm>
            <a:off x="1463040" y="5029200"/>
            <a:ext cx="9966600" cy="1096920"/>
          </a:xfrm>
          <a:prstGeom prst="roundRect">
            <a:avLst>
              <a:gd name="adj" fmla="val 5000"/>
            </a:avLst>
          </a:prstGeom>
          <a:solidFill>
            <a:srgbClr val="241A30"/>
          </a:solidFill>
          <a:ln w="12700">
            <a:solidFill>
              <a:srgbClr val="7B4E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7" name="Text 6"/>
          <p:cNvSpPr/>
          <p:nvPr/>
        </p:nvSpPr>
        <p:spPr>
          <a:xfrm>
            <a:off x="1737360" y="5139000"/>
            <a:ext cx="9417960" cy="87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a:solidFill>
                  <a:srgbClr val="D9C9EC"/>
                </a:solidFill>
                <a:latin typeface="Cambria"/>
                <a:ea typeface="Cambria"/>
              </a:rPr>
              <a:t>“The spatial prior gives ~0.85 AUC to almost any model that finds the active zones. AUC is a screening check, not the prize.”</a:t>
            </a:r>
            <a:endParaRPr lang="en-US" sz="1600" b="0" strike="noStrike" spc="-1">
              <a:solidFill>
                <a:srgbClr val="FFFFFF"/>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88" name="Shape 0"/>
          <p:cNvSpPr/>
          <p:nvPr/>
        </p:nvSpPr>
        <p:spPr>
          <a:xfrm>
            <a:off x="548640" y="457200"/>
            <a:ext cx="11091240" cy="822600"/>
          </a:xfrm>
          <a:prstGeom prst="roundRect">
            <a:avLst>
              <a:gd name="adj" fmla="val 6667"/>
            </a:avLst>
          </a:prstGeom>
          <a:solidFill>
            <a:srgbClr val="2A201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9" name="Text 1"/>
          <p:cNvSpPr/>
          <p:nvPr/>
        </p:nvSpPr>
        <p:spPr>
          <a:xfrm>
            <a:off x="822960" y="53028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TRY IT YOURSELF · 1.1</a:t>
            </a:r>
            <a:endParaRPr lang="en-US" sz="1300" b="0" strike="noStrike" spc="-1">
              <a:solidFill>
                <a:srgbClr val="000000"/>
              </a:solidFill>
              <a:latin typeface="Arial"/>
            </a:endParaRPr>
          </a:p>
        </p:txBody>
      </p:sp>
      <p:sp>
        <p:nvSpPr>
          <p:cNvPr id="190" name="Text 2"/>
          <p:cNvSpPr/>
          <p:nvPr/>
        </p:nvSpPr>
        <p:spPr>
          <a:xfrm>
            <a:off x="822960" y="786240"/>
            <a:ext cx="104238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Before you model: think about the target</a:t>
            </a:r>
            <a:endParaRPr lang="en-US" sz="2200" b="0" strike="noStrike" spc="-1">
              <a:solidFill>
                <a:srgbClr val="000000"/>
              </a:solidFill>
              <a:latin typeface="Arial"/>
            </a:endParaRPr>
          </a:p>
        </p:txBody>
      </p:sp>
      <p:sp>
        <p:nvSpPr>
          <p:cNvPr id="191" name="Shape 3"/>
          <p:cNvSpPr/>
          <p:nvPr/>
        </p:nvSpPr>
        <p:spPr>
          <a:xfrm>
            <a:off x="548640" y="1508760"/>
            <a:ext cx="11091240" cy="2742840"/>
          </a:xfrm>
          <a:prstGeom prst="roundRect">
            <a:avLst>
              <a:gd name="adj" fmla="val 2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2" name="Text 4"/>
          <p:cNvSpPr/>
          <p:nvPr/>
        </p:nvSpPr>
        <p:spPr>
          <a:xfrm>
            <a:off x="822960" y="16642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0392B"/>
                </a:solidFill>
                <a:latin typeface="Calibri"/>
                <a:ea typeface="Calibri"/>
              </a:rPr>
              <a:t>The task</a:t>
            </a:r>
            <a:endParaRPr lang="en-US" sz="1300" b="0" strike="noStrike" spc="-1">
              <a:solidFill>
                <a:srgbClr val="000000"/>
              </a:solidFill>
              <a:latin typeface="Arial"/>
            </a:endParaRPr>
          </a:p>
        </p:txBody>
      </p:sp>
      <p:sp>
        <p:nvSpPr>
          <p:cNvPr id="193" name="Text 5"/>
          <p:cNvSpPr/>
          <p:nvPr/>
        </p:nvSpPr>
        <p:spPr>
          <a:xfrm>
            <a:off x="868680" y="1974960"/>
            <a:ext cx="10423800" cy="214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Write down, in one sentence each, why each of these naive approaches fails: (a) predicting the single most likely magnitude per cell; (b) predicting yes/no with a 0.5 threshold; (c) reporting accuracy as your headline metric.</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A colleague proposes: 'I'll get 91% accuracy by always predicting no earthquake.' Compute their information gain versus climatology. What does the number tell you?</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If positives are 9.5% of cell-windows, what is the Shannon entropy of the target (in bits)? This is the ceiling an oracle could achieve.</a:t>
            </a:r>
            <a:endParaRPr lang="en-US" sz="1450" b="0" strike="noStrike" spc="-1">
              <a:solidFill>
                <a:srgbClr val="000000"/>
              </a:solidFill>
              <a:latin typeface="Arial"/>
            </a:endParaRPr>
          </a:p>
        </p:txBody>
      </p:sp>
      <p:sp>
        <p:nvSpPr>
          <p:cNvPr id="194" name="Shape 6"/>
          <p:cNvSpPr/>
          <p:nvPr/>
        </p:nvSpPr>
        <p:spPr>
          <a:xfrm>
            <a:off x="548640" y="4434840"/>
            <a:ext cx="11091240" cy="1599840"/>
          </a:xfrm>
          <a:prstGeom prst="roundRect">
            <a:avLst>
              <a:gd name="adj" fmla="val 4571"/>
            </a:avLst>
          </a:prstGeom>
          <a:solidFill>
            <a:srgbClr val="F0EEE8"/>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5" name="Text 7"/>
          <p:cNvSpPr/>
          <p:nvPr/>
        </p:nvSpPr>
        <p:spPr>
          <a:xfrm>
            <a:off x="822960" y="457200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5B6B7A"/>
                </a:solidFill>
                <a:latin typeface="Calibri"/>
                <a:ea typeface="Calibri"/>
              </a:rPr>
              <a:t>Hints</a:t>
            </a:r>
            <a:endParaRPr lang="en-US" sz="1300" b="0" strike="noStrike" spc="-1">
              <a:solidFill>
                <a:srgbClr val="000000"/>
              </a:solidFill>
              <a:latin typeface="Arial"/>
            </a:endParaRPr>
          </a:p>
        </p:txBody>
      </p:sp>
      <p:sp>
        <p:nvSpPr>
          <p:cNvPr id="196" name="Text 8"/>
          <p:cNvSpPr/>
          <p:nvPr/>
        </p:nvSpPr>
        <p:spPr>
          <a:xfrm>
            <a:off x="868680" y="4864680"/>
            <a:ext cx="104238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IG versus climatology compares your log-loss to climatology's log-loss. If you *are* climatology, what is the difference?</a:t>
            </a:r>
            <a:endParaRPr lang="en-US" sz="1300" b="0" strike="noStrike" spc="-1">
              <a:solidFill>
                <a:srgbClr val="000000"/>
              </a:solidFill>
              <a:latin typeface="Arial"/>
            </a:endParaRPr>
          </a:p>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Entropy of a Bernoulli(p): −p·log₂p − (1−p)·log₂(1−p).</a:t>
            </a:r>
            <a:endParaRPr lang="en-US" sz="1300" b="0" strike="noStrike" spc="-1">
              <a:solidFill>
                <a:srgbClr val="000000"/>
              </a:solidFill>
              <a:latin typeface="Arial"/>
            </a:endParaRPr>
          </a:p>
        </p:txBody>
      </p:sp>
      <p:sp>
        <p:nvSpPr>
          <p:cNvPr id="197" name="Text 9"/>
          <p:cNvSpPr/>
          <p:nvPr/>
        </p:nvSpPr>
        <p:spPr>
          <a:xfrm>
            <a:off x="548640" y="614484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strike="noStrike" spc="-1">
                <a:solidFill>
                  <a:srgbClr val="5B6B7A"/>
                </a:solidFill>
                <a:latin typeface="Calibri"/>
                <a:ea typeface="Calibri"/>
              </a:rPr>
              <a:t>Work this before turning the page. The answer key is at the end of the module.</a:t>
            </a:r>
            <a:endParaRPr lang="en-US" sz="1150" b="0" strike="noStrike" spc="-1">
              <a:solidFill>
                <a:srgbClr val="000000"/>
              </a:solidFill>
              <a:latin typeface="Arial"/>
            </a:endParaRPr>
          </a:p>
        </p:txBody>
      </p:sp>
      <p:sp>
        <p:nvSpPr>
          <p:cNvPr id="198" name="Text 10"/>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1 · The Problem</a:t>
            </a:r>
            <a:endParaRPr lang="en-US" sz="1000" b="0" strike="noStrike" spc="-1">
              <a:solidFill>
                <a:srgbClr val="000000"/>
              </a:solidFill>
              <a:latin typeface="Arial"/>
            </a:endParaRPr>
          </a:p>
        </p:txBody>
      </p:sp>
      <p:sp>
        <p:nvSpPr>
          <p:cNvPr id="199" name="Text 11"/>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200" name="Text 12"/>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10</a:t>
            </a:r>
            <a:endParaRPr lang="en-US" sz="10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01" name="Shape 0"/>
          <p:cNvSpPr/>
          <p:nvPr/>
        </p:nvSpPr>
        <p:spPr>
          <a:xfrm>
            <a:off x="548640" y="457200"/>
            <a:ext cx="11091240" cy="785880"/>
          </a:xfrm>
          <a:prstGeom prst="roundRect">
            <a:avLst>
              <a:gd name="adj" fmla="val 6977"/>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02" name="Text 1"/>
          <p:cNvSpPr/>
          <p:nvPr/>
        </p:nvSpPr>
        <p:spPr>
          <a:xfrm>
            <a:off x="822960" y="530280"/>
            <a:ext cx="10058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FF3E7"/>
                </a:solidFill>
                <a:latin typeface="Calibri"/>
                <a:ea typeface="Calibri"/>
              </a:rPr>
              <a:t>ANSWER KEY · MODULE 1</a:t>
            </a:r>
            <a:endParaRPr lang="en-US" sz="1300" b="0" strike="noStrike" spc="-1">
              <a:solidFill>
                <a:srgbClr val="000000"/>
              </a:solidFill>
              <a:latin typeface="Arial"/>
            </a:endParaRPr>
          </a:p>
        </p:txBody>
      </p:sp>
      <p:sp>
        <p:nvSpPr>
          <p:cNvPr id="203" name="Text 2"/>
          <p:cNvSpPr/>
          <p:nvPr/>
        </p:nvSpPr>
        <p:spPr>
          <a:xfrm>
            <a:off x="822960" y="786240"/>
            <a:ext cx="100580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Check your work</a:t>
            </a:r>
            <a:endParaRPr lang="en-US" sz="2200" b="0" strike="noStrike" spc="-1">
              <a:solidFill>
                <a:srgbClr val="000000"/>
              </a:solidFill>
              <a:latin typeface="Arial"/>
            </a:endParaRPr>
          </a:p>
        </p:txBody>
      </p:sp>
      <p:sp>
        <p:nvSpPr>
          <p:cNvPr id="204" name="Shape 3"/>
          <p:cNvSpPr/>
          <p:nvPr/>
        </p:nvSpPr>
        <p:spPr>
          <a:xfrm>
            <a:off x="548640" y="1481400"/>
            <a:ext cx="1109124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5" name="Text 4"/>
          <p:cNvSpPr/>
          <p:nvPr/>
        </p:nvSpPr>
        <p:spPr>
          <a:xfrm>
            <a:off x="822960" y="1591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1.1(a–c) — why the naive approaches fail</a:t>
            </a:r>
            <a:endParaRPr lang="en-US" sz="1400" b="0" strike="noStrike" spc="-1">
              <a:solidFill>
                <a:srgbClr val="000000"/>
              </a:solidFill>
              <a:latin typeface="Arial"/>
            </a:endParaRPr>
          </a:p>
        </p:txBody>
      </p:sp>
      <p:sp>
        <p:nvSpPr>
          <p:cNvPr id="206" name="Text 5"/>
          <p:cNvSpPr/>
          <p:nvPr/>
        </p:nvSpPr>
        <p:spPr>
          <a:xfrm>
            <a:off x="868680" y="1901880"/>
            <a:ext cx="105152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(a) A single magnitude throws away the whole probability distribution; the target is P(any M≥2), not a point magnitude.</a:t>
            </a:r>
            <a:endParaRPr lang="en-US" sz="1280" b="0" strike="noStrike" spc="-1">
              <a:solidFill>
                <a:srgbClr val="000000"/>
              </a:solidFill>
              <a:latin typeface="Arial"/>
            </a:endParaRPr>
          </a:p>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(b) A 0.5 threshold on a 9.5% base rate predicts 'no' everywhere — zero recall, useless forecast.</a:t>
            </a:r>
            <a:endParaRPr lang="en-US" sz="1280" b="0" strike="noStrike" spc="-1">
              <a:solidFill>
                <a:srgbClr val="000000"/>
              </a:solidFill>
              <a:latin typeface="Arial"/>
            </a:endParaRPr>
          </a:p>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(c) Accuracy rewards predicting the majority class; 90.5% accuracy is achievable with zero skill.</a:t>
            </a:r>
            <a:endParaRPr lang="en-US" sz="1280" b="0" strike="noStrike" spc="-1">
              <a:solidFill>
                <a:srgbClr val="000000"/>
              </a:solidFill>
              <a:latin typeface="Arial"/>
            </a:endParaRPr>
          </a:p>
        </p:txBody>
      </p:sp>
      <p:sp>
        <p:nvSpPr>
          <p:cNvPr id="207" name="Shape 6"/>
          <p:cNvSpPr/>
          <p:nvPr/>
        </p:nvSpPr>
        <p:spPr>
          <a:xfrm>
            <a:off x="548640" y="2962800"/>
            <a:ext cx="11091240" cy="914040"/>
          </a:xfrm>
          <a:prstGeom prst="roundRect">
            <a:avLst>
              <a:gd name="adj" fmla="val 8000"/>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8" name="Text 7"/>
          <p:cNvSpPr/>
          <p:nvPr/>
        </p:nvSpPr>
        <p:spPr>
          <a:xfrm>
            <a:off x="822960" y="307224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1.1 — information gain of 'always predict no'</a:t>
            </a:r>
            <a:endParaRPr lang="en-US" sz="1400" b="0" strike="noStrike" spc="-1">
              <a:solidFill>
                <a:srgbClr val="000000"/>
              </a:solidFill>
              <a:latin typeface="Arial"/>
            </a:endParaRPr>
          </a:p>
        </p:txBody>
      </p:sp>
      <p:sp>
        <p:nvSpPr>
          <p:cNvPr id="209" name="Text 8"/>
          <p:cNvSpPr/>
          <p:nvPr/>
        </p:nvSpPr>
        <p:spPr>
          <a:xfrm>
            <a:off x="868680" y="338328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Predicting a constant 0 (clipped) or the base rate is exactly climatology, so its IG vs climatology is 0.000 bits. High accuracy, zero information. That is the entire point of scoring on IG.</a:t>
            </a:r>
            <a:endParaRPr lang="en-US" sz="1280" b="0" strike="noStrike" spc="-1">
              <a:solidFill>
                <a:srgbClr val="000000"/>
              </a:solidFill>
              <a:latin typeface="Arial"/>
            </a:endParaRPr>
          </a:p>
        </p:txBody>
      </p:sp>
      <p:sp>
        <p:nvSpPr>
          <p:cNvPr id="210" name="Shape 9"/>
          <p:cNvSpPr/>
          <p:nvPr/>
        </p:nvSpPr>
        <p:spPr>
          <a:xfrm>
            <a:off x="548640" y="3986640"/>
            <a:ext cx="11091240" cy="1051200"/>
          </a:xfrm>
          <a:prstGeom prst="roundRect">
            <a:avLst>
              <a:gd name="adj" fmla="val 695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1" name="Text 10"/>
          <p:cNvSpPr/>
          <p:nvPr/>
        </p:nvSpPr>
        <p:spPr>
          <a:xfrm>
            <a:off x="822960" y="409644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1.1 — entropy ceiling</a:t>
            </a:r>
            <a:endParaRPr lang="en-US" sz="1400" b="0" strike="noStrike" spc="-1">
              <a:solidFill>
                <a:srgbClr val="000000"/>
              </a:solidFill>
              <a:latin typeface="Arial"/>
            </a:endParaRPr>
          </a:p>
        </p:txBody>
      </p:sp>
      <p:sp>
        <p:nvSpPr>
          <p:cNvPr id="212" name="Text 11"/>
          <p:cNvSpPr/>
          <p:nvPr/>
        </p:nvSpPr>
        <p:spPr>
          <a:xfrm>
            <a:off x="868680" y="4407480"/>
            <a:ext cx="1051524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H = −0.095·log₂(0.095) − 0.905·log₂(0.905) ≈ 0.453 bits. No forecaster, however good, can exceed ~0.45 bits of information gain on this target. The reference achieves ~0.136 — about 30% of the ceiling.</a:t>
            </a:r>
            <a:endParaRPr lang="en-US" sz="1280" b="0" strike="noStrike" spc="-1">
              <a:solidFill>
                <a:srgbClr val="000000"/>
              </a:solidFill>
              <a:latin typeface="Arial"/>
            </a:endParaRPr>
          </a:p>
        </p:txBody>
      </p:sp>
      <p:sp>
        <p:nvSpPr>
          <p:cNvPr id="213" name="Text 1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1 · The Problem</a:t>
            </a:r>
            <a:endParaRPr lang="en-US" sz="1000" b="0" strike="noStrike" spc="-1">
              <a:solidFill>
                <a:srgbClr val="000000"/>
              </a:solidFill>
              <a:latin typeface="Arial"/>
            </a:endParaRPr>
          </a:p>
        </p:txBody>
      </p:sp>
      <p:sp>
        <p:nvSpPr>
          <p:cNvPr id="214" name="Text 1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215" name="Text 1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11</a:t>
            </a:r>
            <a:endParaRPr lang="en-US" sz="10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216" name="Shape 0"/>
          <p:cNvSpPr/>
          <p:nvPr/>
        </p:nvSpPr>
        <p:spPr>
          <a:xfrm>
            <a:off x="640080" y="1371600"/>
            <a:ext cx="1371240" cy="137124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17" name="Text 1"/>
          <p:cNvSpPr/>
          <p:nvPr/>
        </p:nvSpPr>
        <p:spPr>
          <a:xfrm>
            <a:off x="640080" y="137160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6200" b="1" strike="noStrike" spc="-1">
                <a:solidFill>
                  <a:srgbClr val="FFFFFF"/>
                </a:solidFill>
                <a:latin typeface="Cambria"/>
                <a:ea typeface="Cambria"/>
              </a:rPr>
              <a:t>2</a:t>
            </a:r>
            <a:endParaRPr lang="en-US" sz="6200" b="0" strike="noStrike" spc="-1">
              <a:solidFill>
                <a:srgbClr val="FFFFFF"/>
              </a:solidFill>
              <a:latin typeface="Arial"/>
            </a:endParaRPr>
          </a:p>
        </p:txBody>
      </p:sp>
      <p:sp>
        <p:nvSpPr>
          <p:cNvPr id="218" name="Text 2"/>
          <p:cNvSpPr/>
          <p:nvPr/>
        </p:nvSpPr>
        <p:spPr>
          <a:xfrm>
            <a:off x="2331720" y="14814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299">
                <a:solidFill>
                  <a:srgbClr val="D98C1F"/>
                </a:solidFill>
                <a:latin typeface="Calibri"/>
                <a:ea typeface="Calibri"/>
              </a:rPr>
              <a:t>MODULE 2</a:t>
            </a:r>
            <a:endParaRPr lang="en-US" sz="1500" b="0" strike="noStrike" spc="-1">
              <a:solidFill>
                <a:srgbClr val="FFFFFF"/>
              </a:solidFill>
              <a:latin typeface="Arial"/>
            </a:endParaRPr>
          </a:p>
        </p:txBody>
      </p:sp>
      <p:sp>
        <p:nvSpPr>
          <p:cNvPr id="219" name="Text 3"/>
          <p:cNvSpPr/>
          <p:nvPr/>
        </p:nvSpPr>
        <p:spPr>
          <a:xfrm>
            <a:off x="2286000" y="1810440"/>
            <a:ext cx="932652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4000" b="1" strike="noStrike" spc="-1">
                <a:solidFill>
                  <a:srgbClr val="FFFFFF"/>
                </a:solidFill>
                <a:latin typeface="Cambria"/>
                <a:ea typeface="Cambria"/>
              </a:rPr>
              <a:t>The Raw Data</a:t>
            </a:r>
            <a:endParaRPr lang="en-US" sz="4000" b="0" strike="noStrike" spc="-1">
              <a:solidFill>
                <a:srgbClr val="FFFFFF"/>
              </a:solidFill>
              <a:latin typeface="Arial"/>
            </a:endParaRPr>
          </a:p>
        </p:txBody>
      </p:sp>
      <p:sp>
        <p:nvSpPr>
          <p:cNvPr id="220" name="Text 4"/>
          <p:cNvSpPr/>
          <p:nvPr/>
        </p:nvSpPr>
        <p:spPr>
          <a:xfrm>
            <a:off x="2331720" y="2743200"/>
            <a:ext cx="9052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strike="noStrike" spc="-1">
                <a:solidFill>
                  <a:srgbClr val="C7D0D9"/>
                </a:solidFill>
                <a:latin typeface="Calibri"/>
                <a:ea typeface="Calibri"/>
              </a:rPr>
              <a:t>Five live sources, delivered raw. You build everything else.</a:t>
            </a:r>
            <a:endParaRPr lang="en-US" sz="1700" b="0" strike="noStrike" spc="-1">
              <a:solidFill>
                <a:srgbClr val="FFFFFF"/>
              </a:solidFill>
              <a:latin typeface="Arial"/>
            </a:endParaRPr>
          </a:p>
        </p:txBody>
      </p:sp>
      <p:sp>
        <p:nvSpPr>
          <p:cNvPr id="221" name="Text 5"/>
          <p:cNvSpPr/>
          <p:nvPr/>
        </p:nvSpPr>
        <p:spPr>
          <a:xfrm>
            <a:off x="2331720" y="36118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8996A3"/>
                </a:solidFill>
                <a:latin typeface="Calibri"/>
                <a:ea typeface="Calibri"/>
              </a:rPr>
              <a:t>IN THIS MODULE</a:t>
            </a:r>
            <a:endParaRPr lang="en-US" sz="1200" b="0" strike="noStrike" spc="-1">
              <a:solidFill>
                <a:srgbClr val="FFFFFF"/>
              </a:solidFill>
              <a:latin typeface="Arial"/>
            </a:endParaRPr>
          </a:p>
        </p:txBody>
      </p:sp>
      <p:sp>
        <p:nvSpPr>
          <p:cNvPr id="222" name="Text 6"/>
          <p:cNvSpPr/>
          <p:nvPr/>
        </p:nvSpPr>
        <p:spPr>
          <a:xfrm>
            <a:off x="2331720" y="3931920"/>
            <a:ext cx="914364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The five geophysical data streams and where they come from</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Why we ship raw data and hold nothing back</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The train / test / judge split and the frozen cutoff</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Data leakage: the mistake that quietly wins, then loses</a:t>
            </a:r>
            <a:endParaRPr lang="en-US" sz="1450" b="0" strike="noStrike" spc="-1">
              <a:solidFill>
                <a:srgbClr val="FFFFFF"/>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23"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WHAT YOU GET</a:t>
            </a:r>
            <a:endParaRPr lang="en-US" sz="1300" b="0" strike="noStrike" spc="-1">
              <a:solidFill>
                <a:srgbClr val="000000"/>
              </a:solidFill>
              <a:latin typeface="Arial"/>
            </a:endParaRPr>
          </a:p>
        </p:txBody>
      </p:sp>
      <p:sp>
        <p:nvSpPr>
          <p:cNvPr id="224"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Five raw streams, three CSV files</a:t>
            </a:r>
            <a:endParaRPr lang="en-US" sz="3000" b="0" strike="noStrike" spc="-1">
              <a:solidFill>
                <a:srgbClr val="000000"/>
              </a:solidFill>
              <a:latin typeface="Arial"/>
            </a:endParaRPr>
          </a:p>
        </p:txBody>
      </p:sp>
      <p:sp>
        <p:nvSpPr>
          <p:cNvPr id="225" name="Shape 2"/>
          <p:cNvSpPr/>
          <p:nvPr/>
        </p:nvSpPr>
        <p:spPr>
          <a:xfrm>
            <a:off x="548640" y="1691640"/>
            <a:ext cx="585180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6" name="Shape 3"/>
          <p:cNvSpPr/>
          <p:nvPr/>
        </p:nvSpPr>
        <p:spPr>
          <a:xfrm>
            <a:off x="731520" y="223128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27" name="Text 4"/>
          <p:cNvSpPr/>
          <p:nvPr/>
        </p:nvSpPr>
        <p:spPr>
          <a:xfrm>
            <a:off x="1170360" y="1801440"/>
            <a:ext cx="5120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Seismic catalog (USGS)</a:t>
            </a:r>
            <a:endParaRPr lang="en-US" sz="1450" b="0" strike="noStrike" spc="-1">
              <a:solidFill>
                <a:srgbClr val="000000"/>
              </a:solidFill>
              <a:latin typeface="Arial"/>
            </a:endParaRPr>
          </a:p>
        </p:txBody>
      </p:sp>
      <p:sp>
        <p:nvSpPr>
          <p:cNvPr id="228" name="Text 5"/>
          <p:cNvSpPr/>
          <p:nvPr/>
        </p:nvSpPr>
        <p:spPr>
          <a:xfrm>
            <a:off x="1170360" y="2094120"/>
            <a:ext cx="5065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Every M≥1.0 event: time, lat, lon, depth, magnitude. The signal lives here.</a:t>
            </a:r>
            <a:endParaRPr lang="en-US" sz="1200" b="0" strike="noStrike" spc="-1">
              <a:solidFill>
                <a:srgbClr val="000000"/>
              </a:solidFill>
              <a:latin typeface="Arial"/>
            </a:endParaRPr>
          </a:p>
        </p:txBody>
      </p:sp>
      <p:sp>
        <p:nvSpPr>
          <p:cNvPr id="229" name="Shape 6"/>
          <p:cNvSpPr/>
          <p:nvPr/>
        </p:nvSpPr>
        <p:spPr>
          <a:xfrm>
            <a:off x="548640" y="3246120"/>
            <a:ext cx="585180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30" name="Shape 7"/>
          <p:cNvSpPr/>
          <p:nvPr/>
        </p:nvSpPr>
        <p:spPr>
          <a:xfrm>
            <a:off x="731520" y="3785760"/>
            <a:ext cx="292320" cy="29232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31" name="Text 8"/>
          <p:cNvSpPr/>
          <p:nvPr/>
        </p:nvSpPr>
        <p:spPr>
          <a:xfrm>
            <a:off x="1170360" y="3355920"/>
            <a:ext cx="5120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Geomagnetic (GFZ)</a:t>
            </a:r>
            <a:endParaRPr lang="en-US" sz="1450" b="0" strike="noStrike" spc="-1">
              <a:solidFill>
                <a:srgbClr val="000000"/>
              </a:solidFill>
              <a:latin typeface="Arial"/>
            </a:endParaRPr>
          </a:p>
        </p:txBody>
      </p:sp>
      <p:sp>
        <p:nvSpPr>
          <p:cNvPr id="232" name="Text 9"/>
          <p:cNvSpPr/>
          <p:nvPr/>
        </p:nvSpPr>
        <p:spPr>
          <a:xfrm>
            <a:off x="1170360" y="3648600"/>
            <a:ext cx="5065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Daily ap and Kp indices — a proposed (weak) earthquake trigger.</a:t>
            </a:r>
            <a:endParaRPr lang="en-US" sz="1200" b="0" strike="noStrike" spc="-1">
              <a:solidFill>
                <a:srgbClr val="000000"/>
              </a:solidFill>
              <a:latin typeface="Arial"/>
            </a:endParaRPr>
          </a:p>
        </p:txBody>
      </p:sp>
      <p:sp>
        <p:nvSpPr>
          <p:cNvPr id="233" name="Shape 10"/>
          <p:cNvSpPr/>
          <p:nvPr/>
        </p:nvSpPr>
        <p:spPr>
          <a:xfrm>
            <a:off x="548640" y="4800600"/>
            <a:ext cx="585180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34" name="Shape 11"/>
          <p:cNvSpPr/>
          <p:nvPr/>
        </p:nvSpPr>
        <p:spPr>
          <a:xfrm>
            <a:off x="731520" y="5340240"/>
            <a:ext cx="292320" cy="29232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35" name="Text 12"/>
          <p:cNvSpPr/>
          <p:nvPr/>
        </p:nvSpPr>
        <p:spPr>
          <a:xfrm>
            <a:off x="1170360" y="4910400"/>
            <a:ext cx="5120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Solar (GFZ)</a:t>
            </a:r>
            <a:endParaRPr lang="en-US" sz="1450" b="0" strike="noStrike" spc="-1">
              <a:solidFill>
                <a:srgbClr val="000000"/>
              </a:solidFill>
              <a:latin typeface="Arial"/>
            </a:endParaRPr>
          </a:p>
        </p:txBody>
      </p:sp>
      <p:sp>
        <p:nvSpPr>
          <p:cNvPr id="236" name="Text 13"/>
          <p:cNvSpPr/>
          <p:nvPr/>
        </p:nvSpPr>
        <p:spPr>
          <a:xfrm>
            <a:off x="1170360" y="5203080"/>
            <a:ext cx="5065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F10.7 radio flux and sunspot number — solar activity, tested as a driver.</a:t>
            </a:r>
            <a:endParaRPr lang="en-US" sz="1200" b="0" strike="noStrike" spc="-1">
              <a:solidFill>
                <a:srgbClr val="000000"/>
              </a:solidFill>
              <a:latin typeface="Arial"/>
            </a:endParaRPr>
          </a:p>
        </p:txBody>
      </p:sp>
      <p:sp>
        <p:nvSpPr>
          <p:cNvPr id="237" name="Shape 14"/>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38" name="Shape 15"/>
          <p:cNvSpPr/>
          <p:nvPr/>
        </p:nvSpPr>
        <p:spPr>
          <a:xfrm>
            <a:off x="6949440" y="223128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39" name="Text 16"/>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Earth tides (ephemeris)</a:t>
            </a:r>
            <a:endParaRPr lang="en-US" sz="1450" b="0" strike="noStrike" spc="-1">
              <a:solidFill>
                <a:srgbClr val="000000"/>
              </a:solidFill>
              <a:latin typeface="Arial"/>
            </a:endParaRPr>
          </a:p>
        </p:txBody>
      </p:sp>
      <p:sp>
        <p:nvSpPr>
          <p:cNvPr id="240" name="Text 17"/>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Tidal potential and lunar phase — small periodic stress on faults.</a:t>
            </a:r>
            <a:endParaRPr lang="en-US" sz="1200" b="0" strike="noStrike" spc="-1">
              <a:solidFill>
                <a:srgbClr val="000000"/>
              </a:solidFill>
              <a:latin typeface="Arial"/>
            </a:endParaRPr>
          </a:p>
        </p:txBody>
      </p:sp>
      <p:sp>
        <p:nvSpPr>
          <p:cNvPr id="241" name="Shape 18"/>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2" name="Shape 19"/>
          <p:cNvSpPr/>
          <p:nvPr/>
        </p:nvSpPr>
        <p:spPr>
          <a:xfrm>
            <a:off x="6949440" y="3785760"/>
            <a:ext cx="292320" cy="2923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43" name="Text 20"/>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GPS / GNSS (Nevada Lab)</a:t>
            </a:r>
            <a:endParaRPr lang="en-US" sz="1450" b="0" strike="noStrike" spc="-1">
              <a:solidFill>
                <a:srgbClr val="000000"/>
              </a:solidFill>
              <a:latin typeface="Arial"/>
            </a:endParaRPr>
          </a:p>
        </p:txBody>
      </p:sp>
      <p:sp>
        <p:nvSpPr>
          <p:cNvPr id="244" name="Text 21"/>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Daily station positions — crustal strain accumulation near the fault zones.</a:t>
            </a:r>
            <a:endParaRPr lang="en-US" sz="1200" b="0" strike="noStrike" spc="-1">
              <a:solidFill>
                <a:srgbClr val="000000"/>
              </a:solidFill>
              <a:latin typeface="Arial"/>
            </a:endParaRPr>
          </a:p>
        </p:txBody>
      </p:sp>
      <p:sp>
        <p:nvSpPr>
          <p:cNvPr id="245" name="Shape 22"/>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6" name="Shape 23"/>
          <p:cNvSpPr/>
          <p:nvPr/>
        </p:nvSpPr>
        <p:spPr>
          <a:xfrm>
            <a:off x="6949440" y="5340240"/>
            <a:ext cx="292320" cy="292320"/>
          </a:xfrm>
          <a:prstGeom prst="ellipse">
            <a:avLst/>
          </a:prstGeom>
          <a:solidFill>
            <a:srgbClr val="5B6B7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47" name="Text 24"/>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How it ships</a:t>
            </a:r>
            <a:endParaRPr lang="en-US" sz="1450" b="0" strike="noStrike" spc="-1">
              <a:solidFill>
                <a:srgbClr val="000000"/>
              </a:solidFill>
              <a:latin typeface="Arial"/>
            </a:endParaRPr>
          </a:p>
        </p:txBody>
      </p:sp>
      <p:sp>
        <p:nvSpPr>
          <p:cNvPr id="248" name="Text 25"/>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dirty="0">
                <a:solidFill>
                  <a:srgbClr val="5B6B7A"/>
                </a:solidFill>
                <a:latin typeface="Calibri"/>
                <a:ea typeface="Calibri"/>
              </a:rPr>
              <a:t>Three tidy long-format CSVs — train, test, judge.</a:t>
            </a:r>
            <a:endParaRPr lang="en-US" sz="1200" b="0" strike="noStrike" spc="-1" dirty="0">
              <a:solidFill>
                <a:srgbClr val="000000"/>
              </a:solidFill>
              <a:latin typeface="Arial"/>
            </a:endParaRPr>
          </a:p>
        </p:txBody>
      </p:sp>
      <p:sp>
        <p:nvSpPr>
          <p:cNvPr id="249" name="Text 2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2 · The Raw Data</a:t>
            </a:r>
            <a:endParaRPr lang="en-US" sz="1000" b="0" strike="noStrike" spc="-1">
              <a:solidFill>
                <a:srgbClr val="000000"/>
              </a:solidFill>
              <a:latin typeface="Arial"/>
            </a:endParaRPr>
          </a:p>
        </p:txBody>
      </p:sp>
      <p:sp>
        <p:nvSpPr>
          <p:cNvPr id="250" name="Text 2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251" name="Text 2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13</a:t>
            </a:r>
            <a:endParaRPr lang="en-US" sz="10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52"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THE FORCING STREAMS</a:t>
            </a:r>
            <a:endParaRPr lang="en-US" sz="1300" b="0" strike="noStrike" spc="-1">
              <a:solidFill>
                <a:srgbClr val="000000"/>
              </a:solidFill>
              <a:latin typeface="Arial"/>
            </a:endParaRPr>
          </a:p>
        </p:txBody>
      </p:sp>
      <p:sp>
        <p:nvSpPr>
          <p:cNvPr id="253"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Four candidate drivers, plotted raw</a:t>
            </a:r>
            <a:endParaRPr lang="en-US" sz="3000" b="0" strike="noStrike" spc="-1">
              <a:solidFill>
                <a:srgbClr val="000000"/>
              </a:solidFill>
              <a:latin typeface="Arial"/>
            </a:endParaRPr>
          </a:p>
        </p:txBody>
      </p:sp>
      <p:pic>
        <p:nvPicPr>
          <p:cNvPr id="254" name="Image 0" descr="figs/full_06.png"/>
          <p:cNvPicPr/>
          <p:nvPr/>
        </p:nvPicPr>
        <p:blipFill>
          <a:blip r:embed="rId3"/>
          <a:stretch/>
        </p:blipFill>
        <p:spPr>
          <a:xfrm>
            <a:off x="548640" y="1689120"/>
            <a:ext cx="11063880" cy="3571200"/>
          </a:xfrm>
          <a:prstGeom prst="rect">
            <a:avLst/>
          </a:prstGeom>
          <a:ln w="0">
            <a:noFill/>
          </a:ln>
        </p:spPr>
      </p:pic>
      <p:sp>
        <p:nvSpPr>
          <p:cNvPr id="255"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Geomagnetic, solar, and tidal forcing time series as delivered. Part of the challenge is discovering — honestly — that these add almost nothing over the seismic catalog.</a:t>
            </a:r>
            <a:endParaRPr lang="en-US" sz="1100" b="0" strike="noStrike" spc="-1">
              <a:solidFill>
                <a:srgbClr val="000000"/>
              </a:solidFill>
              <a:latin typeface="Arial"/>
            </a:endParaRPr>
          </a:p>
        </p:txBody>
      </p:sp>
      <p:sp>
        <p:nvSpPr>
          <p:cNvPr id="256"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7"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58"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Including a data stream because it 'might matter' is not analysis. The ablation study (Module 8) shows these four streams add ≈ 0 bits. Reporting that honestly is worth points.</a:t>
            </a:r>
            <a:endParaRPr lang="en-US" sz="1350" b="0" strike="noStrike" spc="-1">
              <a:solidFill>
                <a:srgbClr val="000000"/>
              </a:solidFill>
              <a:latin typeface="Arial"/>
            </a:endParaRPr>
          </a:p>
        </p:txBody>
      </p:sp>
      <p:sp>
        <p:nvSpPr>
          <p:cNvPr id="259"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2 · The Raw Data</a:t>
            </a:r>
            <a:endParaRPr lang="en-US" sz="1000" b="0" strike="noStrike" spc="-1">
              <a:solidFill>
                <a:srgbClr val="000000"/>
              </a:solidFill>
              <a:latin typeface="Arial"/>
            </a:endParaRPr>
          </a:p>
        </p:txBody>
      </p:sp>
      <p:sp>
        <p:nvSpPr>
          <p:cNvPr id="260"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261"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14</a:t>
            </a:r>
            <a:endParaRPr lang="en-US" sz="100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62"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THE SPLIT</a:t>
            </a:r>
            <a:endParaRPr lang="en-US" sz="1300" b="0" strike="noStrike" spc="-1">
              <a:solidFill>
                <a:srgbClr val="000000"/>
              </a:solidFill>
              <a:latin typeface="Arial"/>
            </a:endParaRPr>
          </a:p>
        </p:txBody>
      </p:sp>
      <p:sp>
        <p:nvSpPr>
          <p:cNvPr id="263"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Train, test, and a sealed judge set</a:t>
            </a:r>
            <a:endParaRPr lang="en-US" sz="3000" b="0" strike="noStrike" spc="-1">
              <a:solidFill>
                <a:srgbClr val="000000"/>
              </a:solidFill>
              <a:latin typeface="Arial"/>
            </a:endParaRPr>
          </a:p>
        </p:txBody>
      </p:sp>
      <p:sp>
        <p:nvSpPr>
          <p:cNvPr id="264"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dirty="0">
                <a:solidFill>
                  <a:srgbClr val="16202B"/>
                </a:solidFill>
                <a:latin typeface="Calibri"/>
                <a:ea typeface="Calibri"/>
              </a:rPr>
              <a:t>The information cutoff is frozen at 2025-01-01. Every feature you build must use only data from before its issue date — no exceptions.</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1" strike="noStrike" spc="-1" dirty="0">
                <a:solidFill>
                  <a:srgbClr val="1F6FB2"/>
                </a:solidFill>
                <a:latin typeface="Calibri"/>
                <a:ea typeface="Calibri"/>
              </a:rPr>
              <a:t>Train:</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0" strike="noStrike" spc="-1" dirty="0">
                <a:solidFill>
                  <a:srgbClr val="16202B"/>
                </a:solidFill>
                <a:latin typeface="Calibri"/>
                <a:ea typeface="Calibri"/>
              </a:rPr>
              <a:t> 1990 → 2022. Distributed to you. Fit models here.</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1" strike="noStrike" spc="-1" dirty="0">
                <a:solidFill>
                  <a:srgbClr val="D98C1F"/>
                </a:solidFill>
                <a:latin typeface="Calibri"/>
                <a:ea typeface="Calibri"/>
              </a:rPr>
              <a:t>Test:</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0" strike="noStrike" spc="-1" dirty="0">
                <a:solidFill>
                  <a:srgbClr val="16202B"/>
                </a:solidFill>
                <a:latin typeface="Calibri"/>
                <a:ea typeface="Calibri"/>
              </a:rPr>
              <a:t> 2022 → 2025. Distributed. Tune and select here.</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1" strike="noStrike" spc="-1" dirty="0">
                <a:solidFill>
                  <a:srgbClr val="C0392B"/>
                </a:solidFill>
                <a:latin typeface="Calibri"/>
                <a:ea typeface="Calibri"/>
              </a:rPr>
              <a:t>Judge:</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0" strike="noStrike" spc="-1" dirty="0">
                <a:solidFill>
                  <a:srgbClr val="16202B"/>
                </a:solidFill>
                <a:latin typeface="Calibri"/>
                <a:ea typeface="Calibri"/>
              </a:rPr>
              <a:t> 2025-01 → 2026-04. Held back. Your forecast is scored on this window you would have never seen</a:t>
            </a:r>
            <a:r>
              <a:rPr lang="en-US" sz="1500" spc="-1" dirty="0">
                <a:solidFill>
                  <a:srgbClr val="16202B"/>
                </a:solidFill>
                <a:latin typeface="Calibri"/>
                <a:ea typeface="Calibri"/>
              </a:rPr>
              <a:t> (but for the </a:t>
            </a:r>
            <a:r>
              <a:rPr lang="en-US" sz="1500" spc="-1" dirty="0" err="1">
                <a:solidFill>
                  <a:srgbClr val="16202B"/>
                </a:solidFill>
                <a:latin typeface="Calibri"/>
                <a:ea typeface="Calibri"/>
              </a:rPr>
              <a:t>Quantathon</a:t>
            </a:r>
            <a:r>
              <a:rPr lang="en-US" sz="1500" spc="-1" dirty="0">
                <a:solidFill>
                  <a:srgbClr val="16202B"/>
                </a:solidFill>
                <a:latin typeface="Calibri"/>
                <a:ea typeface="Calibri"/>
              </a:rPr>
              <a:t>, it’s provided for you up front)</a:t>
            </a:r>
            <a:endParaRPr lang="en-US" sz="1500" b="0" strike="noStrike" spc="-1" dirty="0">
              <a:solidFill>
                <a:srgbClr val="000000"/>
              </a:solidFill>
              <a:latin typeface="Arial"/>
            </a:endParaRPr>
          </a:p>
        </p:txBody>
      </p:sp>
      <p:sp>
        <p:nvSpPr>
          <p:cNvPr id="265" name="Shape 3"/>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66" name="Shape 4"/>
          <p:cNvSpPr/>
          <p:nvPr/>
        </p:nvSpPr>
        <p:spPr>
          <a:xfrm>
            <a:off x="6949440" y="223128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67"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271,207 rows</a:t>
            </a:r>
            <a:endParaRPr lang="en-US" sz="1450" b="0" strike="noStrike" spc="-1">
              <a:solidFill>
                <a:srgbClr val="000000"/>
              </a:solidFill>
              <a:latin typeface="Arial"/>
            </a:endParaRPr>
          </a:p>
        </p:txBody>
      </p:sp>
      <p:sp>
        <p:nvSpPr>
          <p:cNvPr id="268" name="Text 6"/>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train CSV — 35 years of five interleaved raw sources.</a:t>
            </a:r>
            <a:endParaRPr lang="en-US" sz="1200" b="0" strike="noStrike" spc="-1">
              <a:solidFill>
                <a:srgbClr val="000000"/>
              </a:solidFill>
              <a:latin typeface="Arial"/>
            </a:endParaRPr>
          </a:p>
        </p:txBody>
      </p:sp>
      <p:sp>
        <p:nvSpPr>
          <p:cNvPr id="269" name="Shape 7"/>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0" name="Shape 8"/>
          <p:cNvSpPr/>
          <p:nvPr/>
        </p:nvSpPr>
        <p:spPr>
          <a:xfrm>
            <a:off x="6949440" y="3785760"/>
            <a:ext cx="292320" cy="29232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71" name="Text 9"/>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48,328 rows</a:t>
            </a:r>
            <a:endParaRPr lang="en-US" sz="1450" b="0" strike="noStrike" spc="-1">
              <a:solidFill>
                <a:srgbClr val="000000"/>
              </a:solidFill>
              <a:latin typeface="Arial"/>
            </a:endParaRPr>
          </a:p>
        </p:txBody>
      </p:sp>
      <p:sp>
        <p:nvSpPr>
          <p:cNvPr id="272" name="Text 10"/>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test CSV — the 3-year tuning window.</a:t>
            </a:r>
            <a:endParaRPr lang="en-US" sz="1200" b="0" strike="noStrike" spc="-1">
              <a:solidFill>
                <a:srgbClr val="000000"/>
              </a:solidFill>
              <a:latin typeface="Arial"/>
            </a:endParaRPr>
          </a:p>
        </p:txBody>
      </p:sp>
      <p:sp>
        <p:nvSpPr>
          <p:cNvPr id="273" name="Shape 11"/>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4" name="Shape 12"/>
          <p:cNvSpPr/>
          <p:nvPr/>
        </p:nvSpPr>
        <p:spPr>
          <a:xfrm>
            <a:off x="6949440" y="534024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75" name="Text 13"/>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17,979 rows</a:t>
            </a:r>
            <a:endParaRPr lang="en-US" sz="1450" b="0" strike="noStrike" spc="-1">
              <a:solidFill>
                <a:srgbClr val="000000"/>
              </a:solidFill>
              <a:latin typeface="Arial"/>
            </a:endParaRPr>
          </a:p>
        </p:txBody>
      </p:sp>
      <p:sp>
        <p:nvSpPr>
          <p:cNvPr id="276" name="Text 14"/>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dirty="0">
                <a:solidFill>
                  <a:srgbClr val="5B6B7A"/>
                </a:solidFill>
                <a:latin typeface="Calibri"/>
                <a:ea typeface="Calibri"/>
              </a:rPr>
              <a:t>judge CSV — keep it sealed until your scoring. This is the real exam.</a:t>
            </a:r>
            <a:endParaRPr lang="en-US" sz="1200" b="0" strike="noStrike" spc="-1" dirty="0">
              <a:solidFill>
                <a:srgbClr val="000000"/>
              </a:solidFill>
              <a:latin typeface="Arial"/>
            </a:endParaRPr>
          </a:p>
        </p:txBody>
      </p:sp>
      <p:sp>
        <p:nvSpPr>
          <p:cNvPr id="277" name="Text 1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2 · The Raw Data</a:t>
            </a:r>
            <a:endParaRPr lang="en-US" sz="1000" b="0" strike="noStrike" spc="-1">
              <a:solidFill>
                <a:srgbClr val="000000"/>
              </a:solidFill>
              <a:latin typeface="Arial"/>
            </a:endParaRPr>
          </a:p>
        </p:txBody>
      </p:sp>
      <p:sp>
        <p:nvSpPr>
          <p:cNvPr id="278" name="Text 1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279" name="Text 1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15</a:t>
            </a:r>
            <a:endParaRPr lang="en-US" sz="1000" b="0" strike="noStrike"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280" name="Shape 0"/>
          <p:cNvSpPr/>
          <p:nvPr/>
        </p:nvSpPr>
        <p:spPr>
          <a:xfrm>
            <a:off x="640080" y="640080"/>
            <a:ext cx="639720" cy="6397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81" name="Text 1"/>
          <p:cNvSpPr/>
          <p:nvPr/>
        </p:nvSpPr>
        <p:spPr>
          <a:xfrm>
            <a:off x="640080" y="621720"/>
            <a:ext cx="639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strike="noStrike" spc="-1">
                <a:solidFill>
                  <a:srgbClr val="FFFFFF"/>
                </a:solidFill>
                <a:latin typeface="Cambria"/>
                <a:ea typeface="Cambria"/>
              </a:rPr>
              <a:t>✓</a:t>
            </a:r>
            <a:endParaRPr lang="en-US" sz="3000" b="0" strike="noStrike" spc="-1">
              <a:solidFill>
                <a:srgbClr val="FFFFFF"/>
              </a:solidFill>
              <a:latin typeface="Arial"/>
            </a:endParaRPr>
          </a:p>
        </p:txBody>
      </p:sp>
      <p:sp>
        <p:nvSpPr>
          <p:cNvPr id="282" name="Text 2"/>
          <p:cNvSpPr/>
          <p:nvPr/>
        </p:nvSpPr>
        <p:spPr>
          <a:xfrm>
            <a:off x="1463040" y="658440"/>
            <a:ext cx="9143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99">
                <a:solidFill>
                  <a:srgbClr val="7B4EA8"/>
                </a:solidFill>
                <a:latin typeface="Calibri"/>
                <a:ea typeface="Calibri"/>
              </a:rPr>
              <a:t>HONESTY CHECKPOINT</a:t>
            </a:r>
            <a:endParaRPr lang="en-US" sz="1500" b="0" strike="noStrike" spc="-1">
              <a:solidFill>
                <a:srgbClr val="FFFFFF"/>
              </a:solidFill>
              <a:latin typeface="Arial"/>
            </a:endParaRPr>
          </a:p>
        </p:txBody>
      </p:sp>
      <p:sp>
        <p:nvSpPr>
          <p:cNvPr id="283" name="Text 3"/>
          <p:cNvSpPr/>
          <p:nvPr/>
        </p:nvSpPr>
        <p:spPr>
          <a:xfrm>
            <a:off x="1463040" y="969120"/>
            <a:ext cx="10058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2700" b="1" strike="noStrike" spc="-1">
                <a:solidFill>
                  <a:srgbClr val="FFFFFF"/>
                </a:solidFill>
                <a:latin typeface="Cambria"/>
                <a:ea typeface="Cambria"/>
              </a:rPr>
              <a:t>Leakage: the mistake that wins, then loses</a:t>
            </a:r>
            <a:endParaRPr lang="en-US" sz="2700" b="0" strike="noStrike" spc="-1">
              <a:solidFill>
                <a:srgbClr val="FFFFFF"/>
              </a:solidFill>
              <a:latin typeface="Arial"/>
            </a:endParaRPr>
          </a:p>
        </p:txBody>
      </p:sp>
      <p:sp>
        <p:nvSpPr>
          <p:cNvPr id="284" name="Text 4"/>
          <p:cNvSpPr/>
          <p:nvPr/>
        </p:nvSpPr>
        <p:spPr>
          <a:xfrm>
            <a:off x="1463040" y="2103120"/>
            <a:ext cx="996660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spcAft>
                <a:spcPts val="1199"/>
              </a:spcAft>
              <a:tabLst>
                <a:tab pos="0" algn="l"/>
              </a:tabLst>
            </a:pPr>
            <a:r>
              <a:rPr lang="en-US" sz="1600" b="0" strike="noStrike" spc="-1">
                <a:solidFill>
                  <a:srgbClr val="E4E9EE"/>
                </a:solidFill>
                <a:latin typeface="Calibri"/>
                <a:ea typeface="Calibri"/>
              </a:rPr>
              <a:t>Data leakage is when information that would not be available at forecast time sneaks into your features or your validation. With time-series data it is astonishingly easy.</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1" strike="noStrike" spc="-1">
                <a:solidFill>
                  <a:srgbClr val="E9DDF5"/>
                </a:solidFill>
                <a:latin typeface="Calibri"/>
                <a:ea typeface="Calibri"/>
              </a:rPr>
              <a:t>The tell: your cross-validation score is spectacular, and your blind score collapses.</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Three classic leaks: (1) a feature that counts a cell's own future aftershocks; (2) a label window that overlaps the feature window; (3) shuffled k-fold cross-validation that scatters near-duplicate neighbors across folds.</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There are no planted traps in this challenge. Every leak is one you create — and one you can prevent.</a:t>
            </a:r>
            <a:endParaRPr lang="en-US" sz="1600" b="0" strike="noStrike" spc="-1">
              <a:solidFill>
                <a:srgbClr val="FFFFFF"/>
              </a:solidFill>
              <a:latin typeface="Arial"/>
            </a:endParaRPr>
          </a:p>
        </p:txBody>
      </p:sp>
      <p:sp>
        <p:nvSpPr>
          <p:cNvPr id="285" name="Shape 5"/>
          <p:cNvSpPr/>
          <p:nvPr/>
        </p:nvSpPr>
        <p:spPr>
          <a:xfrm>
            <a:off x="1463040" y="5029200"/>
            <a:ext cx="9966600" cy="1096920"/>
          </a:xfrm>
          <a:prstGeom prst="roundRect">
            <a:avLst>
              <a:gd name="adj" fmla="val 5000"/>
            </a:avLst>
          </a:prstGeom>
          <a:solidFill>
            <a:srgbClr val="241A30"/>
          </a:solidFill>
          <a:ln w="12700">
            <a:solidFill>
              <a:srgbClr val="7B4E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86" name="Text 6"/>
          <p:cNvSpPr/>
          <p:nvPr/>
        </p:nvSpPr>
        <p:spPr>
          <a:xfrm>
            <a:off x="1737360" y="5139000"/>
            <a:ext cx="9417960" cy="87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a:solidFill>
                  <a:srgbClr val="D9C9EC"/>
                </a:solidFill>
                <a:latin typeface="Cambria"/>
                <a:ea typeface="Cambria"/>
              </a:rPr>
              <a:t>“A team reporting a blind score far below its own validation is leaking. That gap is the single most diagnostic number a judge can compute.”</a:t>
            </a:r>
            <a:endParaRPr lang="en-US" sz="1600" b="0" strike="noStrike" spc="-1">
              <a:solidFill>
                <a:srgbClr val="FFFFFF"/>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87" name="Shape 0"/>
          <p:cNvSpPr/>
          <p:nvPr/>
        </p:nvSpPr>
        <p:spPr>
          <a:xfrm>
            <a:off x="548640" y="457200"/>
            <a:ext cx="11091240" cy="822600"/>
          </a:xfrm>
          <a:prstGeom prst="roundRect">
            <a:avLst>
              <a:gd name="adj" fmla="val 6667"/>
            </a:avLst>
          </a:prstGeom>
          <a:solidFill>
            <a:srgbClr val="2A201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88" name="Text 1"/>
          <p:cNvSpPr/>
          <p:nvPr/>
        </p:nvSpPr>
        <p:spPr>
          <a:xfrm>
            <a:off x="822960" y="53028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TRY IT YOURSELF · 2.1</a:t>
            </a:r>
            <a:endParaRPr lang="en-US" sz="1300" b="0" strike="noStrike" spc="-1">
              <a:solidFill>
                <a:srgbClr val="000000"/>
              </a:solidFill>
              <a:latin typeface="Arial"/>
            </a:endParaRPr>
          </a:p>
        </p:txBody>
      </p:sp>
      <p:sp>
        <p:nvSpPr>
          <p:cNvPr id="289" name="Text 2"/>
          <p:cNvSpPr/>
          <p:nvPr/>
        </p:nvSpPr>
        <p:spPr>
          <a:xfrm>
            <a:off x="822960" y="786240"/>
            <a:ext cx="104238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Spot the leak</a:t>
            </a:r>
            <a:endParaRPr lang="en-US" sz="2200" b="0" strike="noStrike" spc="-1">
              <a:solidFill>
                <a:srgbClr val="000000"/>
              </a:solidFill>
              <a:latin typeface="Arial"/>
            </a:endParaRPr>
          </a:p>
        </p:txBody>
      </p:sp>
      <p:sp>
        <p:nvSpPr>
          <p:cNvPr id="290" name="Shape 3"/>
          <p:cNvSpPr/>
          <p:nvPr/>
        </p:nvSpPr>
        <p:spPr>
          <a:xfrm>
            <a:off x="548640" y="1508760"/>
            <a:ext cx="11091240" cy="2742840"/>
          </a:xfrm>
          <a:prstGeom prst="roundRect">
            <a:avLst>
              <a:gd name="adj" fmla="val 2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1" name="Text 4"/>
          <p:cNvSpPr/>
          <p:nvPr/>
        </p:nvSpPr>
        <p:spPr>
          <a:xfrm>
            <a:off x="822960" y="16642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0392B"/>
                </a:solidFill>
                <a:latin typeface="Calibri"/>
                <a:ea typeface="Calibri"/>
              </a:rPr>
              <a:t>The task</a:t>
            </a:r>
            <a:endParaRPr lang="en-US" sz="1300" b="0" strike="noStrike" spc="-1">
              <a:solidFill>
                <a:srgbClr val="000000"/>
              </a:solidFill>
              <a:latin typeface="Arial"/>
            </a:endParaRPr>
          </a:p>
        </p:txBody>
      </p:sp>
      <p:sp>
        <p:nvSpPr>
          <p:cNvPr id="292" name="Text 5"/>
          <p:cNvSpPr/>
          <p:nvPr/>
        </p:nvSpPr>
        <p:spPr>
          <a:xfrm>
            <a:off x="868680" y="1974960"/>
            <a:ext cx="10423800" cy="214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For each feature below, decide if it leaks when computing the forecast for cell C, issued at time T: (a) count of M≥3 events within 50 km in the 30 days before T; (b) count within ±15 days of T; (c) distance from C to the nearest fault; (d) the mean magnitude of the next 5 events after T.</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You split (cell, date) rows randomly into 5 folds and get AUC 0.94 in CV but 0.83 on test. Name the leak and the fix.</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Why does fitting your feature scaler on train + test together count as leakage, even though you never touch the labels?</a:t>
            </a:r>
            <a:endParaRPr lang="en-US" sz="1450" b="0" strike="noStrike" spc="-1">
              <a:solidFill>
                <a:srgbClr val="000000"/>
              </a:solidFill>
              <a:latin typeface="Arial"/>
            </a:endParaRPr>
          </a:p>
        </p:txBody>
      </p:sp>
      <p:sp>
        <p:nvSpPr>
          <p:cNvPr id="293" name="Shape 6"/>
          <p:cNvSpPr/>
          <p:nvPr/>
        </p:nvSpPr>
        <p:spPr>
          <a:xfrm>
            <a:off x="548640" y="4434840"/>
            <a:ext cx="11091240" cy="1599840"/>
          </a:xfrm>
          <a:prstGeom prst="roundRect">
            <a:avLst>
              <a:gd name="adj" fmla="val 4571"/>
            </a:avLst>
          </a:prstGeom>
          <a:solidFill>
            <a:srgbClr val="F0EEE8"/>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4" name="Text 7"/>
          <p:cNvSpPr/>
          <p:nvPr/>
        </p:nvSpPr>
        <p:spPr>
          <a:xfrm>
            <a:off x="822960" y="457200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5B6B7A"/>
                </a:solidFill>
                <a:latin typeface="Calibri"/>
                <a:ea typeface="Calibri"/>
              </a:rPr>
              <a:t>Hints</a:t>
            </a:r>
            <a:endParaRPr lang="en-US" sz="1300" b="0" strike="noStrike" spc="-1">
              <a:solidFill>
                <a:srgbClr val="000000"/>
              </a:solidFill>
              <a:latin typeface="Arial"/>
            </a:endParaRPr>
          </a:p>
        </p:txBody>
      </p:sp>
      <p:sp>
        <p:nvSpPr>
          <p:cNvPr id="295" name="Text 8"/>
          <p:cNvSpPr/>
          <p:nvPr/>
        </p:nvSpPr>
        <p:spPr>
          <a:xfrm>
            <a:off x="868680" y="4864680"/>
            <a:ext cx="104238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The rule: at issue time T, could you actually compute this number using only data with timestamp &lt; T?</a:t>
            </a:r>
            <a:endParaRPr lang="en-US" sz="1300" b="0" strike="noStrike" spc="-1">
              <a:solidFill>
                <a:srgbClr val="000000"/>
              </a:solidFill>
              <a:latin typeface="Arial"/>
            </a:endParaRPr>
          </a:p>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Adjacent grid cells on adjacent dates are near-duplicates. What does random shuffling do to them?</a:t>
            </a:r>
            <a:endParaRPr lang="en-US" sz="1300" b="0" strike="noStrike" spc="-1">
              <a:solidFill>
                <a:srgbClr val="000000"/>
              </a:solidFill>
              <a:latin typeface="Arial"/>
            </a:endParaRPr>
          </a:p>
        </p:txBody>
      </p:sp>
      <p:sp>
        <p:nvSpPr>
          <p:cNvPr id="296" name="Text 9"/>
          <p:cNvSpPr/>
          <p:nvPr/>
        </p:nvSpPr>
        <p:spPr>
          <a:xfrm>
            <a:off x="548640" y="614484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strike="noStrike" spc="-1">
                <a:solidFill>
                  <a:srgbClr val="5B6B7A"/>
                </a:solidFill>
                <a:latin typeface="Calibri"/>
                <a:ea typeface="Calibri"/>
              </a:rPr>
              <a:t>Work this before turning the page. The answer key is at the end of the module.</a:t>
            </a:r>
            <a:endParaRPr lang="en-US" sz="1150" b="0" strike="noStrike" spc="-1">
              <a:solidFill>
                <a:srgbClr val="000000"/>
              </a:solidFill>
              <a:latin typeface="Arial"/>
            </a:endParaRPr>
          </a:p>
        </p:txBody>
      </p:sp>
      <p:sp>
        <p:nvSpPr>
          <p:cNvPr id="297" name="Text 10"/>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2 · The Raw Data</a:t>
            </a:r>
            <a:endParaRPr lang="en-US" sz="1000" b="0" strike="noStrike" spc="-1">
              <a:solidFill>
                <a:srgbClr val="000000"/>
              </a:solidFill>
              <a:latin typeface="Arial"/>
            </a:endParaRPr>
          </a:p>
        </p:txBody>
      </p:sp>
      <p:sp>
        <p:nvSpPr>
          <p:cNvPr id="298" name="Text 11"/>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299" name="Text 12"/>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17</a:t>
            </a:r>
            <a:endParaRPr lang="en-US" sz="1000" b="0" strike="noStrike"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300" name="Shape 0"/>
          <p:cNvSpPr/>
          <p:nvPr/>
        </p:nvSpPr>
        <p:spPr>
          <a:xfrm>
            <a:off x="548640" y="457200"/>
            <a:ext cx="11091240" cy="785880"/>
          </a:xfrm>
          <a:prstGeom prst="roundRect">
            <a:avLst>
              <a:gd name="adj" fmla="val 6977"/>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01" name="Text 1"/>
          <p:cNvSpPr/>
          <p:nvPr/>
        </p:nvSpPr>
        <p:spPr>
          <a:xfrm>
            <a:off x="822960" y="530280"/>
            <a:ext cx="10058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FF3E7"/>
                </a:solidFill>
                <a:latin typeface="Calibri"/>
                <a:ea typeface="Calibri"/>
              </a:rPr>
              <a:t>ANSWER KEY · MODULE 2</a:t>
            </a:r>
            <a:endParaRPr lang="en-US" sz="1300" b="0" strike="noStrike" spc="-1">
              <a:solidFill>
                <a:srgbClr val="000000"/>
              </a:solidFill>
              <a:latin typeface="Arial"/>
            </a:endParaRPr>
          </a:p>
        </p:txBody>
      </p:sp>
      <p:sp>
        <p:nvSpPr>
          <p:cNvPr id="302" name="Text 2"/>
          <p:cNvSpPr/>
          <p:nvPr/>
        </p:nvSpPr>
        <p:spPr>
          <a:xfrm>
            <a:off x="822960" y="786240"/>
            <a:ext cx="100580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Check your work</a:t>
            </a:r>
            <a:endParaRPr lang="en-US" sz="2200" b="0" strike="noStrike" spc="-1">
              <a:solidFill>
                <a:srgbClr val="000000"/>
              </a:solidFill>
              <a:latin typeface="Arial"/>
            </a:endParaRPr>
          </a:p>
        </p:txBody>
      </p:sp>
      <p:sp>
        <p:nvSpPr>
          <p:cNvPr id="303" name="Shape 3"/>
          <p:cNvSpPr/>
          <p:nvPr/>
        </p:nvSpPr>
        <p:spPr>
          <a:xfrm>
            <a:off x="548640" y="1481400"/>
            <a:ext cx="11091240" cy="1599840"/>
          </a:xfrm>
          <a:prstGeom prst="roundRect">
            <a:avLst>
              <a:gd name="adj" fmla="val 457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4" name="Text 4"/>
          <p:cNvSpPr/>
          <p:nvPr/>
        </p:nvSpPr>
        <p:spPr>
          <a:xfrm>
            <a:off x="822960" y="1591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2.1 — spot the leak (a–d)</a:t>
            </a:r>
            <a:endParaRPr lang="en-US" sz="1400" b="0" strike="noStrike" spc="-1">
              <a:solidFill>
                <a:srgbClr val="000000"/>
              </a:solidFill>
              <a:latin typeface="Arial"/>
            </a:endParaRPr>
          </a:p>
        </p:txBody>
      </p:sp>
      <p:sp>
        <p:nvSpPr>
          <p:cNvPr id="305" name="Text 5"/>
          <p:cNvSpPr/>
          <p:nvPr/>
        </p:nvSpPr>
        <p:spPr>
          <a:xfrm>
            <a:off x="868680" y="1901880"/>
            <a:ext cx="1051524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(a) No leak — uses only the 30 days before T. Legitimate.</a:t>
            </a:r>
            <a:endParaRPr lang="en-US" sz="1280" b="0" strike="noStrike" spc="-1">
              <a:solidFill>
                <a:srgbClr val="000000"/>
              </a:solidFill>
              <a:latin typeface="Arial"/>
            </a:endParaRPr>
          </a:p>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(b) LEAKS — the ±15-day window includes 15 days after T, which you could not know at issue time.</a:t>
            </a:r>
            <a:endParaRPr lang="en-US" sz="1280" b="0" strike="noStrike" spc="-1">
              <a:solidFill>
                <a:srgbClr val="000000"/>
              </a:solidFill>
              <a:latin typeface="Arial"/>
            </a:endParaRPr>
          </a:p>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(c) No leak — distance to a fault is static, known at any time.</a:t>
            </a:r>
            <a:endParaRPr lang="en-US" sz="1280" b="0" strike="noStrike" spc="-1">
              <a:solidFill>
                <a:srgbClr val="000000"/>
              </a:solidFill>
              <a:latin typeface="Arial"/>
            </a:endParaRPr>
          </a:p>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(d) LEAKS badly — 'the next 5 events' is pure future information; this is the target in disguise.</a:t>
            </a:r>
            <a:endParaRPr lang="en-US" sz="1280" b="0" strike="noStrike" spc="-1">
              <a:solidFill>
                <a:srgbClr val="000000"/>
              </a:solidFill>
              <a:latin typeface="Arial"/>
            </a:endParaRPr>
          </a:p>
        </p:txBody>
      </p:sp>
      <p:sp>
        <p:nvSpPr>
          <p:cNvPr id="306" name="Shape 6"/>
          <p:cNvSpPr/>
          <p:nvPr/>
        </p:nvSpPr>
        <p:spPr>
          <a:xfrm>
            <a:off x="548640" y="3191400"/>
            <a:ext cx="11091240" cy="1051200"/>
          </a:xfrm>
          <a:prstGeom prst="roundRect">
            <a:avLst>
              <a:gd name="adj" fmla="val 695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7" name="Text 7"/>
          <p:cNvSpPr/>
          <p:nvPr/>
        </p:nvSpPr>
        <p:spPr>
          <a:xfrm>
            <a:off x="822960" y="330084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2.1 — CV 0.94, test 0.83</a:t>
            </a:r>
            <a:endParaRPr lang="en-US" sz="1400" b="0" strike="noStrike" spc="-1">
              <a:solidFill>
                <a:srgbClr val="000000"/>
              </a:solidFill>
              <a:latin typeface="Arial"/>
            </a:endParaRPr>
          </a:p>
        </p:txBody>
      </p:sp>
      <p:sp>
        <p:nvSpPr>
          <p:cNvPr id="308" name="Text 8"/>
          <p:cNvSpPr/>
          <p:nvPr/>
        </p:nvSpPr>
        <p:spPr>
          <a:xfrm>
            <a:off x="868680" y="3611880"/>
            <a:ext cx="1051524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Shuffled k-fold on spatiotemporal rows: neighboring cells/dates are near-duplicates, so each fold validates on near-copies of its training rows. Fix: split by time (or by contiguous spatial blocks), never randomly. Validate on the future, as you will be scored.</a:t>
            </a:r>
            <a:endParaRPr lang="en-US" sz="1280" b="0" strike="noStrike" spc="-1">
              <a:solidFill>
                <a:srgbClr val="000000"/>
              </a:solidFill>
              <a:latin typeface="Arial"/>
            </a:endParaRPr>
          </a:p>
        </p:txBody>
      </p:sp>
      <p:sp>
        <p:nvSpPr>
          <p:cNvPr id="309" name="Shape 9"/>
          <p:cNvSpPr/>
          <p:nvPr/>
        </p:nvSpPr>
        <p:spPr>
          <a:xfrm>
            <a:off x="548640" y="4352400"/>
            <a:ext cx="11091240" cy="1005480"/>
          </a:xfrm>
          <a:prstGeom prst="roundRect">
            <a:avLst>
              <a:gd name="adj" fmla="val 727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0" name="Text 10"/>
          <p:cNvSpPr/>
          <p:nvPr/>
        </p:nvSpPr>
        <p:spPr>
          <a:xfrm>
            <a:off x="822960" y="4462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2.1 — why global scaling leaks</a:t>
            </a:r>
            <a:endParaRPr lang="en-US" sz="1400" b="0" strike="noStrike" spc="-1">
              <a:solidFill>
                <a:srgbClr val="000000"/>
              </a:solidFill>
              <a:latin typeface="Arial"/>
            </a:endParaRPr>
          </a:p>
        </p:txBody>
      </p:sp>
      <p:sp>
        <p:nvSpPr>
          <p:cNvPr id="311" name="Text 11"/>
          <p:cNvSpPr/>
          <p:nvPr/>
        </p:nvSpPr>
        <p:spPr>
          <a:xfrm>
            <a:off x="868680" y="4773240"/>
            <a:ext cx="10515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Fitting a scaler (or PCA, or feature selection) on train+test lets the test distribution influence the transform applied to training data. Distributional information bleeds across the temporal boundary. Fit every preprocessing step on train only, then apply it forward.</a:t>
            </a:r>
            <a:endParaRPr lang="en-US" sz="1280" b="0" strike="noStrike" spc="-1">
              <a:solidFill>
                <a:srgbClr val="000000"/>
              </a:solidFill>
              <a:latin typeface="Arial"/>
            </a:endParaRPr>
          </a:p>
        </p:txBody>
      </p:sp>
      <p:sp>
        <p:nvSpPr>
          <p:cNvPr id="312" name="Text 1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2 · The Raw Data</a:t>
            </a:r>
            <a:endParaRPr lang="en-US" sz="1000" b="0" strike="noStrike" spc="-1">
              <a:solidFill>
                <a:srgbClr val="000000"/>
              </a:solidFill>
              <a:latin typeface="Arial"/>
            </a:endParaRPr>
          </a:p>
        </p:txBody>
      </p:sp>
      <p:sp>
        <p:nvSpPr>
          <p:cNvPr id="313" name="Text 1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314" name="Text 1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18</a:t>
            </a:r>
            <a:endParaRPr lang="en-US" sz="1000" b="0" strike="noStrike" spc="-1">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315" name="Shape 0"/>
          <p:cNvSpPr/>
          <p:nvPr/>
        </p:nvSpPr>
        <p:spPr>
          <a:xfrm>
            <a:off x="640080" y="1371600"/>
            <a:ext cx="1371240" cy="137124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16" name="Text 1"/>
          <p:cNvSpPr/>
          <p:nvPr/>
        </p:nvSpPr>
        <p:spPr>
          <a:xfrm>
            <a:off x="640080" y="137160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6200" b="1" strike="noStrike" spc="-1">
                <a:solidFill>
                  <a:srgbClr val="FFFFFF"/>
                </a:solidFill>
                <a:latin typeface="Cambria"/>
                <a:ea typeface="Cambria"/>
              </a:rPr>
              <a:t>3</a:t>
            </a:r>
            <a:endParaRPr lang="en-US" sz="6200" b="0" strike="noStrike" spc="-1">
              <a:solidFill>
                <a:srgbClr val="FFFFFF"/>
              </a:solidFill>
              <a:latin typeface="Arial"/>
            </a:endParaRPr>
          </a:p>
        </p:txBody>
      </p:sp>
      <p:sp>
        <p:nvSpPr>
          <p:cNvPr id="317" name="Text 2"/>
          <p:cNvSpPr/>
          <p:nvPr/>
        </p:nvSpPr>
        <p:spPr>
          <a:xfrm>
            <a:off x="2331720" y="14814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299">
                <a:solidFill>
                  <a:srgbClr val="2E7D53"/>
                </a:solidFill>
                <a:latin typeface="Calibri"/>
                <a:ea typeface="Calibri"/>
              </a:rPr>
              <a:t>MODULE 3</a:t>
            </a:r>
            <a:endParaRPr lang="en-US" sz="1500" b="0" strike="noStrike" spc="-1">
              <a:solidFill>
                <a:srgbClr val="FFFFFF"/>
              </a:solidFill>
              <a:latin typeface="Arial"/>
            </a:endParaRPr>
          </a:p>
        </p:txBody>
      </p:sp>
      <p:sp>
        <p:nvSpPr>
          <p:cNvPr id="318" name="Text 3"/>
          <p:cNvSpPr/>
          <p:nvPr/>
        </p:nvSpPr>
        <p:spPr>
          <a:xfrm>
            <a:off x="2286000" y="1810440"/>
            <a:ext cx="932652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4000" b="1" strike="noStrike" spc="-1">
                <a:solidFill>
                  <a:srgbClr val="FFFFFF"/>
                </a:solidFill>
                <a:latin typeface="Cambria"/>
                <a:ea typeface="Cambria"/>
              </a:rPr>
              <a:t>Seismology You Need</a:t>
            </a:r>
            <a:endParaRPr lang="en-US" sz="4000" b="0" strike="noStrike" spc="-1">
              <a:solidFill>
                <a:srgbClr val="FFFFFF"/>
              </a:solidFill>
              <a:latin typeface="Arial"/>
            </a:endParaRPr>
          </a:p>
        </p:txBody>
      </p:sp>
      <p:sp>
        <p:nvSpPr>
          <p:cNvPr id="319" name="Text 4"/>
          <p:cNvSpPr/>
          <p:nvPr/>
        </p:nvSpPr>
        <p:spPr>
          <a:xfrm>
            <a:off x="2331720" y="2743200"/>
            <a:ext cx="9052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strike="noStrike" spc="-1">
                <a:solidFill>
                  <a:srgbClr val="C7D0D9"/>
                </a:solidFill>
                <a:latin typeface="Calibri"/>
                <a:ea typeface="Calibri"/>
              </a:rPr>
              <a:t>Three ideas from earthquake science that decide the whole challenge.</a:t>
            </a:r>
            <a:endParaRPr lang="en-US" sz="1700" b="0" strike="noStrike" spc="-1">
              <a:solidFill>
                <a:srgbClr val="FFFFFF"/>
              </a:solidFill>
              <a:latin typeface="Arial"/>
            </a:endParaRPr>
          </a:p>
        </p:txBody>
      </p:sp>
      <p:sp>
        <p:nvSpPr>
          <p:cNvPr id="320" name="Text 5"/>
          <p:cNvSpPr/>
          <p:nvPr/>
        </p:nvSpPr>
        <p:spPr>
          <a:xfrm>
            <a:off x="2331720" y="36118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8996A3"/>
                </a:solidFill>
                <a:latin typeface="Calibri"/>
                <a:ea typeface="Calibri"/>
              </a:rPr>
              <a:t>IN THIS MODULE</a:t>
            </a:r>
            <a:endParaRPr lang="en-US" sz="1200" b="0" strike="noStrike" spc="-1">
              <a:solidFill>
                <a:srgbClr val="FFFFFF"/>
              </a:solidFill>
              <a:latin typeface="Arial"/>
            </a:endParaRPr>
          </a:p>
        </p:txBody>
      </p:sp>
      <p:sp>
        <p:nvSpPr>
          <p:cNvPr id="321" name="Text 6"/>
          <p:cNvSpPr/>
          <p:nvPr/>
        </p:nvSpPr>
        <p:spPr>
          <a:xfrm>
            <a:off x="2331720" y="3931920"/>
            <a:ext cx="914364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Gutenberg–Richter: how earthquake sizes are distributed</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Magnitude of completeness: the subtle trap that biases everything</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ETAS: the 5-parameter physics model you must beat</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A real data pathology — and the task it creates for you</a:t>
            </a:r>
            <a:endParaRPr lang="en-US" sz="1450" b="0" strike="noStrike" spc="-1">
              <a:solidFill>
                <a:srgbClr val="FFFFFF"/>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322"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LAW #1</a:t>
            </a:r>
            <a:endParaRPr lang="en-US" sz="1300" b="0" strike="noStrike" spc="-1">
              <a:solidFill>
                <a:srgbClr val="000000"/>
              </a:solidFill>
              <a:latin typeface="Arial"/>
            </a:endParaRPr>
          </a:p>
        </p:txBody>
      </p:sp>
      <p:sp>
        <p:nvSpPr>
          <p:cNvPr id="323"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Gutenberg–Richter: sizes follow a straight line</a:t>
            </a:r>
            <a:endParaRPr lang="en-US" sz="3000" b="0" strike="noStrike" spc="-1">
              <a:solidFill>
                <a:srgbClr val="000000"/>
              </a:solidFill>
              <a:latin typeface="Arial"/>
            </a:endParaRPr>
          </a:p>
        </p:txBody>
      </p:sp>
      <p:sp>
        <p:nvSpPr>
          <p:cNvPr id="324"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Earthquake magnitudes obey a remarkably clean statistical law:</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2E7D53"/>
                </a:solidFill>
                <a:latin typeface="Calibri"/>
                <a:ea typeface="Calibri"/>
              </a:rPr>
              <a:t>log₁₀ N(≥M) = a − b·M</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N(≥M) is the number of events of magnitude M or larger. Plot it on a log axis against magnitude and you get a straight line.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16202B"/>
                </a:solidFill>
                <a:latin typeface="Calibri"/>
                <a:ea typeface="Calibri"/>
              </a:rPr>
              <a:t>The b-value (the slope) is ~1.0 worldwide.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 It says small quakes vastly outnumber large ones: each unit drop in magnitude gives ~10× more events.</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For the central &amp; eastern US, b should land near 0.9–1.0. If you compute something far from that, you have made an error — usually the one on the next slide.</a:t>
            </a:r>
            <a:endParaRPr lang="en-US" sz="1500" b="0" strike="noStrike" spc="-1">
              <a:solidFill>
                <a:srgbClr val="000000"/>
              </a:solidFill>
              <a:latin typeface="Arial"/>
            </a:endParaRPr>
          </a:p>
        </p:txBody>
      </p:sp>
      <p:pic>
        <p:nvPicPr>
          <p:cNvPr id="325" name="Image 0" descr="figs/full_03.png"/>
          <p:cNvPicPr/>
          <p:nvPr/>
        </p:nvPicPr>
        <p:blipFill>
          <a:blip r:embed="rId3"/>
          <a:stretch/>
        </p:blipFill>
        <p:spPr>
          <a:xfrm>
            <a:off x="6766560" y="3320280"/>
            <a:ext cx="4873320" cy="766080"/>
          </a:xfrm>
          <a:prstGeom prst="rect">
            <a:avLst/>
          </a:prstGeom>
          <a:ln w="0">
            <a:noFill/>
          </a:ln>
        </p:spPr>
      </p:pic>
      <p:sp>
        <p:nvSpPr>
          <p:cNvPr id="326" name="Text 3"/>
          <p:cNvSpPr/>
          <p:nvPr/>
        </p:nvSpPr>
        <p:spPr>
          <a:xfrm>
            <a:off x="6766560" y="5751720"/>
            <a:ext cx="48733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Gutenberg–Richter fit to the real catalog. The slope is the b-value; the bend at the low-magnitude end is the completeness limit.</a:t>
            </a:r>
            <a:endParaRPr lang="en-US" sz="1100" b="0" strike="noStrike" spc="-1">
              <a:solidFill>
                <a:srgbClr val="000000"/>
              </a:solidFill>
              <a:latin typeface="Arial"/>
            </a:endParaRPr>
          </a:p>
        </p:txBody>
      </p:sp>
      <p:sp>
        <p:nvSpPr>
          <p:cNvPr id="327" name="Text 4"/>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3 · Seismology You Need</a:t>
            </a:r>
            <a:endParaRPr lang="en-US" sz="1000" b="0" strike="noStrike" spc="-1">
              <a:solidFill>
                <a:srgbClr val="000000"/>
              </a:solidFill>
              <a:latin typeface="Arial"/>
            </a:endParaRPr>
          </a:p>
        </p:txBody>
      </p:sp>
      <p:sp>
        <p:nvSpPr>
          <p:cNvPr id="328" name="Text 5"/>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329" name="Text 6"/>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20</a:t>
            </a:r>
            <a:endParaRPr lang="en-US" sz="1000" b="0" strike="noStrike" spc="-1">
              <a:solidFill>
                <a:srgbClr val="00000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330"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LAW #2 — THE TRAP</a:t>
            </a:r>
            <a:endParaRPr lang="en-US" sz="1300" b="0" strike="noStrike" spc="-1">
              <a:solidFill>
                <a:srgbClr val="000000"/>
              </a:solidFill>
              <a:latin typeface="Arial"/>
            </a:endParaRPr>
          </a:p>
        </p:txBody>
      </p:sp>
      <p:sp>
        <p:nvSpPr>
          <p:cNvPr id="331"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Magnitude of completeness (Mc)</a:t>
            </a:r>
            <a:endParaRPr lang="en-US" sz="3000" b="0" strike="noStrike" spc="-1">
              <a:solidFill>
                <a:srgbClr val="000000"/>
              </a:solidFill>
              <a:latin typeface="Arial"/>
            </a:endParaRPr>
          </a:p>
        </p:txBody>
      </p:sp>
      <p:sp>
        <p:nvSpPr>
          <p:cNvPr id="332"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Small earthquakes are under-recorded — too weak for distant stations. Below some magnitude Mc, your catalog is incomplete.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If you fit Gutenberg–Richter using events below Mc, the missing small quakes flatten the line and bias the b-value downward. This is the single most common mistake in the whole challenge.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2E7D53"/>
                </a:solidFill>
                <a:latin typeface="Calibri"/>
                <a:ea typeface="Calibri"/>
              </a:rPr>
              <a:t>The reference found Mc = 1.75 (modern era) → b = 0.846.</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8E2A20"/>
                </a:solidFill>
                <a:latin typeface="Calibri"/>
                <a:ea typeface="Calibri"/>
              </a:rPr>
              <a:t>A naive fit on the full catalog gave Mc ≈ 1.45 → b ≈ 0.65 — a value that is physically implausible for this region, and the tell that Mc was set too low.</a:t>
            </a:r>
            <a:endParaRPr lang="en-US" sz="1500" b="0" strike="noStrike" spc="-1">
              <a:solidFill>
                <a:srgbClr val="000000"/>
              </a:solidFill>
              <a:latin typeface="Arial"/>
            </a:endParaRPr>
          </a:p>
        </p:txBody>
      </p:sp>
      <p:pic>
        <p:nvPicPr>
          <p:cNvPr id="333" name="Image 0" descr="figs/full_04.png"/>
          <p:cNvPicPr/>
          <p:nvPr/>
        </p:nvPicPr>
        <p:blipFill>
          <a:blip r:embed="rId3"/>
          <a:stretch/>
        </p:blipFill>
        <p:spPr>
          <a:xfrm>
            <a:off x="6766560" y="3023640"/>
            <a:ext cx="4873320" cy="1359360"/>
          </a:xfrm>
          <a:prstGeom prst="rect">
            <a:avLst/>
          </a:prstGeom>
          <a:ln w="0">
            <a:noFill/>
          </a:ln>
        </p:spPr>
      </p:pic>
      <p:sp>
        <p:nvSpPr>
          <p:cNvPr id="334" name="Text 3"/>
          <p:cNvSpPr/>
          <p:nvPr/>
        </p:nvSpPr>
        <p:spPr>
          <a:xfrm>
            <a:off x="6766560" y="5751720"/>
            <a:ext cx="48733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Completeness magnitude drifts over time as the network densifies. Estimating Mc on the modern era and adding a safety margin (MAXC + 0.2) is the fix.</a:t>
            </a:r>
            <a:endParaRPr lang="en-US" sz="1100" b="0" strike="noStrike" spc="-1">
              <a:solidFill>
                <a:srgbClr val="000000"/>
              </a:solidFill>
              <a:latin typeface="Arial"/>
            </a:endParaRPr>
          </a:p>
        </p:txBody>
      </p:sp>
      <p:sp>
        <p:nvSpPr>
          <p:cNvPr id="335" name="Text 4"/>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3 · Seismology You Need</a:t>
            </a:r>
            <a:endParaRPr lang="en-US" sz="1000" b="0" strike="noStrike" spc="-1">
              <a:solidFill>
                <a:srgbClr val="000000"/>
              </a:solidFill>
              <a:latin typeface="Arial"/>
            </a:endParaRPr>
          </a:p>
        </p:txBody>
      </p:sp>
      <p:sp>
        <p:nvSpPr>
          <p:cNvPr id="336" name="Text 5"/>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337" name="Text 6"/>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21</a:t>
            </a:r>
            <a:endParaRPr lang="en-US" sz="1000" b="0" strike="noStrike" spc="-1">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33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WHY MC MATTERS</a:t>
            </a:r>
            <a:endParaRPr lang="en-US" sz="1300" b="0" strike="noStrike" spc="-1">
              <a:solidFill>
                <a:srgbClr val="000000"/>
              </a:solidFill>
              <a:latin typeface="Arial"/>
            </a:endParaRPr>
          </a:p>
        </p:txBody>
      </p:sp>
      <p:sp>
        <p:nvSpPr>
          <p:cNvPr id="33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One parameter, everything downstream</a:t>
            </a:r>
            <a:endParaRPr lang="en-US" sz="3000" b="0" strike="noStrike" spc="-1">
              <a:solidFill>
                <a:srgbClr val="000000"/>
              </a:solidFill>
              <a:latin typeface="Arial"/>
            </a:endParaRPr>
          </a:p>
        </p:txBody>
      </p:sp>
      <p:sp>
        <p:nvSpPr>
          <p:cNvPr id="340" name="Shape 2"/>
          <p:cNvSpPr/>
          <p:nvPr/>
        </p:nvSpPr>
        <p:spPr>
          <a:xfrm>
            <a:off x="548640" y="1965960"/>
            <a:ext cx="3483360" cy="2102760"/>
          </a:xfrm>
          <a:prstGeom prst="roundRect">
            <a:avLst>
              <a:gd name="adj" fmla="val 3478"/>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41" name="Text 3"/>
          <p:cNvSpPr/>
          <p:nvPr/>
        </p:nvSpPr>
        <p:spPr>
          <a:xfrm>
            <a:off x="548640" y="2286000"/>
            <a:ext cx="34833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600" b="1" strike="noStrike" spc="-1">
                <a:solidFill>
                  <a:srgbClr val="2E7D53"/>
                </a:solidFill>
                <a:latin typeface="Cambria"/>
                <a:ea typeface="Cambria"/>
              </a:rPr>
              <a:t>1.75</a:t>
            </a:r>
            <a:endParaRPr lang="en-US" sz="4600" b="0" strike="noStrike" spc="-1">
              <a:solidFill>
                <a:srgbClr val="000000"/>
              </a:solidFill>
              <a:latin typeface="Arial"/>
            </a:endParaRPr>
          </a:p>
        </p:txBody>
      </p:sp>
      <p:sp>
        <p:nvSpPr>
          <p:cNvPr id="342" name="Text 4"/>
          <p:cNvSpPr/>
          <p:nvPr/>
        </p:nvSpPr>
        <p:spPr>
          <a:xfrm>
            <a:off x="548640" y="3127320"/>
            <a:ext cx="3483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0" strike="noStrike" spc="-1">
                <a:solidFill>
                  <a:srgbClr val="5B6B7A"/>
                </a:solidFill>
                <a:latin typeface="Calibri"/>
                <a:ea typeface="Calibri"/>
              </a:rPr>
              <a:t>Adopted Mc (modern-era MAXC + 0.2)</a:t>
            </a:r>
            <a:endParaRPr lang="en-US" sz="1250" b="0" strike="noStrike" spc="-1">
              <a:solidFill>
                <a:srgbClr val="000000"/>
              </a:solidFill>
              <a:latin typeface="Arial"/>
            </a:endParaRPr>
          </a:p>
        </p:txBody>
      </p:sp>
      <p:sp>
        <p:nvSpPr>
          <p:cNvPr id="343" name="Shape 5"/>
          <p:cNvSpPr/>
          <p:nvPr/>
        </p:nvSpPr>
        <p:spPr>
          <a:xfrm>
            <a:off x="4352400" y="1965960"/>
            <a:ext cx="3483360" cy="2102760"/>
          </a:xfrm>
          <a:prstGeom prst="roundRect">
            <a:avLst>
              <a:gd name="adj" fmla="val 3478"/>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44" name="Text 6"/>
          <p:cNvSpPr/>
          <p:nvPr/>
        </p:nvSpPr>
        <p:spPr>
          <a:xfrm>
            <a:off x="4352400" y="2286000"/>
            <a:ext cx="34833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600" b="1" strike="noStrike" spc="-1">
                <a:solidFill>
                  <a:srgbClr val="2E7D53"/>
                </a:solidFill>
                <a:latin typeface="Cambria"/>
                <a:ea typeface="Cambria"/>
              </a:rPr>
              <a:t>0.846</a:t>
            </a:r>
            <a:endParaRPr lang="en-US" sz="4600" b="0" strike="noStrike" spc="-1">
              <a:solidFill>
                <a:srgbClr val="000000"/>
              </a:solidFill>
              <a:latin typeface="Arial"/>
            </a:endParaRPr>
          </a:p>
        </p:txBody>
      </p:sp>
      <p:sp>
        <p:nvSpPr>
          <p:cNvPr id="345" name="Text 7"/>
          <p:cNvSpPr/>
          <p:nvPr/>
        </p:nvSpPr>
        <p:spPr>
          <a:xfrm>
            <a:off x="4352400" y="3127320"/>
            <a:ext cx="3483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0" strike="noStrike" spc="-1">
                <a:solidFill>
                  <a:srgbClr val="5B6B7A"/>
                </a:solidFill>
                <a:latin typeface="Calibri"/>
                <a:ea typeface="Calibri"/>
              </a:rPr>
              <a:t>Resulting b-value — physically sensible for the eastern US</a:t>
            </a:r>
            <a:endParaRPr lang="en-US" sz="1250" b="0" strike="noStrike" spc="-1">
              <a:solidFill>
                <a:srgbClr val="000000"/>
              </a:solidFill>
              <a:latin typeface="Arial"/>
            </a:endParaRPr>
          </a:p>
        </p:txBody>
      </p:sp>
      <p:sp>
        <p:nvSpPr>
          <p:cNvPr id="346" name="Shape 8"/>
          <p:cNvSpPr/>
          <p:nvPr/>
        </p:nvSpPr>
        <p:spPr>
          <a:xfrm>
            <a:off x="8156520" y="1965960"/>
            <a:ext cx="3483360" cy="2102760"/>
          </a:xfrm>
          <a:prstGeom prst="roundRect">
            <a:avLst>
              <a:gd name="adj" fmla="val 3478"/>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47" name="Text 9"/>
          <p:cNvSpPr/>
          <p:nvPr/>
        </p:nvSpPr>
        <p:spPr>
          <a:xfrm>
            <a:off x="8156520" y="2286000"/>
            <a:ext cx="34833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600" b="1" strike="noStrike" spc="-1">
                <a:solidFill>
                  <a:srgbClr val="C0392B"/>
                </a:solidFill>
                <a:latin typeface="Cambria"/>
                <a:ea typeface="Cambria"/>
              </a:rPr>
              <a:t>0.65</a:t>
            </a:r>
            <a:endParaRPr lang="en-US" sz="4600" b="0" strike="noStrike" spc="-1">
              <a:solidFill>
                <a:srgbClr val="000000"/>
              </a:solidFill>
              <a:latin typeface="Arial"/>
            </a:endParaRPr>
          </a:p>
        </p:txBody>
      </p:sp>
      <p:sp>
        <p:nvSpPr>
          <p:cNvPr id="348" name="Text 10"/>
          <p:cNvSpPr/>
          <p:nvPr/>
        </p:nvSpPr>
        <p:spPr>
          <a:xfrm>
            <a:off x="8156520" y="3127320"/>
            <a:ext cx="3483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0" strike="noStrike" spc="-1">
                <a:solidFill>
                  <a:srgbClr val="5B6B7A"/>
                </a:solidFill>
                <a:latin typeface="Calibri"/>
                <a:ea typeface="Calibri"/>
              </a:rPr>
              <a:t>The wrong b from a too-low Mc — a red flag, not a finding</a:t>
            </a:r>
            <a:endParaRPr lang="en-US" sz="1250" b="0" strike="noStrike" spc="-1">
              <a:solidFill>
                <a:srgbClr val="000000"/>
              </a:solidFill>
              <a:latin typeface="Arial"/>
            </a:endParaRPr>
          </a:p>
        </p:txBody>
      </p:sp>
      <p:sp>
        <p:nvSpPr>
          <p:cNvPr id="349" name="Text 11"/>
          <p:cNvSpPr/>
          <p:nvPr/>
        </p:nvSpPr>
        <p:spPr>
          <a:xfrm>
            <a:off x="548640" y="4343400"/>
            <a:ext cx="11091240" cy="164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500" b="0" strike="noStrike" spc="-1">
                <a:solidFill>
                  <a:srgbClr val="16202B"/>
                </a:solidFill>
                <a:latin typeface="Calibri"/>
                <a:ea typeface="Calibri"/>
              </a:rPr>
              <a:t>Every b-value feature, every ETAS fit, and every completeness-dependent count inherits your choice of Mc. Get it wrong and a plausible-looking pipeline is quietly built on sand. This is why the reference reports three Mc estimators side by side and adopts the conservative one.</a:t>
            </a:r>
            <a:endParaRPr lang="en-US" sz="1500" b="0" strike="noStrike" spc="-1">
              <a:solidFill>
                <a:srgbClr val="000000"/>
              </a:solidFill>
              <a:latin typeface="Arial"/>
            </a:endParaRPr>
          </a:p>
        </p:txBody>
      </p:sp>
      <p:sp>
        <p:nvSpPr>
          <p:cNvPr id="350" name="Text 1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3 · Seismology You Need</a:t>
            </a:r>
            <a:endParaRPr lang="en-US" sz="1000" b="0" strike="noStrike" spc="-1">
              <a:solidFill>
                <a:srgbClr val="000000"/>
              </a:solidFill>
              <a:latin typeface="Arial"/>
            </a:endParaRPr>
          </a:p>
        </p:txBody>
      </p:sp>
      <p:sp>
        <p:nvSpPr>
          <p:cNvPr id="351" name="Text 1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352" name="Text 1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22</a:t>
            </a:r>
            <a:endParaRPr lang="en-US" sz="1000" b="0" strike="noStrike" spc="-1">
              <a:solidFill>
                <a:srgbClr val="000000"/>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353"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LAW #3 — THE BAR</a:t>
            </a:r>
            <a:endParaRPr lang="en-US" sz="1300" b="0" strike="noStrike" spc="-1">
              <a:solidFill>
                <a:srgbClr val="000000"/>
              </a:solidFill>
              <a:latin typeface="Arial"/>
            </a:endParaRPr>
          </a:p>
        </p:txBody>
      </p:sp>
      <p:sp>
        <p:nvSpPr>
          <p:cNvPr id="354"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ETAS: the physics you must beat</a:t>
            </a:r>
            <a:endParaRPr lang="en-US" sz="3000" b="0" strike="noStrike" spc="-1">
              <a:solidFill>
                <a:srgbClr val="000000"/>
              </a:solidFill>
              <a:latin typeface="Arial"/>
            </a:endParaRPr>
          </a:p>
        </p:txBody>
      </p:sp>
      <p:sp>
        <p:nvSpPr>
          <p:cNvPr id="355"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Most earthquakes trigger others. ETAS (Epidemic-Type Aftershock Sequence) turns that into a forecast with just five parameters:</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2E7D53"/>
                </a:solidFill>
                <a:latin typeface="Calibri"/>
                <a:ea typeface="Calibri"/>
              </a:rPr>
              <a:t>λ(t) = μ + Σ K·e^{α(mᵢ−Mc)} · (t−tᵢ+c)^{−p}</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μ = background rate · K = productivity · α = how strongly big quakes trigger · c, p = Omori aftershock decay.</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Fit those five numbers by maximum likelihood to the catalog — never to the labels — and you have a forecast that is startlingly hard to beat.</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2E7D53"/>
                </a:solidFill>
                <a:latin typeface="Calibri"/>
                <a:ea typeface="Calibri"/>
              </a:rPr>
              <a:t>This is the reference's hard baseline. On the blind window it reaches +0.134 bits over climatology.</a:t>
            </a:r>
            <a:endParaRPr lang="en-US" sz="1500" b="0" strike="noStrike" spc="-1">
              <a:solidFill>
                <a:srgbClr val="000000"/>
              </a:solidFill>
              <a:latin typeface="Arial"/>
            </a:endParaRPr>
          </a:p>
        </p:txBody>
      </p:sp>
      <p:sp>
        <p:nvSpPr>
          <p:cNvPr id="356" name="Shape 3"/>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57" name="Shape 4"/>
          <p:cNvSpPr/>
          <p:nvPr/>
        </p:nvSpPr>
        <p:spPr>
          <a:xfrm>
            <a:off x="6949440" y="223128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58"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5 parameters</a:t>
            </a:r>
            <a:endParaRPr lang="en-US" sz="1450" b="0" strike="noStrike" spc="-1">
              <a:solidFill>
                <a:srgbClr val="000000"/>
              </a:solidFill>
              <a:latin typeface="Arial"/>
            </a:endParaRPr>
          </a:p>
        </p:txBody>
      </p:sp>
      <p:sp>
        <p:nvSpPr>
          <p:cNvPr id="359" name="Text 6"/>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Fitted by MLE on the catalog. No labels, no features, no ML.</a:t>
            </a:r>
            <a:endParaRPr lang="en-US" sz="1200" b="0" strike="noStrike" spc="-1">
              <a:solidFill>
                <a:srgbClr val="000000"/>
              </a:solidFill>
              <a:latin typeface="Arial"/>
            </a:endParaRPr>
          </a:p>
        </p:txBody>
      </p:sp>
      <p:sp>
        <p:nvSpPr>
          <p:cNvPr id="360" name="Shape 7"/>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61" name="Shape 8"/>
          <p:cNvSpPr/>
          <p:nvPr/>
        </p:nvSpPr>
        <p:spPr>
          <a:xfrm>
            <a:off x="6949440" y="3785760"/>
            <a:ext cx="292320" cy="29232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62" name="Text 9"/>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μ, K, α, c, p</a:t>
            </a:r>
            <a:endParaRPr lang="en-US" sz="1450" b="0" strike="noStrike" spc="-1">
              <a:solidFill>
                <a:srgbClr val="000000"/>
              </a:solidFill>
              <a:latin typeface="Arial"/>
            </a:endParaRPr>
          </a:p>
        </p:txBody>
      </p:sp>
      <p:sp>
        <p:nvSpPr>
          <p:cNvPr id="363" name="Text 10"/>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Background, productivity, magnitude-sensitivity, and Omori decay (c, p).</a:t>
            </a:r>
            <a:endParaRPr lang="en-US" sz="1200" b="0" strike="noStrike" spc="-1">
              <a:solidFill>
                <a:srgbClr val="000000"/>
              </a:solidFill>
              <a:latin typeface="Arial"/>
            </a:endParaRPr>
          </a:p>
        </p:txBody>
      </p:sp>
      <p:sp>
        <p:nvSpPr>
          <p:cNvPr id="364" name="Shape 11"/>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65" name="Shape 12"/>
          <p:cNvSpPr/>
          <p:nvPr/>
        </p:nvSpPr>
        <p:spPr>
          <a:xfrm>
            <a:off x="6949440" y="534024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66" name="Text 13"/>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The bar to beat</a:t>
            </a:r>
            <a:endParaRPr lang="en-US" sz="1450" b="0" strike="noStrike" spc="-1">
              <a:solidFill>
                <a:srgbClr val="000000"/>
              </a:solidFill>
              <a:latin typeface="Arial"/>
            </a:endParaRPr>
          </a:p>
        </p:txBody>
      </p:sp>
      <p:sp>
        <p:nvSpPr>
          <p:cNvPr id="367" name="Text 14"/>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A 373-feature ML pipeline beats it by only +0.002 bits. Respect the physics.</a:t>
            </a:r>
            <a:endParaRPr lang="en-US" sz="1200" b="0" strike="noStrike" spc="-1">
              <a:solidFill>
                <a:srgbClr val="000000"/>
              </a:solidFill>
              <a:latin typeface="Arial"/>
            </a:endParaRPr>
          </a:p>
        </p:txBody>
      </p:sp>
      <p:sp>
        <p:nvSpPr>
          <p:cNvPr id="368" name="Text 1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3 · Seismology You Need</a:t>
            </a:r>
            <a:endParaRPr lang="en-US" sz="1000" b="0" strike="noStrike" spc="-1">
              <a:solidFill>
                <a:srgbClr val="000000"/>
              </a:solidFill>
              <a:latin typeface="Arial"/>
            </a:endParaRPr>
          </a:p>
        </p:txBody>
      </p:sp>
      <p:sp>
        <p:nvSpPr>
          <p:cNvPr id="369" name="Text 1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370" name="Text 1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23</a:t>
            </a:r>
            <a:endParaRPr lang="en-US" sz="1000" b="0" strike="noStrike" spc="-1">
              <a:solidFill>
                <a:srgbClr val="00000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371" name="Shape 0"/>
          <p:cNvSpPr/>
          <p:nvPr/>
        </p:nvSpPr>
        <p:spPr>
          <a:xfrm>
            <a:off x="640080" y="640080"/>
            <a:ext cx="639720" cy="6397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72" name="Text 1"/>
          <p:cNvSpPr/>
          <p:nvPr/>
        </p:nvSpPr>
        <p:spPr>
          <a:xfrm>
            <a:off x="640080" y="621720"/>
            <a:ext cx="639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strike="noStrike" spc="-1">
                <a:solidFill>
                  <a:srgbClr val="FFFFFF"/>
                </a:solidFill>
                <a:latin typeface="Cambria"/>
                <a:ea typeface="Cambria"/>
              </a:rPr>
              <a:t>✓</a:t>
            </a:r>
            <a:endParaRPr lang="en-US" sz="3000" b="0" strike="noStrike" spc="-1">
              <a:solidFill>
                <a:srgbClr val="FFFFFF"/>
              </a:solidFill>
              <a:latin typeface="Arial"/>
            </a:endParaRPr>
          </a:p>
        </p:txBody>
      </p:sp>
      <p:sp>
        <p:nvSpPr>
          <p:cNvPr id="373" name="Text 2"/>
          <p:cNvSpPr/>
          <p:nvPr/>
        </p:nvSpPr>
        <p:spPr>
          <a:xfrm>
            <a:off x="1463040" y="658440"/>
            <a:ext cx="9143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99">
                <a:solidFill>
                  <a:srgbClr val="7B4EA8"/>
                </a:solidFill>
                <a:latin typeface="Calibri"/>
                <a:ea typeface="Calibri"/>
              </a:rPr>
              <a:t>HONESTY CHECKPOINT</a:t>
            </a:r>
            <a:endParaRPr lang="en-US" sz="1500" b="0" strike="noStrike" spc="-1">
              <a:solidFill>
                <a:srgbClr val="FFFFFF"/>
              </a:solidFill>
              <a:latin typeface="Arial"/>
            </a:endParaRPr>
          </a:p>
        </p:txBody>
      </p:sp>
      <p:sp>
        <p:nvSpPr>
          <p:cNvPr id="374" name="Text 3"/>
          <p:cNvSpPr/>
          <p:nvPr/>
        </p:nvSpPr>
        <p:spPr>
          <a:xfrm>
            <a:off x="1463040" y="969120"/>
            <a:ext cx="10058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2700" b="1" strike="noStrike" spc="-1">
                <a:solidFill>
                  <a:srgbClr val="FFFFFF"/>
                </a:solidFill>
                <a:latin typeface="Cambria"/>
                <a:ea typeface="Cambria"/>
              </a:rPr>
              <a:t>A real pathology: why α pinned near zero</a:t>
            </a:r>
            <a:endParaRPr lang="en-US" sz="2700" b="0" strike="noStrike" spc="-1">
              <a:solidFill>
                <a:srgbClr val="FFFFFF"/>
              </a:solidFill>
              <a:latin typeface="Arial"/>
            </a:endParaRPr>
          </a:p>
        </p:txBody>
      </p:sp>
      <p:sp>
        <p:nvSpPr>
          <p:cNvPr id="375" name="Text 4"/>
          <p:cNvSpPr/>
          <p:nvPr/>
        </p:nvSpPr>
        <p:spPr>
          <a:xfrm>
            <a:off x="1463040" y="2103120"/>
            <a:ext cx="996660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spcAft>
                <a:spcPts val="1199"/>
              </a:spcAft>
              <a:tabLst>
                <a:tab pos="0" algn="l"/>
              </a:tabLst>
            </a:pPr>
            <a:r>
              <a:rPr lang="en-US" sz="1600" b="0" strike="noStrike" spc="-1">
                <a:solidFill>
                  <a:srgbClr val="E4E9EE"/>
                </a:solidFill>
                <a:latin typeface="Calibri"/>
                <a:ea typeface="Calibri"/>
              </a:rPr>
              <a:t>When the reference fit ETAS freely, α — the magnitude-sensitivity of triggering — came out near 0.06, far below the tectonic value of ~0.8–1.0.</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1" strike="noStrike" spc="-1">
                <a:solidFill>
                  <a:srgbClr val="E9DDF5"/>
                </a:solidFill>
                <a:latin typeface="Calibri"/>
                <a:ea typeface="Calibri"/>
              </a:rPr>
              <a:t>α ≈ 0 means triggering barely depends on magnitude. In the eastern US that is a fingerprint of non-tectonic events: quarry blasts and injection swarms that cluster like aftershocks but don't scale with size.</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The reference does not hide this. It fits three ETAS variants, flags the bound-pinning out loud, and runs a declustering diagnostic to quantify the contamination.</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This is what honest modeling looks like: when a parameter does something strange, you investigate the data, not paper over it.</a:t>
            </a:r>
            <a:endParaRPr lang="en-US" sz="1600" b="0" strike="noStrike" spc="-1">
              <a:solidFill>
                <a:srgbClr val="FFFFFF"/>
              </a:solidFill>
              <a:latin typeface="Arial"/>
            </a:endParaRPr>
          </a:p>
        </p:txBody>
      </p:sp>
      <p:sp>
        <p:nvSpPr>
          <p:cNvPr id="376" name="Shape 5"/>
          <p:cNvSpPr/>
          <p:nvPr/>
        </p:nvSpPr>
        <p:spPr>
          <a:xfrm>
            <a:off x="1463040" y="5029200"/>
            <a:ext cx="9966600" cy="1096920"/>
          </a:xfrm>
          <a:prstGeom prst="roundRect">
            <a:avLst>
              <a:gd name="adj" fmla="val 5000"/>
            </a:avLst>
          </a:prstGeom>
          <a:solidFill>
            <a:srgbClr val="241A30"/>
          </a:solidFill>
          <a:ln w="12700">
            <a:solidFill>
              <a:srgbClr val="7B4E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77" name="Text 6"/>
          <p:cNvSpPr/>
          <p:nvPr/>
        </p:nvSpPr>
        <p:spPr>
          <a:xfrm>
            <a:off x="1737360" y="5139000"/>
            <a:ext cx="9417960" cy="87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a:solidFill>
                  <a:srgbClr val="D9C9EC"/>
                </a:solidFill>
                <a:latin typeface="Cambria"/>
                <a:ea typeface="Cambria"/>
              </a:rPr>
              <a:t>“α ≈ 0 is a real finding about the catalog, not a bug. Declustering the catalog and refitting is one of the highest-value tasks you can attempt.”</a:t>
            </a:r>
            <a:endParaRPr lang="en-US" sz="1600" b="0" strike="noStrike" spc="-1">
              <a:solidFill>
                <a:srgbClr val="FFFFFF"/>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37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INVESTIGATING THE PATHOLOGY</a:t>
            </a:r>
            <a:endParaRPr lang="en-US" sz="1300" b="0" strike="noStrike" spc="-1">
              <a:solidFill>
                <a:srgbClr val="000000"/>
              </a:solidFill>
              <a:latin typeface="Arial"/>
            </a:endParaRPr>
          </a:p>
        </p:txBody>
      </p:sp>
      <p:sp>
        <p:nvSpPr>
          <p:cNvPr id="37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The declustering diagnostic</a:t>
            </a:r>
            <a:endParaRPr lang="en-US" sz="3000" b="0" strike="noStrike" spc="-1">
              <a:solidFill>
                <a:srgbClr val="000000"/>
              </a:solidFill>
              <a:latin typeface="Arial"/>
            </a:endParaRPr>
          </a:p>
        </p:txBody>
      </p:sp>
      <p:pic>
        <p:nvPicPr>
          <p:cNvPr id="380" name="Image 0" descr="figs/full_08.png"/>
          <p:cNvPicPr/>
          <p:nvPr/>
        </p:nvPicPr>
        <p:blipFill>
          <a:blip r:embed="rId3"/>
          <a:stretch/>
        </p:blipFill>
        <p:spPr>
          <a:xfrm>
            <a:off x="3731760" y="1645920"/>
            <a:ext cx="4697640" cy="3657240"/>
          </a:xfrm>
          <a:prstGeom prst="rect">
            <a:avLst/>
          </a:prstGeom>
          <a:ln w="0">
            <a:noFill/>
          </a:ln>
        </p:spPr>
      </p:pic>
      <p:sp>
        <p:nvSpPr>
          <p:cNvPr id="38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Three checks for non-tectonic contamination: time-of-day, day-of-week, and space before/after window declustering. On this catalog there is no strong daytime or weekday excess, so α≈0 points to swarm clustering rather than blasts — and windowing still removes ~20% of events as dependent.</a:t>
            </a:r>
            <a:endParaRPr lang="en-US" sz="1100" b="0" strike="noStrike" spc="-1">
              <a:solidFill>
                <a:srgbClr val="000000"/>
              </a:solidFill>
              <a:latin typeface="Arial"/>
            </a:endParaRPr>
          </a:p>
        </p:txBody>
      </p:sp>
      <p:sp>
        <p:nvSpPr>
          <p:cNvPr id="38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8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8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The diagnostic doesn't preordain an answer — it shows you how to check. That is the difference between asserting 'blasts!' and demonstrating what the data actually supports.</a:t>
            </a:r>
            <a:endParaRPr lang="en-US" sz="1350" b="0" strike="noStrike" spc="-1">
              <a:solidFill>
                <a:srgbClr val="000000"/>
              </a:solidFill>
              <a:latin typeface="Arial"/>
            </a:endParaRPr>
          </a:p>
        </p:txBody>
      </p:sp>
      <p:sp>
        <p:nvSpPr>
          <p:cNvPr id="38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3 · Seismology You Need</a:t>
            </a:r>
            <a:endParaRPr lang="en-US" sz="1000" b="0" strike="noStrike" spc="-1">
              <a:solidFill>
                <a:srgbClr val="000000"/>
              </a:solidFill>
              <a:latin typeface="Arial"/>
            </a:endParaRPr>
          </a:p>
        </p:txBody>
      </p:sp>
      <p:sp>
        <p:nvSpPr>
          <p:cNvPr id="38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38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25</a:t>
            </a:r>
            <a:endParaRPr lang="en-US" sz="1000" b="0" strike="noStrike" spc="-1">
              <a:solidFill>
                <a:srgbClr val="00000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388" name="Shape 0"/>
          <p:cNvSpPr/>
          <p:nvPr/>
        </p:nvSpPr>
        <p:spPr>
          <a:xfrm>
            <a:off x="548640" y="457200"/>
            <a:ext cx="11091240" cy="822600"/>
          </a:xfrm>
          <a:prstGeom prst="roundRect">
            <a:avLst>
              <a:gd name="adj" fmla="val 6667"/>
            </a:avLst>
          </a:prstGeom>
          <a:solidFill>
            <a:srgbClr val="2A201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89" name="Text 1"/>
          <p:cNvSpPr/>
          <p:nvPr/>
        </p:nvSpPr>
        <p:spPr>
          <a:xfrm>
            <a:off x="822960" y="53028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TRY IT YOURSELF · 3.1</a:t>
            </a:r>
            <a:endParaRPr lang="en-US" sz="1300" b="0" strike="noStrike" spc="-1">
              <a:solidFill>
                <a:srgbClr val="000000"/>
              </a:solidFill>
              <a:latin typeface="Arial"/>
            </a:endParaRPr>
          </a:p>
        </p:txBody>
      </p:sp>
      <p:sp>
        <p:nvSpPr>
          <p:cNvPr id="390" name="Text 2"/>
          <p:cNvSpPr/>
          <p:nvPr/>
        </p:nvSpPr>
        <p:spPr>
          <a:xfrm>
            <a:off x="822960" y="786240"/>
            <a:ext cx="104238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Reason about the physics</a:t>
            </a:r>
            <a:endParaRPr lang="en-US" sz="2200" b="0" strike="noStrike" spc="-1">
              <a:solidFill>
                <a:srgbClr val="000000"/>
              </a:solidFill>
              <a:latin typeface="Arial"/>
            </a:endParaRPr>
          </a:p>
        </p:txBody>
      </p:sp>
      <p:sp>
        <p:nvSpPr>
          <p:cNvPr id="391" name="Shape 3"/>
          <p:cNvSpPr/>
          <p:nvPr/>
        </p:nvSpPr>
        <p:spPr>
          <a:xfrm>
            <a:off x="548640" y="1508760"/>
            <a:ext cx="11091240" cy="2742840"/>
          </a:xfrm>
          <a:prstGeom prst="roundRect">
            <a:avLst>
              <a:gd name="adj" fmla="val 2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2" name="Text 4"/>
          <p:cNvSpPr/>
          <p:nvPr/>
        </p:nvSpPr>
        <p:spPr>
          <a:xfrm>
            <a:off x="822960" y="16642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0392B"/>
                </a:solidFill>
                <a:latin typeface="Calibri"/>
                <a:ea typeface="Calibri"/>
              </a:rPr>
              <a:t>The task</a:t>
            </a:r>
            <a:endParaRPr lang="en-US" sz="1300" b="0" strike="noStrike" spc="-1">
              <a:solidFill>
                <a:srgbClr val="000000"/>
              </a:solidFill>
              <a:latin typeface="Arial"/>
            </a:endParaRPr>
          </a:p>
        </p:txBody>
      </p:sp>
      <p:sp>
        <p:nvSpPr>
          <p:cNvPr id="393" name="Text 5"/>
          <p:cNvSpPr/>
          <p:nvPr/>
        </p:nvSpPr>
        <p:spPr>
          <a:xfrm>
            <a:off x="868680" y="1974960"/>
            <a:ext cx="10423800" cy="214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You fit Gutenberg–Richter and get b = 0.62 for the eastern US. List two things you would check before believing it, in priority order.</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ETAS has a background term μ and a triggering term. In a region with a big aftershock sequence last month, which term dominates this month's forecast? What about in a long-quiet region?</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Explain in one sentence why fitting ETAS's five parameters to the catalog (event times and magnitudes) is not the same as fitting to the labels (did a qualifying quake occur in each cell-window).</a:t>
            </a:r>
            <a:endParaRPr lang="en-US" sz="1450" b="0" strike="noStrike" spc="-1">
              <a:solidFill>
                <a:srgbClr val="000000"/>
              </a:solidFill>
              <a:latin typeface="Arial"/>
            </a:endParaRPr>
          </a:p>
        </p:txBody>
      </p:sp>
      <p:sp>
        <p:nvSpPr>
          <p:cNvPr id="394" name="Shape 6"/>
          <p:cNvSpPr/>
          <p:nvPr/>
        </p:nvSpPr>
        <p:spPr>
          <a:xfrm>
            <a:off x="548640" y="4434840"/>
            <a:ext cx="11091240" cy="1599840"/>
          </a:xfrm>
          <a:prstGeom prst="roundRect">
            <a:avLst>
              <a:gd name="adj" fmla="val 4571"/>
            </a:avLst>
          </a:prstGeom>
          <a:solidFill>
            <a:srgbClr val="F0EEE8"/>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5" name="Text 7"/>
          <p:cNvSpPr/>
          <p:nvPr/>
        </p:nvSpPr>
        <p:spPr>
          <a:xfrm>
            <a:off x="822960" y="457200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5B6B7A"/>
                </a:solidFill>
                <a:latin typeface="Calibri"/>
                <a:ea typeface="Calibri"/>
              </a:rPr>
              <a:t>Hints</a:t>
            </a:r>
            <a:endParaRPr lang="en-US" sz="1300" b="0" strike="noStrike" spc="-1">
              <a:solidFill>
                <a:srgbClr val="000000"/>
              </a:solidFill>
              <a:latin typeface="Arial"/>
            </a:endParaRPr>
          </a:p>
        </p:txBody>
      </p:sp>
      <p:sp>
        <p:nvSpPr>
          <p:cNvPr id="396" name="Text 8"/>
          <p:cNvSpPr/>
          <p:nvPr/>
        </p:nvSpPr>
        <p:spPr>
          <a:xfrm>
            <a:off x="868680" y="4864680"/>
            <a:ext cx="104238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b far from 1.0 in a well-studied region is almost always a methodology artifact before it is a discovery.</a:t>
            </a:r>
            <a:endParaRPr lang="en-US" sz="1300" b="0" strike="noStrike" spc="-1">
              <a:solidFill>
                <a:srgbClr val="000000"/>
              </a:solidFill>
              <a:latin typeface="Arial"/>
            </a:endParaRPr>
          </a:p>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The Omori term (t−tᵢ+c)^(−p) decays with time since each past event.</a:t>
            </a:r>
            <a:endParaRPr lang="en-US" sz="1300" b="0" strike="noStrike" spc="-1">
              <a:solidFill>
                <a:srgbClr val="000000"/>
              </a:solidFill>
              <a:latin typeface="Arial"/>
            </a:endParaRPr>
          </a:p>
        </p:txBody>
      </p:sp>
      <p:sp>
        <p:nvSpPr>
          <p:cNvPr id="397" name="Text 9"/>
          <p:cNvSpPr/>
          <p:nvPr/>
        </p:nvSpPr>
        <p:spPr>
          <a:xfrm>
            <a:off x="548640" y="614484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strike="noStrike" spc="-1">
                <a:solidFill>
                  <a:srgbClr val="5B6B7A"/>
                </a:solidFill>
                <a:latin typeface="Calibri"/>
                <a:ea typeface="Calibri"/>
              </a:rPr>
              <a:t>Work this before turning the page. The answer key is at the end of the module.</a:t>
            </a:r>
            <a:endParaRPr lang="en-US" sz="1150" b="0" strike="noStrike" spc="-1">
              <a:solidFill>
                <a:srgbClr val="000000"/>
              </a:solidFill>
              <a:latin typeface="Arial"/>
            </a:endParaRPr>
          </a:p>
        </p:txBody>
      </p:sp>
      <p:sp>
        <p:nvSpPr>
          <p:cNvPr id="398" name="Text 10"/>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3 · Seismology You Need</a:t>
            </a:r>
            <a:endParaRPr lang="en-US" sz="1000" b="0" strike="noStrike" spc="-1">
              <a:solidFill>
                <a:srgbClr val="000000"/>
              </a:solidFill>
              <a:latin typeface="Arial"/>
            </a:endParaRPr>
          </a:p>
        </p:txBody>
      </p:sp>
      <p:sp>
        <p:nvSpPr>
          <p:cNvPr id="399" name="Text 11"/>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400" name="Text 12"/>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26</a:t>
            </a:r>
            <a:endParaRPr lang="en-US" sz="1000" b="0" strike="noStrike" spc="-1">
              <a:solidFill>
                <a:srgbClr val="00000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401" name="Shape 0"/>
          <p:cNvSpPr/>
          <p:nvPr/>
        </p:nvSpPr>
        <p:spPr>
          <a:xfrm>
            <a:off x="548640" y="457200"/>
            <a:ext cx="11091240" cy="785880"/>
          </a:xfrm>
          <a:prstGeom prst="roundRect">
            <a:avLst>
              <a:gd name="adj" fmla="val 6977"/>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02" name="Text 1"/>
          <p:cNvSpPr/>
          <p:nvPr/>
        </p:nvSpPr>
        <p:spPr>
          <a:xfrm>
            <a:off x="822960" y="530280"/>
            <a:ext cx="10058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FF3E7"/>
                </a:solidFill>
                <a:latin typeface="Calibri"/>
                <a:ea typeface="Calibri"/>
              </a:rPr>
              <a:t>ANSWER KEY · MODULE 3</a:t>
            </a:r>
            <a:endParaRPr lang="en-US" sz="1300" b="0" strike="noStrike" spc="-1">
              <a:solidFill>
                <a:srgbClr val="000000"/>
              </a:solidFill>
              <a:latin typeface="Arial"/>
            </a:endParaRPr>
          </a:p>
        </p:txBody>
      </p:sp>
      <p:sp>
        <p:nvSpPr>
          <p:cNvPr id="403" name="Text 2"/>
          <p:cNvSpPr/>
          <p:nvPr/>
        </p:nvSpPr>
        <p:spPr>
          <a:xfrm>
            <a:off x="822960" y="786240"/>
            <a:ext cx="100580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Check your work</a:t>
            </a:r>
            <a:endParaRPr lang="en-US" sz="2200" b="0" strike="noStrike" spc="-1">
              <a:solidFill>
                <a:srgbClr val="000000"/>
              </a:solidFill>
              <a:latin typeface="Arial"/>
            </a:endParaRPr>
          </a:p>
        </p:txBody>
      </p:sp>
      <p:sp>
        <p:nvSpPr>
          <p:cNvPr id="404" name="Shape 3"/>
          <p:cNvSpPr/>
          <p:nvPr/>
        </p:nvSpPr>
        <p:spPr>
          <a:xfrm>
            <a:off x="548640" y="1481400"/>
            <a:ext cx="11091240" cy="1096920"/>
          </a:xfrm>
          <a:prstGeom prst="roundRect">
            <a:avLst>
              <a:gd name="adj" fmla="val 6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05" name="Text 4"/>
          <p:cNvSpPr/>
          <p:nvPr/>
        </p:nvSpPr>
        <p:spPr>
          <a:xfrm>
            <a:off x="822960" y="1591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3.1 — b = 0.62, what to check</a:t>
            </a:r>
            <a:endParaRPr lang="en-US" sz="1400" b="0" strike="noStrike" spc="-1">
              <a:solidFill>
                <a:srgbClr val="000000"/>
              </a:solidFill>
              <a:latin typeface="Arial"/>
            </a:endParaRPr>
          </a:p>
        </p:txBody>
      </p:sp>
      <p:sp>
        <p:nvSpPr>
          <p:cNvPr id="406" name="Text 5"/>
          <p:cNvSpPr/>
          <p:nvPr/>
        </p:nvSpPr>
        <p:spPr>
          <a:xfrm>
            <a:off x="868680" y="1901880"/>
            <a:ext cx="10515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1. Magnitude of completeness first — a too-low Mc includes incomplete small events and biases b down. This explains most implausible b-values.</a:t>
            </a:r>
            <a:endParaRPr lang="en-US" sz="1280" b="0" strike="noStrike" spc="-1">
              <a:solidFill>
                <a:srgbClr val="000000"/>
              </a:solidFill>
              <a:latin typeface="Arial"/>
            </a:endParaRPr>
          </a:p>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2. Catalog contamination — blasts/swarms distort the magnitude-frequency distribution. Decluster and refit.</a:t>
            </a:r>
            <a:endParaRPr lang="en-US" sz="1280" b="0" strike="noStrike" spc="-1">
              <a:solidFill>
                <a:srgbClr val="000000"/>
              </a:solidFill>
              <a:latin typeface="Arial"/>
            </a:endParaRPr>
          </a:p>
        </p:txBody>
      </p:sp>
      <p:sp>
        <p:nvSpPr>
          <p:cNvPr id="407" name="Shape 6"/>
          <p:cNvSpPr/>
          <p:nvPr/>
        </p:nvSpPr>
        <p:spPr>
          <a:xfrm>
            <a:off x="548640" y="2688480"/>
            <a:ext cx="11091240" cy="959760"/>
          </a:xfrm>
          <a:prstGeom prst="roundRect">
            <a:avLst>
              <a:gd name="adj" fmla="val 7619"/>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08" name="Text 7"/>
          <p:cNvSpPr/>
          <p:nvPr/>
        </p:nvSpPr>
        <p:spPr>
          <a:xfrm>
            <a:off x="822960" y="279792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3.1 — which ETAS term dominates</a:t>
            </a:r>
            <a:endParaRPr lang="en-US" sz="1400" b="0" strike="noStrike" spc="-1">
              <a:solidFill>
                <a:srgbClr val="000000"/>
              </a:solidFill>
              <a:latin typeface="Arial"/>
            </a:endParaRPr>
          </a:p>
        </p:txBody>
      </p:sp>
      <p:sp>
        <p:nvSpPr>
          <p:cNvPr id="409" name="Text 8"/>
          <p:cNvSpPr/>
          <p:nvPr/>
        </p:nvSpPr>
        <p:spPr>
          <a:xfrm>
            <a:off x="868680" y="3108960"/>
            <a:ext cx="105152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After a big sequence, the triggering term (aftershocks decaying via Omori's law) dominates. In a long-quiet region, triggering has decayed away and the background μ dominates. This is exactly why ETAS is strong: it adapts to recent activity.</a:t>
            </a:r>
            <a:endParaRPr lang="en-US" sz="1280" b="0" strike="noStrike" spc="-1">
              <a:solidFill>
                <a:srgbClr val="000000"/>
              </a:solidFill>
              <a:latin typeface="Arial"/>
            </a:endParaRPr>
          </a:p>
        </p:txBody>
      </p:sp>
      <p:sp>
        <p:nvSpPr>
          <p:cNvPr id="410" name="Shape 9"/>
          <p:cNvSpPr/>
          <p:nvPr/>
        </p:nvSpPr>
        <p:spPr>
          <a:xfrm>
            <a:off x="548640" y="3758040"/>
            <a:ext cx="11091240" cy="959760"/>
          </a:xfrm>
          <a:prstGeom prst="roundRect">
            <a:avLst>
              <a:gd name="adj" fmla="val 7619"/>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11" name="Text 10"/>
          <p:cNvSpPr/>
          <p:nvPr/>
        </p:nvSpPr>
        <p:spPr>
          <a:xfrm>
            <a:off x="822960" y="386784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3.1 — catalog vs labels</a:t>
            </a:r>
            <a:endParaRPr lang="en-US" sz="1400" b="0" strike="noStrike" spc="-1">
              <a:solidFill>
                <a:srgbClr val="000000"/>
              </a:solidFill>
              <a:latin typeface="Arial"/>
            </a:endParaRPr>
          </a:p>
        </p:txBody>
      </p:sp>
      <p:sp>
        <p:nvSpPr>
          <p:cNvPr id="412" name="Text 11"/>
          <p:cNvSpPr/>
          <p:nvPr/>
        </p:nvSpPr>
        <p:spPr>
          <a:xfrm>
            <a:off x="868680" y="4178880"/>
            <a:ext cx="105152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Fitting to the catalog uses only observed event times and magnitudes to estimate physical constants; it never sees whether your specific cell-window target was positive — so it cannot overfit the scoring task, which is why it generalizes so well.</a:t>
            </a:r>
            <a:endParaRPr lang="en-US" sz="1280" b="0" strike="noStrike" spc="-1">
              <a:solidFill>
                <a:srgbClr val="000000"/>
              </a:solidFill>
              <a:latin typeface="Arial"/>
            </a:endParaRPr>
          </a:p>
        </p:txBody>
      </p:sp>
      <p:sp>
        <p:nvSpPr>
          <p:cNvPr id="413" name="Text 1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3 · Seismology You Need</a:t>
            </a:r>
            <a:endParaRPr lang="en-US" sz="1000" b="0" strike="noStrike" spc="-1">
              <a:solidFill>
                <a:srgbClr val="000000"/>
              </a:solidFill>
              <a:latin typeface="Arial"/>
            </a:endParaRPr>
          </a:p>
        </p:txBody>
      </p:sp>
      <p:sp>
        <p:nvSpPr>
          <p:cNvPr id="414" name="Text 1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415" name="Text 1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27</a:t>
            </a:r>
            <a:endParaRPr lang="en-US" sz="1000" b="0" strike="noStrike" spc="-1">
              <a:solidFill>
                <a:srgbClr val="00000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416" name="Shape 0"/>
          <p:cNvSpPr/>
          <p:nvPr/>
        </p:nvSpPr>
        <p:spPr>
          <a:xfrm>
            <a:off x="640080" y="1371600"/>
            <a:ext cx="1371240" cy="137124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17" name="Text 1"/>
          <p:cNvSpPr/>
          <p:nvPr/>
        </p:nvSpPr>
        <p:spPr>
          <a:xfrm>
            <a:off x="640080" y="137160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6200" b="1" strike="noStrike" spc="-1">
                <a:solidFill>
                  <a:srgbClr val="FFFFFF"/>
                </a:solidFill>
                <a:latin typeface="Cambria"/>
                <a:ea typeface="Cambria"/>
              </a:rPr>
              <a:t>4</a:t>
            </a:r>
            <a:endParaRPr lang="en-US" sz="6200" b="0" strike="noStrike" spc="-1">
              <a:solidFill>
                <a:srgbClr val="FFFFFF"/>
              </a:solidFill>
              <a:latin typeface="Arial"/>
            </a:endParaRPr>
          </a:p>
        </p:txBody>
      </p:sp>
      <p:sp>
        <p:nvSpPr>
          <p:cNvPr id="418" name="Text 2"/>
          <p:cNvSpPr/>
          <p:nvPr/>
        </p:nvSpPr>
        <p:spPr>
          <a:xfrm>
            <a:off x="2331720" y="14814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299">
                <a:solidFill>
                  <a:srgbClr val="1F6FB2"/>
                </a:solidFill>
                <a:latin typeface="Calibri"/>
                <a:ea typeface="Calibri"/>
              </a:rPr>
              <a:t>MODULE 4</a:t>
            </a:r>
            <a:endParaRPr lang="en-US" sz="1500" b="0" strike="noStrike" spc="-1">
              <a:solidFill>
                <a:srgbClr val="FFFFFF"/>
              </a:solidFill>
              <a:latin typeface="Arial"/>
            </a:endParaRPr>
          </a:p>
        </p:txBody>
      </p:sp>
      <p:sp>
        <p:nvSpPr>
          <p:cNvPr id="419" name="Text 3"/>
          <p:cNvSpPr/>
          <p:nvPr/>
        </p:nvSpPr>
        <p:spPr>
          <a:xfrm>
            <a:off x="2286000" y="1810440"/>
            <a:ext cx="932652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4000" b="1" strike="noStrike" spc="-1">
                <a:solidFill>
                  <a:srgbClr val="FFFFFF"/>
                </a:solidFill>
                <a:latin typeface="Cambria"/>
                <a:ea typeface="Cambria"/>
              </a:rPr>
              <a:t>Feature Engineering</a:t>
            </a:r>
            <a:endParaRPr lang="en-US" sz="4000" b="0" strike="noStrike" spc="-1">
              <a:solidFill>
                <a:srgbClr val="FFFFFF"/>
              </a:solidFill>
              <a:latin typeface="Arial"/>
            </a:endParaRPr>
          </a:p>
        </p:txBody>
      </p:sp>
      <p:sp>
        <p:nvSpPr>
          <p:cNvPr id="420" name="Text 4"/>
          <p:cNvSpPr/>
          <p:nvPr/>
        </p:nvSpPr>
        <p:spPr>
          <a:xfrm>
            <a:off x="2331720" y="2743200"/>
            <a:ext cx="9052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strike="noStrike" spc="-1">
                <a:solidFill>
                  <a:srgbClr val="C7D0D9"/>
                </a:solidFill>
                <a:latin typeface="Calibri"/>
                <a:ea typeface="Calibri"/>
              </a:rPr>
              <a:t>Turning five raw streams into a design matrix a model can learn from.</a:t>
            </a:r>
            <a:endParaRPr lang="en-US" sz="1700" b="0" strike="noStrike" spc="-1">
              <a:solidFill>
                <a:srgbClr val="FFFFFF"/>
              </a:solidFill>
              <a:latin typeface="Arial"/>
            </a:endParaRPr>
          </a:p>
        </p:txBody>
      </p:sp>
      <p:sp>
        <p:nvSpPr>
          <p:cNvPr id="421" name="Text 5"/>
          <p:cNvSpPr/>
          <p:nvPr/>
        </p:nvSpPr>
        <p:spPr>
          <a:xfrm>
            <a:off x="2331720" y="36118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8996A3"/>
                </a:solidFill>
                <a:latin typeface="Calibri"/>
                <a:ea typeface="Calibri"/>
              </a:rPr>
              <a:t>IN THIS MODULE</a:t>
            </a:r>
            <a:endParaRPr lang="en-US" sz="1200" b="0" strike="noStrike" spc="-1">
              <a:solidFill>
                <a:srgbClr val="FFFFFF"/>
              </a:solidFill>
              <a:latin typeface="Arial"/>
            </a:endParaRPr>
          </a:p>
        </p:txBody>
      </p:sp>
      <p:sp>
        <p:nvSpPr>
          <p:cNvPr id="422" name="Text 6"/>
          <p:cNvSpPr/>
          <p:nvPr/>
        </p:nvSpPr>
        <p:spPr>
          <a:xfrm>
            <a:off x="2331720" y="3931920"/>
            <a:ext cx="914364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The grid-training trick that avoids a train/deploy mismatch</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The 153 classical features, by family</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Importance is not value: the spatial-fingerprint trap</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Handing the model physics instead of asking it to reinvent physics</a:t>
            </a:r>
            <a:endParaRPr lang="en-US" sz="1450" b="0" strike="noStrike" spc="-1">
              <a:solidFill>
                <a:srgbClr val="FFFFFF"/>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423"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THE KEY MOVE</a:t>
            </a:r>
            <a:endParaRPr lang="en-US" sz="1300" b="0" strike="noStrike" spc="-1">
              <a:solidFill>
                <a:srgbClr val="000000"/>
              </a:solidFill>
              <a:latin typeface="Arial"/>
            </a:endParaRPr>
          </a:p>
        </p:txBody>
      </p:sp>
      <p:sp>
        <p:nvSpPr>
          <p:cNvPr id="424"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Train the way you will be scored</a:t>
            </a:r>
            <a:endParaRPr lang="en-US" sz="3000" b="0" strike="noStrike" spc="-1">
              <a:solidFill>
                <a:srgbClr val="000000"/>
              </a:solidFill>
              <a:latin typeface="Arial"/>
            </a:endParaRPr>
          </a:p>
        </p:txBody>
      </p:sp>
      <p:sp>
        <p:nvSpPr>
          <p:cNvPr id="425"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You will be scored on a grid of cells evaluated at one issue date. So build your training data the same way:</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Take the same grid of cells, evaluate it at many historical issue dates, and label each row with whether a qualifying quake occurred in that cell's future 30-day window.</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8E2A20"/>
                </a:solidFill>
                <a:latin typeface="Calibri"/>
                <a:ea typeface="Calibri"/>
              </a:rPr>
              <a:t>The trap:</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 training on event-centered rows (one row per past earthquake) but scoring on grid cells. The distributions differ, and the model silently mismatches its deployment.</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1F6FB2"/>
                </a:solidFill>
                <a:latin typeface="Calibri"/>
                <a:ea typeface="Calibri"/>
              </a:rPr>
              <a:t>Rows = cells × issue-dates × lead-windows.</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 At full scale that is ~248,000 training rows.</a:t>
            </a:r>
            <a:endParaRPr lang="en-US" sz="1500" b="0" strike="noStrike" spc="-1">
              <a:solidFill>
                <a:srgbClr val="000000"/>
              </a:solidFill>
              <a:latin typeface="Arial"/>
            </a:endParaRPr>
          </a:p>
        </p:txBody>
      </p:sp>
      <p:sp>
        <p:nvSpPr>
          <p:cNvPr id="426" name="Shape 3"/>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27" name="Shape 4"/>
          <p:cNvSpPr/>
          <p:nvPr/>
        </p:nvSpPr>
        <p:spPr>
          <a:xfrm>
            <a:off x="6949440" y="2231280"/>
            <a:ext cx="292320" cy="29232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28"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Train as grid</a:t>
            </a:r>
            <a:endParaRPr lang="en-US" sz="1450" b="0" strike="noStrike" spc="-1">
              <a:solidFill>
                <a:srgbClr val="000000"/>
              </a:solidFill>
              <a:latin typeface="Arial"/>
            </a:endParaRPr>
          </a:p>
        </p:txBody>
      </p:sp>
      <p:sp>
        <p:nvSpPr>
          <p:cNvPr id="429" name="Text 6"/>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Cells × many issue dates. Labels from each date's future window. Matches scoring exactly.</a:t>
            </a:r>
            <a:endParaRPr lang="en-US" sz="1200" b="0" strike="noStrike" spc="-1">
              <a:solidFill>
                <a:srgbClr val="000000"/>
              </a:solidFill>
              <a:latin typeface="Arial"/>
            </a:endParaRPr>
          </a:p>
        </p:txBody>
      </p:sp>
      <p:sp>
        <p:nvSpPr>
          <p:cNvPr id="430" name="Shape 7"/>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31" name="Shape 8"/>
          <p:cNvSpPr/>
          <p:nvPr/>
        </p:nvSpPr>
        <p:spPr>
          <a:xfrm>
            <a:off x="6949440" y="378576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32" name="Text 9"/>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Not event-centered</a:t>
            </a:r>
            <a:endParaRPr lang="en-US" sz="1450" b="0" strike="noStrike" spc="-1">
              <a:solidFill>
                <a:srgbClr val="000000"/>
              </a:solidFill>
              <a:latin typeface="Arial"/>
            </a:endParaRPr>
          </a:p>
        </p:txBody>
      </p:sp>
      <p:sp>
        <p:nvSpPr>
          <p:cNvPr id="433" name="Text 10"/>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One-row-per-earthquake training looks natural and quietly breaks at deployment.</a:t>
            </a:r>
            <a:endParaRPr lang="en-US" sz="1200" b="0" strike="noStrike" spc="-1">
              <a:solidFill>
                <a:srgbClr val="000000"/>
              </a:solidFill>
              <a:latin typeface="Arial"/>
            </a:endParaRPr>
          </a:p>
        </p:txBody>
      </p:sp>
      <p:sp>
        <p:nvSpPr>
          <p:cNvPr id="434" name="Shape 11"/>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35" name="Shape 12"/>
          <p:cNvSpPr/>
          <p:nvPr/>
        </p:nvSpPr>
        <p:spPr>
          <a:xfrm>
            <a:off x="6949440" y="534024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36" name="Text 13"/>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Leakage-safe</a:t>
            </a:r>
            <a:endParaRPr lang="en-US" sz="1450" b="0" strike="noStrike" spc="-1">
              <a:solidFill>
                <a:srgbClr val="000000"/>
              </a:solidFill>
              <a:latin typeface="Arial"/>
            </a:endParaRPr>
          </a:p>
        </p:txBody>
      </p:sp>
      <p:sp>
        <p:nvSpPr>
          <p:cNvPr id="437" name="Text 14"/>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Every feature strictly pre-issue; labels strictly post-issue. No overlap.</a:t>
            </a:r>
            <a:endParaRPr lang="en-US" sz="1200" b="0" strike="noStrike" spc="-1">
              <a:solidFill>
                <a:srgbClr val="000000"/>
              </a:solidFill>
              <a:latin typeface="Arial"/>
            </a:endParaRPr>
          </a:p>
        </p:txBody>
      </p:sp>
      <p:sp>
        <p:nvSpPr>
          <p:cNvPr id="438" name="Text 1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4 · Feature Engineering</a:t>
            </a:r>
            <a:endParaRPr lang="en-US" sz="1000" b="0" strike="noStrike" spc="-1">
              <a:solidFill>
                <a:srgbClr val="000000"/>
              </a:solidFill>
              <a:latin typeface="Arial"/>
            </a:endParaRPr>
          </a:p>
        </p:txBody>
      </p:sp>
      <p:sp>
        <p:nvSpPr>
          <p:cNvPr id="439" name="Text 1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440" name="Text 1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29</a:t>
            </a:r>
            <a:endParaRPr lang="en-US" sz="1000" b="0" strike="noStrike" spc="-1">
              <a:solidFill>
                <a:srgbClr val="000000"/>
              </a:solidFill>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441"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THE FEATURE INVENTORY</a:t>
            </a:r>
            <a:endParaRPr lang="en-US" sz="1300" b="0" strike="noStrike" spc="-1">
              <a:solidFill>
                <a:srgbClr val="000000"/>
              </a:solidFill>
              <a:latin typeface="Arial"/>
            </a:endParaRPr>
          </a:p>
        </p:txBody>
      </p:sp>
      <p:sp>
        <p:nvSpPr>
          <p:cNvPr id="442"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153 classical features, by family</a:t>
            </a:r>
            <a:endParaRPr lang="en-US" sz="3000" b="0" strike="noStrike" spc="-1">
              <a:solidFill>
                <a:srgbClr val="000000"/>
              </a:solidFill>
              <a:latin typeface="Arial"/>
            </a:endParaRPr>
          </a:p>
        </p:txBody>
      </p:sp>
      <p:pic>
        <p:nvPicPr>
          <p:cNvPr id="443" name="Image 0" descr="figs/full_09.png"/>
          <p:cNvPicPr/>
          <p:nvPr/>
        </p:nvPicPr>
        <p:blipFill>
          <a:blip r:embed="rId3"/>
          <a:stretch/>
        </p:blipFill>
        <p:spPr>
          <a:xfrm>
            <a:off x="3277080" y="1645920"/>
            <a:ext cx="5607360" cy="3657240"/>
          </a:xfrm>
          <a:prstGeom prst="rect">
            <a:avLst/>
          </a:prstGeom>
          <a:ln w="0">
            <a:noFill/>
          </a:ln>
        </p:spPr>
      </p:pic>
      <p:sp>
        <p:nvSpPr>
          <p:cNvPr id="444"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Feature families and the class balance they must explain. Multi-radius × multi-window seismicity counts, magnitude and b-value statistics, ETAS intensity, recency and acceleration, distances to seismic zones, plus geomagnetic / solar / tidal / GPS windows.</a:t>
            </a:r>
            <a:endParaRPr lang="en-US" sz="1100" b="0" strike="noStrike" spc="-1">
              <a:solidFill>
                <a:srgbClr val="000000"/>
              </a:solidFill>
              <a:latin typeface="Arial"/>
            </a:endParaRPr>
          </a:p>
        </p:txBody>
      </p:sp>
      <p:sp>
        <p:nvSpPr>
          <p:cNvPr id="445"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46"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47"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Good features encode domain knowledge: multi-scale counts (50/100/200 km × 7/30/90/365 days), physical rates, and distances. The model cannot invent these from raw numbers — you must build them.</a:t>
            </a:r>
            <a:endParaRPr lang="en-US" sz="1350" b="0" strike="noStrike" spc="-1">
              <a:solidFill>
                <a:srgbClr val="000000"/>
              </a:solidFill>
              <a:latin typeface="Arial"/>
            </a:endParaRPr>
          </a:p>
        </p:txBody>
      </p:sp>
      <p:sp>
        <p:nvSpPr>
          <p:cNvPr id="448"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4 · Feature Engineering</a:t>
            </a:r>
            <a:endParaRPr lang="en-US" sz="1000" b="0" strike="noStrike" spc="-1">
              <a:solidFill>
                <a:srgbClr val="000000"/>
              </a:solidFill>
              <a:latin typeface="Arial"/>
            </a:endParaRPr>
          </a:p>
        </p:txBody>
      </p:sp>
      <p:sp>
        <p:nvSpPr>
          <p:cNvPr id="449"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450"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30</a:t>
            </a:r>
            <a:endParaRPr lang="en-US" sz="1000" b="0" strike="noStrike" spc="-1">
              <a:solidFill>
                <a:srgbClr val="000000"/>
              </a:solidFill>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451"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THE SUBTLE TRAP</a:t>
            </a:r>
            <a:endParaRPr lang="en-US" sz="1300" b="0" strike="noStrike" spc="-1">
              <a:solidFill>
                <a:srgbClr val="000000"/>
              </a:solidFill>
              <a:latin typeface="Arial"/>
            </a:endParaRPr>
          </a:p>
        </p:txBody>
      </p:sp>
      <p:sp>
        <p:nvSpPr>
          <p:cNvPr id="452"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Importance is not marginal value</a:t>
            </a:r>
            <a:endParaRPr lang="en-US" sz="3000" b="0" strike="noStrike" spc="-1">
              <a:solidFill>
                <a:srgbClr val="000000"/>
              </a:solidFill>
              <a:latin typeface="Arial"/>
            </a:endParaRPr>
          </a:p>
        </p:txBody>
      </p:sp>
      <p:sp>
        <p:nvSpPr>
          <p:cNvPr id="453"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Tree models report 'feature importance' by how often a feature helps split the data. That rewards any feature that helps the model identify which cell it is looking at.</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GPS velocities, station distances, and zone distances are nearly constant per cell. A tree loves them — they are a perfect spatial fingerprint — so they score high importance.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8E2A20"/>
                </a:solidFill>
                <a:latin typeface="Calibri"/>
                <a:ea typeface="Calibri"/>
              </a:rPr>
              <a:t>But they add almost zero predictive value.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 The model is using them to memorize per-cell base rates, not to forecast.</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The reference measures each feature's temporal variance and ranks dynamic features by permutation importance — the honest measure of what actually helps out of sample.</a:t>
            </a:r>
            <a:endParaRPr lang="en-US" sz="1500" b="0" strike="noStrike" spc="-1">
              <a:solidFill>
                <a:srgbClr val="000000"/>
              </a:solidFill>
              <a:latin typeface="Arial"/>
            </a:endParaRPr>
          </a:p>
        </p:txBody>
      </p:sp>
      <p:pic>
        <p:nvPicPr>
          <p:cNvPr id="454" name="Image 0" descr="figs/full_12.png"/>
          <p:cNvPicPr/>
          <p:nvPr/>
        </p:nvPicPr>
        <p:blipFill>
          <a:blip r:embed="rId3"/>
          <a:stretch/>
        </p:blipFill>
        <p:spPr>
          <a:xfrm>
            <a:off x="6766560" y="3320280"/>
            <a:ext cx="4873320" cy="766080"/>
          </a:xfrm>
          <a:prstGeom prst="rect">
            <a:avLst/>
          </a:prstGeom>
          <a:ln w="0">
            <a:noFill/>
          </a:ln>
        </p:spPr>
      </p:pic>
      <p:sp>
        <p:nvSpPr>
          <p:cNvPr id="455" name="Text 3"/>
          <p:cNvSpPr/>
          <p:nvPr/>
        </p:nvSpPr>
        <p:spPr>
          <a:xfrm>
            <a:off x="6766560" y="5751720"/>
            <a:ext cx="48733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Tree gain vs. how much a feature actually varies in time. High-gain, low-variance features (upper left) are spatial fingerprints — the model memorizing location, not forecasting.</a:t>
            </a:r>
            <a:endParaRPr lang="en-US" sz="1100" b="0" strike="noStrike" spc="-1">
              <a:solidFill>
                <a:srgbClr val="000000"/>
              </a:solidFill>
              <a:latin typeface="Arial"/>
            </a:endParaRPr>
          </a:p>
        </p:txBody>
      </p:sp>
      <p:sp>
        <p:nvSpPr>
          <p:cNvPr id="456" name="Text 4"/>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4 · Feature Engineering</a:t>
            </a:r>
            <a:endParaRPr lang="en-US" sz="1000" b="0" strike="noStrike" spc="-1">
              <a:solidFill>
                <a:srgbClr val="000000"/>
              </a:solidFill>
              <a:latin typeface="Arial"/>
            </a:endParaRPr>
          </a:p>
        </p:txBody>
      </p:sp>
      <p:sp>
        <p:nvSpPr>
          <p:cNvPr id="457" name="Text 5"/>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458" name="Text 6"/>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31</a:t>
            </a:r>
            <a:endParaRPr lang="en-US" sz="1000" b="0" strike="noStrike" spc="-1">
              <a:solidFill>
                <a:srgbClr val="000000"/>
              </a:solidFill>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459" name="Shape 0"/>
          <p:cNvSpPr/>
          <p:nvPr/>
        </p:nvSpPr>
        <p:spPr>
          <a:xfrm>
            <a:off x="640080" y="640080"/>
            <a:ext cx="639720" cy="6397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60" name="Text 1"/>
          <p:cNvSpPr/>
          <p:nvPr/>
        </p:nvSpPr>
        <p:spPr>
          <a:xfrm>
            <a:off x="640080" y="621720"/>
            <a:ext cx="639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strike="noStrike" spc="-1">
                <a:solidFill>
                  <a:srgbClr val="FFFFFF"/>
                </a:solidFill>
                <a:latin typeface="Cambria"/>
                <a:ea typeface="Cambria"/>
              </a:rPr>
              <a:t>✓</a:t>
            </a:r>
            <a:endParaRPr lang="en-US" sz="3000" b="0" strike="noStrike" spc="-1">
              <a:solidFill>
                <a:srgbClr val="FFFFFF"/>
              </a:solidFill>
              <a:latin typeface="Arial"/>
            </a:endParaRPr>
          </a:p>
        </p:txBody>
      </p:sp>
      <p:sp>
        <p:nvSpPr>
          <p:cNvPr id="461" name="Text 2"/>
          <p:cNvSpPr/>
          <p:nvPr/>
        </p:nvSpPr>
        <p:spPr>
          <a:xfrm>
            <a:off x="1463040" y="658440"/>
            <a:ext cx="9143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99">
                <a:solidFill>
                  <a:srgbClr val="7B4EA8"/>
                </a:solidFill>
                <a:latin typeface="Calibri"/>
                <a:ea typeface="Calibri"/>
              </a:rPr>
              <a:t>HONESTY CHECKPOINT</a:t>
            </a:r>
            <a:endParaRPr lang="en-US" sz="1500" b="0" strike="noStrike" spc="-1">
              <a:solidFill>
                <a:srgbClr val="FFFFFF"/>
              </a:solidFill>
              <a:latin typeface="Arial"/>
            </a:endParaRPr>
          </a:p>
        </p:txBody>
      </p:sp>
      <p:sp>
        <p:nvSpPr>
          <p:cNvPr id="462" name="Text 3"/>
          <p:cNvSpPr/>
          <p:nvPr/>
        </p:nvSpPr>
        <p:spPr>
          <a:xfrm>
            <a:off x="1463040" y="969120"/>
            <a:ext cx="10058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2700" b="1" strike="noStrike" spc="-1">
                <a:solidFill>
                  <a:srgbClr val="FFFFFF"/>
                </a:solidFill>
                <a:latin typeface="Cambria"/>
                <a:ea typeface="Cambria"/>
              </a:rPr>
              <a:t>Give the model physics; don't make it guess</a:t>
            </a:r>
            <a:endParaRPr lang="en-US" sz="2700" b="0" strike="noStrike" spc="-1">
              <a:solidFill>
                <a:srgbClr val="FFFFFF"/>
              </a:solidFill>
              <a:latin typeface="Arial"/>
            </a:endParaRPr>
          </a:p>
        </p:txBody>
      </p:sp>
      <p:sp>
        <p:nvSpPr>
          <p:cNvPr id="463" name="Text 4"/>
          <p:cNvSpPr/>
          <p:nvPr/>
        </p:nvSpPr>
        <p:spPr>
          <a:xfrm>
            <a:off x="1463040" y="2103120"/>
            <a:ext cx="996660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spcAft>
                <a:spcPts val="1199"/>
              </a:spcAft>
              <a:tabLst>
                <a:tab pos="0" algn="l"/>
              </a:tabLst>
            </a:pPr>
            <a:r>
              <a:rPr lang="en-US" sz="1600" b="0" strike="noStrike" spc="-1">
                <a:solidFill>
                  <a:srgbClr val="E4E9EE"/>
                </a:solidFill>
                <a:latin typeface="Calibri"/>
                <a:ea typeface="Calibri"/>
              </a:rPr>
              <a:t>A 250-feature tree, asked to rediscover ETAS from raw counts, overfits and generalizes worse than the five-parameter physics model.</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1" strike="noStrike" spc="-1">
                <a:solidFill>
                  <a:srgbClr val="E9DDF5"/>
                </a:solidFill>
                <a:latin typeface="Calibri"/>
                <a:ea typeface="Calibri"/>
              </a:rPr>
              <a:t>The fix: hand the ETAS forecast to the ML as a feature.</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The reference feeds each cell-window's fitted ETAS probability in as an input, and even boosts on top of it (physics as the starting point, trees learn only the residual correction).</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Now the ML cannot lose to physics by ignorance — at worst it reproduces ETAS, at best it nudges it. This is 'physics-informed ML' done concretely.</a:t>
            </a:r>
            <a:endParaRPr lang="en-US" sz="1600" b="0" strike="noStrike" spc="-1">
              <a:solidFill>
                <a:srgbClr val="FFFFFF"/>
              </a:solidFill>
              <a:latin typeface="Arial"/>
            </a:endParaRPr>
          </a:p>
        </p:txBody>
      </p:sp>
      <p:sp>
        <p:nvSpPr>
          <p:cNvPr id="464" name="Shape 5"/>
          <p:cNvSpPr/>
          <p:nvPr/>
        </p:nvSpPr>
        <p:spPr>
          <a:xfrm>
            <a:off x="1463040" y="5029200"/>
            <a:ext cx="9966600" cy="1096920"/>
          </a:xfrm>
          <a:prstGeom prst="roundRect">
            <a:avLst>
              <a:gd name="adj" fmla="val 5000"/>
            </a:avLst>
          </a:prstGeom>
          <a:solidFill>
            <a:srgbClr val="241A30"/>
          </a:solidFill>
          <a:ln w="12700">
            <a:solidFill>
              <a:srgbClr val="7B4E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65" name="Text 6"/>
          <p:cNvSpPr/>
          <p:nvPr/>
        </p:nvSpPr>
        <p:spPr>
          <a:xfrm>
            <a:off x="1737360" y="5139000"/>
            <a:ext cx="9417960" cy="87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a:solidFill>
                  <a:srgbClr val="D9C9EC"/>
                </a:solidFill>
                <a:latin typeface="Cambria"/>
                <a:ea typeface="Cambria"/>
              </a:rPr>
              <a:t>“Asking a 373-feature GBM to rediscover ETAS is a losing game. Start boosting at the physics, and let the trees learn only the correction.”</a:t>
            </a:r>
            <a:endParaRPr lang="en-US" sz="1600" b="0" strike="noStrike" spc="-1">
              <a:solidFill>
                <a:srgbClr val="FFFFFF"/>
              </a:solidFill>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466" name="Shape 0"/>
          <p:cNvSpPr/>
          <p:nvPr/>
        </p:nvSpPr>
        <p:spPr>
          <a:xfrm>
            <a:off x="548640" y="457200"/>
            <a:ext cx="11091240" cy="822600"/>
          </a:xfrm>
          <a:prstGeom prst="roundRect">
            <a:avLst>
              <a:gd name="adj" fmla="val 6667"/>
            </a:avLst>
          </a:prstGeom>
          <a:solidFill>
            <a:srgbClr val="2A201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67" name="Text 1"/>
          <p:cNvSpPr/>
          <p:nvPr/>
        </p:nvSpPr>
        <p:spPr>
          <a:xfrm>
            <a:off x="822960" y="53028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TRY IT YOURSELF · 4.1</a:t>
            </a:r>
            <a:endParaRPr lang="en-US" sz="1300" b="0" strike="noStrike" spc="-1">
              <a:solidFill>
                <a:srgbClr val="000000"/>
              </a:solidFill>
              <a:latin typeface="Arial"/>
            </a:endParaRPr>
          </a:p>
        </p:txBody>
      </p:sp>
      <p:sp>
        <p:nvSpPr>
          <p:cNvPr id="468" name="Text 2"/>
          <p:cNvSpPr/>
          <p:nvPr/>
        </p:nvSpPr>
        <p:spPr>
          <a:xfrm>
            <a:off x="822960" y="786240"/>
            <a:ext cx="104238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Design features and audit them</a:t>
            </a:r>
            <a:endParaRPr lang="en-US" sz="2200" b="0" strike="noStrike" spc="-1">
              <a:solidFill>
                <a:srgbClr val="000000"/>
              </a:solidFill>
              <a:latin typeface="Arial"/>
            </a:endParaRPr>
          </a:p>
        </p:txBody>
      </p:sp>
      <p:sp>
        <p:nvSpPr>
          <p:cNvPr id="469" name="Shape 3"/>
          <p:cNvSpPr/>
          <p:nvPr/>
        </p:nvSpPr>
        <p:spPr>
          <a:xfrm>
            <a:off x="548640" y="1508760"/>
            <a:ext cx="11091240" cy="2742840"/>
          </a:xfrm>
          <a:prstGeom prst="roundRect">
            <a:avLst>
              <a:gd name="adj" fmla="val 2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70" name="Text 4"/>
          <p:cNvSpPr/>
          <p:nvPr/>
        </p:nvSpPr>
        <p:spPr>
          <a:xfrm>
            <a:off x="822960" y="16642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0392B"/>
                </a:solidFill>
                <a:latin typeface="Calibri"/>
                <a:ea typeface="Calibri"/>
              </a:rPr>
              <a:t>The task</a:t>
            </a:r>
            <a:endParaRPr lang="en-US" sz="1300" b="0" strike="noStrike" spc="-1">
              <a:solidFill>
                <a:srgbClr val="000000"/>
              </a:solidFill>
              <a:latin typeface="Arial"/>
            </a:endParaRPr>
          </a:p>
        </p:txBody>
      </p:sp>
      <p:sp>
        <p:nvSpPr>
          <p:cNvPr id="471" name="Text 5"/>
          <p:cNvSpPr/>
          <p:nvPr/>
        </p:nvSpPr>
        <p:spPr>
          <a:xfrm>
            <a:off x="868680" y="1974960"/>
            <a:ext cx="10423800" cy="214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Propose three seismicity features at different spatial/temporal scales. For each, state what physical signal it captures.</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You find that 'distance to nearest GPS station' has the 3rd-highest tree importance. Give the two-step test that decides whether it carries real predictive value.</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Explain how you would feed a fitted ETAS forecast into a gradient-boosted model so the model is guaranteed not to do worse than ETAS out of the box.</a:t>
            </a:r>
            <a:endParaRPr lang="en-US" sz="1450" b="0" strike="noStrike" spc="-1">
              <a:solidFill>
                <a:srgbClr val="000000"/>
              </a:solidFill>
              <a:latin typeface="Arial"/>
            </a:endParaRPr>
          </a:p>
        </p:txBody>
      </p:sp>
      <p:sp>
        <p:nvSpPr>
          <p:cNvPr id="472" name="Shape 6"/>
          <p:cNvSpPr/>
          <p:nvPr/>
        </p:nvSpPr>
        <p:spPr>
          <a:xfrm>
            <a:off x="548640" y="4434840"/>
            <a:ext cx="11091240" cy="1599840"/>
          </a:xfrm>
          <a:prstGeom prst="roundRect">
            <a:avLst>
              <a:gd name="adj" fmla="val 4571"/>
            </a:avLst>
          </a:prstGeom>
          <a:solidFill>
            <a:srgbClr val="F0EEE8"/>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73" name="Text 7"/>
          <p:cNvSpPr/>
          <p:nvPr/>
        </p:nvSpPr>
        <p:spPr>
          <a:xfrm>
            <a:off x="822960" y="457200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5B6B7A"/>
                </a:solidFill>
                <a:latin typeface="Calibri"/>
                <a:ea typeface="Calibri"/>
              </a:rPr>
              <a:t>Hints</a:t>
            </a:r>
            <a:endParaRPr lang="en-US" sz="1300" b="0" strike="noStrike" spc="-1">
              <a:solidFill>
                <a:srgbClr val="000000"/>
              </a:solidFill>
              <a:latin typeface="Arial"/>
            </a:endParaRPr>
          </a:p>
        </p:txBody>
      </p:sp>
      <p:sp>
        <p:nvSpPr>
          <p:cNvPr id="474" name="Text 8"/>
          <p:cNvSpPr/>
          <p:nvPr/>
        </p:nvSpPr>
        <p:spPr>
          <a:xfrm>
            <a:off x="868680" y="4864680"/>
            <a:ext cx="104238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Vary radius (50/100/200 km) and window (7/30/90/365 d). Counts, rates, and their acceleration are all distinct signals.</a:t>
            </a:r>
            <a:endParaRPr lang="en-US" sz="1300" b="0" strike="noStrike" spc="-1">
              <a:solidFill>
                <a:srgbClr val="000000"/>
              </a:solidFill>
              <a:latin typeface="Arial"/>
            </a:endParaRPr>
          </a:p>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Compare tree gain to permutation importance on held-out data; and check whether the feature varies in time within a cell.</a:t>
            </a:r>
            <a:endParaRPr lang="en-US" sz="1300" b="0" strike="noStrike" spc="-1">
              <a:solidFill>
                <a:srgbClr val="000000"/>
              </a:solidFill>
              <a:latin typeface="Arial"/>
            </a:endParaRPr>
          </a:p>
        </p:txBody>
      </p:sp>
      <p:sp>
        <p:nvSpPr>
          <p:cNvPr id="475" name="Text 9"/>
          <p:cNvSpPr/>
          <p:nvPr/>
        </p:nvSpPr>
        <p:spPr>
          <a:xfrm>
            <a:off x="548640" y="614484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strike="noStrike" spc="-1">
                <a:solidFill>
                  <a:srgbClr val="5B6B7A"/>
                </a:solidFill>
                <a:latin typeface="Calibri"/>
                <a:ea typeface="Calibri"/>
              </a:rPr>
              <a:t>Work this before turning the page. The answer key is at the end of the module.</a:t>
            </a:r>
            <a:endParaRPr lang="en-US" sz="1150" b="0" strike="noStrike" spc="-1">
              <a:solidFill>
                <a:srgbClr val="000000"/>
              </a:solidFill>
              <a:latin typeface="Arial"/>
            </a:endParaRPr>
          </a:p>
        </p:txBody>
      </p:sp>
      <p:sp>
        <p:nvSpPr>
          <p:cNvPr id="476" name="Text 10"/>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4 · Feature Engineering</a:t>
            </a:r>
            <a:endParaRPr lang="en-US" sz="1000" b="0" strike="noStrike" spc="-1">
              <a:solidFill>
                <a:srgbClr val="000000"/>
              </a:solidFill>
              <a:latin typeface="Arial"/>
            </a:endParaRPr>
          </a:p>
        </p:txBody>
      </p:sp>
      <p:sp>
        <p:nvSpPr>
          <p:cNvPr id="477" name="Text 11"/>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478" name="Text 12"/>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33</a:t>
            </a:r>
            <a:endParaRPr lang="en-US" sz="1000" b="0" strike="noStrike" spc="-1">
              <a:solidFill>
                <a:srgbClr val="000000"/>
              </a:solidFill>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479" name="Shape 0"/>
          <p:cNvSpPr/>
          <p:nvPr/>
        </p:nvSpPr>
        <p:spPr>
          <a:xfrm>
            <a:off x="548640" y="457200"/>
            <a:ext cx="11091240" cy="785880"/>
          </a:xfrm>
          <a:prstGeom prst="roundRect">
            <a:avLst>
              <a:gd name="adj" fmla="val 6977"/>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80" name="Text 1"/>
          <p:cNvSpPr/>
          <p:nvPr/>
        </p:nvSpPr>
        <p:spPr>
          <a:xfrm>
            <a:off x="822960" y="530280"/>
            <a:ext cx="10058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FF3E7"/>
                </a:solidFill>
                <a:latin typeface="Calibri"/>
                <a:ea typeface="Calibri"/>
              </a:rPr>
              <a:t>ANSWER KEY · MODULE 4</a:t>
            </a:r>
            <a:endParaRPr lang="en-US" sz="1300" b="0" strike="noStrike" spc="-1">
              <a:solidFill>
                <a:srgbClr val="000000"/>
              </a:solidFill>
              <a:latin typeface="Arial"/>
            </a:endParaRPr>
          </a:p>
        </p:txBody>
      </p:sp>
      <p:sp>
        <p:nvSpPr>
          <p:cNvPr id="481" name="Text 2"/>
          <p:cNvSpPr/>
          <p:nvPr/>
        </p:nvSpPr>
        <p:spPr>
          <a:xfrm>
            <a:off x="822960" y="786240"/>
            <a:ext cx="100580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Check your work</a:t>
            </a:r>
            <a:endParaRPr lang="en-US" sz="2200" b="0" strike="noStrike" spc="-1">
              <a:solidFill>
                <a:srgbClr val="000000"/>
              </a:solidFill>
              <a:latin typeface="Arial"/>
            </a:endParaRPr>
          </a:p>
        </p:txBody>
      </p:sp>
      <p:sp>
        <p:nvSpPr>
          <p:cNvPr id="482" name="Shape 3"/>
          <p:cNvSpPr/>
          <p:nvPr/>
        </p:nvSpPr>
        <p:spPr>
          <a:xfrm>
            <a:off x="548640" y="1481400"/>
            <a:ext cx="11091240" cy="868320"/>
          </a:xfrm>
          <a:prstGeom prst="roundRect">
            <a:avLst>
              <a:gd name="adj" fmla="val 842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83" name="Text 4"/>
          <p:cNvSpPr/>
          <p:nvPr/>
        </p:nvSpPr>
        <p:spPr>
          <a:xfrm>
            <a:off x="822960" y="1591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4.1 — three multi-scale features</a:t>
            </a:r>
            <a:endParaRPr lang="en-US" sz="1400" b="0" strike="noStrike" spc="-1">
              <a:solidFill>
                <a:srgbClr val="000000"/>
              </a:solidFill>
              <a:latin typeface="Arial"/>
            </a:endParaRPr>
          </a:p>
        </p:txBody>
      </p:sp>
      <p:sp>
        <p:nvSpPr>
          <p:cNvPr id="484" name="Text 5"/>
          <p:cNvSpPr/>
          <p:nvPr/>
        </p:nvSpPr>
        <p:spPr>
          <a:xfrm>
            <a:off x="868680" y="1901880"/>
            <a:ext cx="10515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e.g. 30-day count within 50 km (recent local activity / aftershock pressure); 365-day count within 200 km (regional background rate); acceleration = short-window rate ÷ long-window rate (is activity ramping up?).</a:t>
            </a:r>
            <a:endParaRPr lang="en-US" sz="1280" b="0" strike="noStrike" spc="-1">
              <a:solidFill>
                <a:srgbClr val="000000"/>
              </a:solidFill>
              <a:latin typeface="Arial"/>
            </a:endParaRPr>
          </a:p>
        </p:txBody>
      </p:sp>
      <p:sp>
        <p:nvSpPr>
          <p:cNvPr id="485" name="Shape 6"/>
          <p:cNvSpPr/>
          <p:nvPr/>
        </p:nvSpPr>
        <p:spPr>
          <a:xfrm>
            <a:off x="548640" y="2459880"/>
            <a:ext cx="11091240" cy="1142640"/>
          </a:xfrm>
          <a:prstGeom prst="roundRect">
            <a:avLst>
              <a:gd name="adj" fmla="val 6400"/>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86" name="Text 7"/>
          <p:cNvSpPr/>
          <p:nvPr/>
        </p:nvSpPr>
        <p:spPr>
          <a:xfrm>
            <a:off x="822960" y="256932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4.1 — the two-step value test</a:t>
            </a:r>
            <a:endParaRPr lang="en-US" sz="1400" b="0" strike="noStrike" spc="-1">
              <a:solidFill>
                <a:srgbClr val="000000"/>
              </a:solidFill>
              <a:latin typeface="Arial"/>
            </a:endParaRPr>
          </a:p>
        </p:txBody>
      </p:sp>
      <p:sp>
        <p:nvSpPr>
          <p:cNvPr id="487" name="Text 8"/>
          <p:cNvSpPr/>
          <p:nvPr/>
        </p:nvSpPr>
        <p:spPr>
          <a:xfrm>
            <a:off x="868680" y="2880360"/>
            <a:ext cx="105152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Step 1: compare permutation importance (on held-out data) to tree gain — a big gap means the gain was in-sample memorization. Step 2: measure the feature's temporal variance within a cell — near-zero variance means it is a static spatial fingerprint. If both flags fire, it has high importance and ~zero marginal value.</a:t>
            </a:r>
            <a:endParaRPr lang="en-US" sz="1280" b="0" strike="noStrike" spc="-1">
              <a:solidFill>
                <a:srgbClr val="000000"/>
              </a:solidFill>
              <a:latin typeface="Arial"/>
            </a:endParaRPr>
          </a:p>
        </p:txBody>
      </p:sp>
      <p:sp>
        <p:nvSpPr>
          <p:cNvPr id="488" name="Shape 9"/>
          <p:cNvSpPr/>
          <p:nvPr/>
        </p:nvSpPr>
        <p:spPr>
          <a:xfrm>
            <a:off x="548640" y="3712320"/>
            <a:ext cx="11091240" cy="1096920"/>
          </a:xfrm>
          <a:prstGeom prst="roundRect">
            <a:avLst>
              <a:gd name="adj" fmla="val 6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89" name="Text 10"/>
          <p:cNvSpPr/>
          <p:nvPr/>
        </p:nvSpPr>
        <p:spPr>
          <a:xfrm>
            <a:off x="822960" y="382212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4.1 — feeding ETAS into a GBM</a:t>
            </a:r>
            <a:endParaRPr lang="en-US" sz="1400" b="0" strike="noStrike" spc="-1">
              <a:solidFill>
                <a:srgbClr val="000000"/>
              </a:solidFill>
              <a:latin typeface="Arial"/>
            </a:endParaRPr>
          </a:p>
        </p:txBody>
      </p:sp>
      <p:sp>
        <p:nvSpPr>
          <p:cNvPr id="490" name="Text 11"/>
          <p:cNvSpPr/>
          <p:nvPr/>
        </p:nvSpPr>
        <p:spPr>
          <a:xfrm>
            <a:off x="868680" y="4133160"/>
            <a:ext cx="10515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Compute logit(ETAS) per row and pass it as the model's init_score (base margin). Boosting then starts at the physics prediction and adds trees only for the residual. Worst case the trees add nothing and you reproduce ETAS; you can never lose to it by ignorance.</a:t>
            </a:r>
            <a:endParaRPr lang="en-US" sz="1280" b="0" strike="noStrike" spc="-1">
              <a:solidFill>
                <a:srgbClr val="000000"/>
              </a:solidFill>
              <a:latin typeface="Arial"/>
            </a:endParaRPr>
          </a:p>
        </p:txBody>
      </p:sp>
      <p:sp>
        <p:nvSpPr>
          <p:cNvPr id="491" name="Text 1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4 · Feature Engineering</a:t>
            </a:r>
            <a:endParaRPr lang="en-US" sz="1000" b="0" strike="noStrike" spc="-1">
              <a:solidFill>
                <a:srgbClr val="000000"/>
              </a:solidFill>
              <a:latin typeface="Arial"/>
            </a:endParaRPr>
          </a:p>
        </p:txBody>
      </p:sp>
      <p:sp>
        <p:nvSpPr>
          <p:cNvPr id="492" name="Text 1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493" name="Text 1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34</a:t>
            </a:r>
            <a:endParaRPr lang="en-US" sz="1000" b="0" strike="noStrike" spc="-1">
              <a:solidFill>
                <a:srgbClr val="000000"/>
              </a:solidFill>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494" name="Shape 0"/>
          <p:cNvSpPr/>
          <p:nvPr/>
        </p:nvSpPr>
        <p:spPr>
          <a:xfrm>
            <a:off x="640080" y="1371600"/>
            <a:ext cx="1371240" cy="137124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95" name="Text 1"/>
          <p:cNvSpPr/>
          <p:nvPr/>
        </p:nvSpPr>
        <p:spPr>
          <a:xfrm>
            <a:off x="640080" y="137160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6200" b="1" strike="noStrike" spc="-1">
                <a:solidFill>
                  <a:srgbClr val="FFFFFF"/>
                </a:solidFill>
                <a:latin typeface="Cambria"/>
                <a:ea typeface="Cambria"/>
              </a:rPr>
              <a:t>5</a:t>
            </a:r>
            <a:endParaRPr lang="en-US" sz="6200" b="0" strike="noStrike" spc="-1">
              <a:solidFill>
                <a:srgbClr val="FFFFFF"/>
              </a:solidFill>
              <a:latin typeface="Arial"/>
            </a:endParaRPr>
          </a:p>
        </p:txBody>
      </p:sp>
      <p:sp>
        <p:nvSpPr>
          <p:cNvPr id="496" name="Text 2"/>
          <p:cNvSpPr/>
          <p:nvPr/>
        </p:nvSpPr>
        <p:spPr>
          <a:xfrm>
            <a:off x="2331720" y="14814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299">
                <a:solidFill>
                  <a:srgbClr val="C0392B"/>
                </a:solidFill>
                <a:latin typeface="Calibri"/>
                <a:ea typeface="Calibri"/>
              </a:rPr>
              <a:t>MODULE 5</a:t>
            </a:r>
            <a:endParaRPr lang="en-US" sz="1500" b="0" strike="noStrike" spc="-1">
              <a:solidFill>
                <a:srgbClr val="FFFFFF"/>
              </a:solidFill>
              <a:latin typeface="Arial"/>
            </a:endParaRPr>
          </a:p>
        </p:txBody>
      </p:sp>
      <p:sp>
        <p:nvSpPr>
          <p:cNvPr id="497" name="Text 3"/>
          <p:cNvSpPr/>
          <p:nvPr/>
        </p:nvSpPr>
        <p:spPr>
          <a:xfrm>
            <a:off x="2286000" y="1810440"/>
            <a:ext cx="932652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4000" b="1" strike="noStrike" spc="-1">
                <a:solidFill>
                  <a:srgbClr val="FFFFFF"/>
                </a:solidFill>
                <a:latin typeface="Cambria"/>
                <a:ea typeface="Cambria"/>
              </a:rPr>
              <a:t>Validation &amp; Calibration</a:t>
            </a:r>
            <a:endParaRPr lang="en-US" sz="4000" b="0" strike="noStrike" spc="-1">
              <a:solidFill>
                <a:srgbClr val="FFFFFF"/>
              </a:solidFill>
              <a:latin typeface="Arial"/>
            </a:endParaRPr>
          </a:p>
        </p:txBody>
      </p:sp>
      <p:sp>
        <p:nvSpPr>
          <p:cNvPr id="498" name="Text 4"/>
          <p:cNvSpPr/>
          <p:nvPr/>
        </p:nvSpPr>
        <p:spPr>
          <a:xfrm>
            <a:off x="2331720" y="2743200"/>
            <a:ext cx="9052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strike="noStrike" spc="-1">
                <a:solidFill>
                  <a:srgbClr val="C7D0D9"/>
                </a:solidFill>
                <a:latin typeface="Calibri"/>
                <a:ea typeface="Calibri"/>
              </a:rPr>
              <a:t>The part that separates the top teams from everyone else.</a:t>
            </a:r>
            <a:endParaRPr lang="en-US" sz="1700" b="0" strike="noStrike" spc="-1">
              <a:solidFill>
                <a:srgbClr val="FFFFFF"/>
              </a:solidFill>
              <a:latin typeface="Arial"/>
            </a:endParaRPr>
          </a:p>
        </p:txBody>
      </p:sp>
      <p:sp>
        <p:nvSpPr>
          <p:cNvPr id="499" name="Text 5"/>
          <p:cNvSpPr/>
          <p:nvPr/>
        </p:nvSpPr>
        <p:spPr>
          <a:xfrm>
            <a:off x="2331720" y="36118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8996A3"/>
                </a:solidFill>
                <a:latin typeface="Calibri"/>
                <a:ea typeface="Calibri"/>
              </a:rPr>
              <a:t>IN THIS MODULE</a:t>
            </a:r>
            <a:endParaRPr lang="en-US" sz="1200" b="0" strike="noStrike" spc="-1">
              <a:solidFill>
                <a:srgbClr val="FFFFFF"/>
              </a:solidFill>
              <a:latin typeface="Arial"/>
            </a:endParaRPr>
          </a:p>
        </p:txBody>
      </p:sp>
      <p:sp>
        <p:nvSpPr>
          <p:cNvPr id="500" name="Text 6"/>
          <p:cNvSpPr/>
          <p:nvPr/>
        </p:nvSpPr>
        <p:spPr>
          <a:xfrm>
            <a:off x="2331720" y="3931920"/>
            <a:ext cx="914364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Why calibration matters more than accuracy here</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Isotonic calibration, and why you fit it on held-out data</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Reading a reliability diagram</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Clipping: why a forecast must never assert certainty</a:t>
            </a:r>
            <a:endParaRPr lang="en-US" sz="1450" b="0" strike="noStrike" spc="-1">
              <a:solidFill>
                <a:srgbClr val="FFFFFF"/>
              </a:solidFill>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501"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THE REAL SKILL</a:t>
            </a:r>
            <a:endParaRPr lang="en-US" sz="1300" b="0" strike="noStrike" spc="-1">
              <a:solidFill>
                <a:srgbClr val="000000"/>
              </a:solidFill>
              <a:latin typeface="Arial"/>
            </a:endParaRPr>
          </a:p>
        </p:txBody>
      </p:sp>
      <p:sp>
        <p:nvSpPr>
          <p:cNvPr id="502"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Calibration: are your probabilities true?</a:t>
            </a:r>
            <a:endParaRPr lang="en-US" sz="3000" b="0" strike="noStrike" spc="-1">
              <a:solidFill>
                <a:srgbClr val="000000"/>
              </a:solidFill>
              <a:latin typeface="Arial"/>
            </a:endParaRPr>
          </a:p>
        </p:txBody>
      </p:sp>
      <p:sp>
        <p:nvSpPr>
          <p:cNvPr id="503"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A forecast is calibrated if, among all the cell-windows where you said 20%, close to 20% actually had an earthquake.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This is different from ranking (AUC) and different from accuracy. A model can rank perfectly and still be wildly overconfident.</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C0392B"/>
                </a:solidFill>
                <a:latin typeface="Calibri"/>
                <a:ea typeface="Calibri"/>
              </a:rPr>
              <a:t>We measure it with Expected Calibration Error (ECE)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 — the average gap between stated probability and observed frequency. The reference achieves ECE &lt; 0.01.</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In an operational forecast, calibration is the whole ballgame: an emergency manager needs 30% to mean 30%.</a:t>
            </a:r>
            <a:endParaRPr lang="en-US" sz="1500" b="0" strike="noStrike" spc="-1">
              <a:solidFill>
                <a:srgbClr val="000000"/>
              </a:solidFill>
              <a:latin typeface="Arial"/>
            </a:endParaRPr>
          </a:p>
        </p:txBody>
      </p:sp>
      <p:pic>
        <p:nvPicPr>
          <p:cNvPr id="504" name="Image 0" descr="figs/full_21.png"/>
          <p:cNvPicPr/>
          <p:nvPr/>
        </p:nvPicPr>
        <p:blipFill>
          <a:blip r:embed="rId3"/>
          <a:stretch/>
        </p:blipFill>
        <p:spPr>
          <a:xfrm>
            <a:off x="6766560" y="2739960"/>
            <a:ext cx="4873320" cy="1926720"/>
          </a:xfrm>
          <a:prstGeom prst="rect">
            <a:avLst/>
          </a:prstGeom>
          <a:ln w="0">
            <a:noFill/>
          </a:ln>
        </p:spPr>
      </p:pic>
      <p:sp>
        <p:nvSpPr>
          <p:cNvPr id="505" name="Text 3"/>
          <p:cNvSpPr/>
          <p:nvPr/>
        </p:nvSpPr>
        <p:spPr>
          <a:xfrm>
            <a:off x="6766560" y="5751720"/>
            <a:ext cx="48733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Reliability diagram (left) and sharpness (right). Points on the diagonal are perfectly calibrated; the histogram shows the model makes confident, well-spread predictions rather than hugging the base rate.</a:t>
            </a:r>
            <a:endParaRPr lang="en-US" sz="1100" b="0" strike="noStrike" spc="-1">
              <a:solidFill>
                <a:srgbClr val="000000"/>
              </a:solidFill>
              <a:latin typeface="Arial"/>
            </a:endParaRPr>
          </a:p>
        </p:txBody>
      </p:sp>
      <p:sp>
        <p:nvSpPr>
          <p:cNvPr id="506" name="Text 4"/>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5 · Validation &amp; Calibration</a:t>
            </a:r>
            <a:endParaRPr lang="en-US" sz="1000" b="0" strike="noStrike" spc="-1">
              <a:solidFill>
                <a:srgbClr val="000000"/>
              </a:solidFill>
              <a:latin typeface="Arial"/>
            </a:endParaRPr>
          </a:p>
        </p:txBody>
      </p:sp>
      <p:sp>
        <p:nvSpPr>
          <p:cNvPr id="507" name="Text 5"/>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508" name="Text 6"/>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36</a:t>
            </a:r>
            <a:endParaRPr lang="en-US" sz="1000" b="0" strike="noStrike" spc="-1">
              <a:solidFill>
                <a:srgbClr val="000000"/>
              </a:solidFill>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509"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HOW TO CALIBRATE</a:t>
            </a:r>
            <a:endParaRPr lang="en-US" sz="1300" b="0" strike="noStrike" spc="-1">
              <a:solidFill>
                <a:srgbClr val="000000"/>
              </a:solidFill>
              <a:latin typeface="Arial"/>
            </a:endParaRPr>
          </a:p>
        </p:txBody>
      </p:sp>
      <p:sp>
        <p:nvSpPr>
          <p:cNvPr id="510"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Isotonic regression, fit on held-out data</a:t>
            </a:r>
            <a:endParaRPr lang="en-US" sz="3000" b="0" strike="noStrike" spc="-1">
              <a:solidFill>
                <a:srgbClr val="000000"/>
              </a:solidFill>
              <a:latin typeface="Arial"/>
            </a:endParaRPr>
          </a:p>
        </p:txBody>
      </p:sp>
      <p:sp>
        <p:nvSpPr>
          <p:cNvPr id="511"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Raw model scores are rarely calibrated. Isotonic regression fixes that: it learns a monotone mapping from raw score to true frequency.</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8E2A20"/>
                </a:solidFill>
                <a:latin typeface="Calibri"/>
                <a:ea typeface="Calibri"/>
              </a:rPr>
              <a:t>The critical rule: fit the calibrator on a held-out calibration set, never on the training data.</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Calibrate on the data you trained on and you will look perfectly calibrated in-sample and fail in the field — the same leakage disease in a new place.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The reference reserves dedicated calibration dates, fits isotonic there, and evaluates on still-later dates and the sealed judge set.</a:t>
            </a:r>
            <a:endParaRPr lang="en-US" sz="1500" b="0" strike="noStrike" spc="-1">
              <a:solidFill>
                <a:srgbClr val="000000"/>
              </a:solidFill>
              <a:latin typeface="Arial"/>
            </a:endParaRPr>
          </a:p>
        </p:txBody>
      </p:sp>
      <p:sp>
        <p:nvSpPr>
          <p:cNvPr id="512" name="Shape 3"/>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13" name="Shape 4"/>
          <p:cNvSpPr/>
          <p:nvPr/>
        </p:nvSpPr>
        <p:spPr>
          <a:xfrm>
            <a:off x="6949440" y="2231280"/>
            <a:ext cx="292320" cy="29232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14"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1 · Train</a:t>
            </a:r>
            <a:endParaRPr lang="en-US" sz="1450" b="0" strike="noStrike" spc="-1">
              <a:solidFill>
                <a:srgbClr val="000000"/>
              </a:solidFill>
              <a:latin typeface="Arial"/>
            </a:endParaRPr>
          </a:p>
        </p:txBody>
      </p:sp>
      <p:sp>
        <p:nvSpPr>
          <p:cNvPr id="515" name="Text 6"/>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Fit the model on training dates only.</a:t>
            </a:r>
            <a:endParaRPr lang="en-US" sz="1200" b="0" strike="noStrike" spc="-1">
              <a:solidFill>
                <a:srgbClr val="000000"/>
              </a:solidFill>
              <a:latin typeface="Arial"/>
            </a:endParaRPr>
          </a:p>
        </p:txBody>
      </p:sp>
      <p:sp>
        <p:nvSpPr>
          <p:cNvPr id="516" name="Shape 7"/>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17" name="Shape 8"/>
          <p:cNvSpPr/>
          <p:nvPr/>
        </p:nvSpPr>
        <p:spPr>
          <a:xfrm>
            <a:off x="6949440" y="3785760"/>
            <a:ext cx="292320" cy="29232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18" name="Text 9"/>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2 · Calibrate</a:t>
            </a:r>
            <a:endParaRPr lang="en-US" sz="1450" b="0" strike="noStrike" spc="-1">
              <a:solidFill>
                <a:srgbClr val="000000"/>
              </a:solidFill>
              <a:latin typeface="Arial"/>
            </a:endParaRPr>
          </a:p>
        </p:txBody>
      </p:sp>
      <p:sp>
        <p:nvSpPr>
          <p:cNvPr id="519" name="Text 10"/>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Fit isotonic regression on separate, later calibration dates.</a:t>
            </a:r>
            <a:endParaRPr lang="en-US" sz="1200" b="0" strike="noStrike" spc="-1">
              <a:solidFill>
                <a:srgbClr val="000000"/>
              </a:solidFill>
              <a:latin typeface="Arial"/>
            </a:endParaRPr>
          </a:p>
        </p:txBody>
      </p:sp>
      <p:sp>
        <p:nvSpPr>
          <p:cNvPr id="520" name="Shape 11"/>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21" name="Shape 12"/>
          <p:cNvSpPr/>
          <p:nvPr/>
        </p:nvSpPr>
        <p:spPr>
          <a:xfrm>
            <a:off x="6949440" y="534024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22" name="Text 13"/>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3 · Evaluate</a:t>
            </a:r>
            <a:endParaRPr lang="en-US" sz="1450" b="0" strike="noStrike" spc="-1">
              <a:solidFill>
                <a:srgbClr val="000000"/>
              </a:solidFill>
              <a:latin typeface="Arial"/>
            </a:endParaRPr>
          </a:p>
        </p:txBody>
      </p:sp>
      <p:sp>
        <p:nvSpPr>
          <p:cNvPr id="523" name="Text 14"/>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Score on still-later test dates, then the sealed judge window.</a:t>
            </a:r>
            <a:endParaRPr lang="en-US" sz="1200" b="0" strike="noStrike" spc="-1">
              <a:solidFill>
                <a:srgbClr val="000000"/>
              </a:solidFill>
              <a:latin typeface="Arial"/>
            </a:endParaRPr>
          </a:p>
        </p:txBody>
      </p:sp>
      <p:sp>
        <p:nvSpPr>
          <p:cNvPr id="524" name="Text 1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5 · Validation &amp; Calibration</a:t>
            </a:r>
            <a:endParaRPr lang="en-US" sz="1000" b="0" strike="noStrike" spc="-1">
              <a:solidFill>
                <a:srgbClr val="000000"/>
              </a:solidFill>
              <a:latin typeface="Arial"/>
            </a:endParaRPr>
          </a:p>
        </p:txBody>
      </p:sp>
      <p:sp>
        <p:nvSpPr>
          <p:cNvPr id="525" name="Text 1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526" name="Text 1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37</a:t>
            </a:r>
            <a:endParaRPr lang="en-US" sz="1000" b="0" strike="noStrike" spc="-1">
              <a:solidFill>
                <a:srgbClr val="000000"/>
              </a:solidFill>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527" name="Shape 0"/>
          <p:cNvSpPr/>
          <p:nvPr/>
        </p:nvSpPr>
        <p:spPr>
          <a:xfrm>
            <a:off x="640080" y="640080"/>
            <a:ext cx="639720" cy="6397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28" name="Text 1"/>
          <p:cNvSpPr/>
          <p:nvPr/>
        </p:nvSpPr>
        <p:spPr>
          <a:xfrm>
            <a:off x="640080" y="621720"/>
            <a:ext cx="639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strike="noStrike" spc="-1">
                <a:solidFill>
                  <a:srgbClr val="FFFFFF"/>
                </a:solidFill>
                <a:latin typeface="Cambria"/>
                <a:ea typeface="Cambria"/>
              </a:rPr>
              <a:t>✓</a:t>
            </a:r>
            <a:endParaRPr lang="en-US" sz="3000" b="0" strike="noStrike" spc="-1">
              <a:solidFill>
                <a:srgbClr val="FFFFFF"/>
              </a:solidFill>
              <a:latin typeface="Arial"/>
            </a:endParaRPr>
          </a:p>
        </p:txBody>
      </p:sp>
      <p:sp>
        <p:nvSpPr>
          <p:cNvPr id="529" name="Text 2"/>
          <p:cNvSpPr/>
          <p:nvPr/>
        </p:nvSpPr>
        <p:spPr>
          <a:xfrm>
            <a:off x="1463040" y="658440"/>
            <a:ext cx="9143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99">
                <a:solidFill>
                  <a:srgbClr val="7B4EA8"/>
                </a:solidFill>
                <a:latin typeface="Calibri"/>
                <a:ea typeface="Calibri"/>
              </a:rPr>
              <a:t>HONESTY CHECKPOINT</a:t>
            </a:r>
            <a:endParaRPr lang="en-US" sz="1500" b="0" strike="noStrike" spc="-1">
              <a:solidFill>
                <a:srgbClr val="FFFFFF"/>
              </a:solidFill>
              <a:latin typeface="Arial"/>
            </a:endParaRPr>
          </a:p>
        </p:txBody>
      </p:sp>
      <p:sp>
        <p:nvSpPr>
          <p:cNvPr id="530" name="Text 3"/>
          <p:cNvSpPr/>
          <p:nvPr/>
        </p:nvSpPr>
        <p:spPr>
          <a:xfrm>
            <a:off x="1463040" y="969120"/>
            <a:ext cx="10058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2700" b="1" strike="noStrike" spc="-1">
                <a:solidFill>
                  <a:srgbClr val="FFFFFF"/>
                </a:solidFill>
                <a:latin typeface="Cambria"/>
                <a:ea typeface="Cambria"/>
              </a:rPr>
              <a:t>A forecast must never say 0% or 100%</a:t>
            </a:r>
            <a:endParaRPr lang="en-US" sz="2700" b="0" strike="noStrike" spc="-1">
              <a:solidFill>
                <a:srgbClr val="FFFFFF"/>
              </a:solidFill>
              <a:latin typeface="Arial"/>
            </a:endParaRPr>
          </a:p>
        </p:txBody>
      </p:sp>
      <p:sp>
        <p:nvSpPr>
          <p:cNvPr id="531" name="Text 4"/>
          <p:cNvSpPr/>
          <p:nvPr/>
        </p:nvSpPr>
        <p:spPr>
          <a:xfrm>
            <a:off x="1463040" y="2103120"/>
            <a:ext cx="996660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spcAft>
                <a:spcPts val="1199"/>
              </a:spcAft>
              <a:tabLst>
                <a:tab pos="0" algn="l"/>
              </a:tabLst>
            </a:pPr>
            <a:r>
              <a:rPr lang="en-US" sz="1600" b="0" strike="noStrike" spc="-1">
                <a:solidFill>
                  <a:srgbClr val="E4E9EE"/>
                </a:solidFill>
                <a:latin typeface="Calibri"/>
                <a:ea typeface="Calibri"/>
              </a:rPr>
              <a:t>The log-loss scoring rule is unforgiving: assert probability 0 for something that then happens, and your score is negative infinity. One confident error can dominate everything.</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1" strike="noStrike" spc="-1">
                <a:solidFill>
                  <a:srgbClr val="E9DDF5"/>
                </a:solidFill>
                <a:latin typeface="Calibri"/>
                <a:ea typeface="Calibri"/>
              </a:rPr>
              <a:t>So every prediction is clipped away from 0 and 1 (to [10⁻⁴, 1−10⁻⁴]).</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This is not a numerical hack — it is a forecasting principle. An honest forecaster of a complex system never claims certainty.</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In the reference run, an uncalibrated neural net scored −0.235 bits on the blind window — worse than useless — precisely because it made overconfident errors. Clipping and calibration are what stand between you and that fate.</a:t>
            </a:r>
            <a:endParaRPr lang="en-US" sz="1600" b="0" strike="noStrike" spc="-1">
              <a:solidFill>
                <a:srgbClr val="FFFFFF"/>
              </a:solidFill>
              <a:latin typeface="Arial"/>
            </a:endParaRPr>
          </a:p>
        </p:txBody>
      </p:sp>
      <p:sp>
        <p:nvSpPr>
          <p:cNvPr id="532" name="Shape 5"/>
          <p:cNvSpPr/>
          <p:nvPr/>
        </p:nvSpPr>
        <p:spPr>
          <a:xfrm>
            <a:off x="1463040" y="5029200"/>
            <a:ext cx="9966600" cy="1096920"/>
          </a:xfrm>
          <a:prstGeom prst="roundRect">
            <a:avLst>
              <a:gd name="adj" fmla="val 5000"/>
            </a:avLst>
          </a:prstGeom>
          <a:solidFill>
            <a:srgbClr val="241A30"/>
          </a:solidFill>
          <a:ln w="12700">
            <a:solidFill>
              <a:srgbClr val="7B4E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33" name="Text 6"/>
          <p:cNvSpPr/>
          <p:nvPr/>
        </p:nvSpPr>
        <p:spPr>
          <a:xfrm>
            <a:off x="1737360" y="5139000"/>
            <a:ext cx="9417960" cy="87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a:solidFill>
                  <a:srgbClr val="D9C9EC"/>
                </a:solidFill>
                <a:latin typeface="Cambria"/>
                <a:ea typeface="Cambria"/>
              </a:rPr>
              <a:t>“An operational forecast never asserts certainty. One confident mistake, and the log score buries you.”</a:t>
            </a:r>
            <a:endParaRPr lang="en-US" sz="1600" b="0" strike="noStrike" spc="-1">
              <a:solidFill>
                <a:srgbClr val="FFFFFF"/>
              </a:solidFill>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534"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SKILL OVER TIME</a:t>
            </a:r>
            <a:endParaRPr lang="en-US" sz="1300" b="0" strike="noStrike" spc="-1">
              <a:solidFill>
                <a:srgbClr val="000000"/>
              </a:solidFill>
              <a:latin typeface="Arial"/>
            </a:endParaRPr>
          </a:p>
        </p:txBody>
      </p:sp>
      <p:sp>
        <p:nvSpPr>
          <p:cNvPr id="535"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Does the forecast survive 15 months out?</a:t>
            </a:r>
            <a:endParaRPr lang="en-US" sz="3000" b="0" strike="noStrike" spc="-1">
              <a:solidFill>
                <a:srgbClr val="000000"/>
              </a:solidFill>
              <a:latin typeface="Arial"/>
            </a:endParaRPr>
          </a:p>
        </p:txBody>
      </p:sp>
      <p:pic>
        <p:nvPicPr>
          <p:cNvPr id="536" name="Image 0" descr="figs/full_22.png"/>
          <p:cNvPicPr/>
          <p:nvPr/>
        </p:nvPicPr>
        <p:blipFill>
          <a:blip r:embed="rId3"/>
          <a:stretch/>
        </p:blipFill>
        <p:spPr>
          <a:xfrm>
            <a:off x="548640" y="1891440"/>
            <a:ext cx="11063880" cy="3166200"/>
          </a:xfrm>
          <a:prstGeom prst="rect">
            <a:avLst/>
          </a:prstGeom>
          <a:ln w="0">
            <a:noFill/>
          </a:ln>
        </p:spPr>
      </p:pic>
      <p:sp>
        <p:nvSpPr>
          <p:cNvPr id="537"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Information gain and AUC by lead window. A genuinely skillful forecast should hold its edge across the 30-day windows; a model that only memorized the recent past would decay quickly.</a:t>
            </a:r>
            <a:endParaRPr lang="en-US" sz="1100" b="0" strike="noStrike" spc="-1">
              <a:solidFill>
                <a:srgbClr val="000000"/>
              </a:solidFill>
              <a:latin typeface="Arial"/>
            </a:endParaRPr>
          </a:p>
        </p:txBody>
      </p:sp>
      <p:sp>
        <p:nvSpPr>
          <p:cNvPr id="538"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39"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40"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Reporting skill as a function of lead time is more honest than a single pooled number — and it reveals whether your model actually uses the lead-window information it was given.</a:t>
            </a:r>
            <a:endParaRPr lang="en-US" sz="1350" b="0" strike="noStrike" spc="-1">
              <a:solidFill>
                <a:srgbClr val="000000"/>
              </a:solidFill>
              <a:latin typeface="Arial"/>
            </a:endParaRPr>
          </a:p>
        </p:txBody>
      </p:sp>
      <p:sp>
        <p:nvSpPr>
          <p:cNvPr id="541"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5 · Validation &amp; Calibration</a:t>
            </a:r>
            <a:endParaRPr lang="en-US" sz="1000" b="0" strike="noStrike" spc="-1">
              <a:solidFill>
                <a:srgbClr val="000000"/>
              </a:solidFill>
              <a:latin typeface="Arial"/>
            </a:endParaRPr>
          </a:p>
        </p:txBody>
      </p:sp>
      <p:sp>
        <p:nvSpPr>
          <p:cNvPr id="542"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543"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39</a:t>
            </a:r>
            <a:endParaRPr lang="en-US" sz="1000" b="0" strike="noStrike" spc="-1">
              <a:solidFill>
                <a:srgbClr val="000000"/>
              </a:solidFill>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544" name="Shape 0"/>
          <p:cNvSpPr/>
          <p:nvPr/>
        </p:nvSpPr>
        <p:spPr>
          <a:xfrm>
            <a:off x="548640" y="457200"/>
            <a:ext cx="11091240" cy="822600"/>
          </a:xfrm>
          <a:prstGeom prst="roundRect">
            <a:avLst>
              <a:gd name="adj" fmla="val 6667"/>
            </a:avLst>
          </a:prstGeom>
          <a:solidFill>
            <a:srgbClr val="2A201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45" name="Text 1"/>
          <p:cNvSpPr/>
          <p:nvPr/>
        </p:nvSpPr>
        <p:spPr>
          <a:xfrm>
            <a:off x="822960" y="53028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TRY IT YOURSELF · 5.1</a:t>
            </a:r>
            <a:endParaRPr lang="en-US" sz="1300" b="0" strike="noStrike" spc="-1">
              <a:solidFill>
                <a:srgbClr val="000000"/>
              </a:solidFill>
              <a:latin typeface="Arial"/>
            </a:endParaRPr>
          </a:p>
        </p:txBody>
      </p:sp>
      <p:sp>
        <p:nvSpPr>
          <p:cNvPr id="546" name="Text 2"/>
          <p:cNvSpPr/>
          <p:nvPr/>
        </p:nvSpPr>
        <p:spPr>
          <a:xfrm>
            <a:off x="822960" y="786240"/>
            <a:ext cx="104238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Calibrate and diagnose</a:t>
            </a:r>
            <a:endParaRPr lang="en-US" sz="2200" b="0" strike="noStrike" spc="-1">
              <a:solidFill>
                <a:srgbClr val="000000"/>
              </a:solidFill>
              <a:latin typeface="Arial"/>
            </a:endParaRPr>
          </a:p>
        </p:txBody>
      </p:sp>
      <p:sp>
        <p:nvSpPr>
          <p:cNvPr id="547" name="Shape 3"/>
          <p:cNvSpPr/>
          <p:nvPr/>
        </p:nvSpPr>
        <p:spPr>
          <a:xfrm>
            <a:off x="548640" y="1508760"/>
            <a:ext cx="11091240" cy="2742840"/>
          </a:xfrm>
          <a:prstGeom prst="roundRect">
            <a:avLst>
              <a:gd name="adj" fmla="val 2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48" name="Text 4"/>
          <p:cNvSpPr/>
          <p:nvPr/>
        </p:nvSpPr>
        <p:spPr>
          <a:xfrm>
            <a:off x="822960" y="16642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0392B"/>
                </a:solidFill>
                <a:latin typeface="Calibri"/>
                <a:ea typeface="Calibri"/>
              </a:rPr>
              <a:t>The task</a:t>
            </a:r>
            <a:endParaRPr lang="en-US" sz="1300" b="0" strike="noStrike" spc="-1">
              <a:solidFill>
                <a:srgbClr val="000000"/>
              </a:solidFill>
              <a:latin typeface="Arial"/>
            </a:endParaRPr>
          </a:p>
        </p:txBody>
      </p:sp>
      <p:sp>
        <p:nvSpPr>
          <p:cNvPr id="549" name="Text 5"/>
          <p:cNvSpPr/>
          <p:nvPr/>
        </p:nvSpPr>
        <p:spPr>
          <a:xfrm>
            <a:off x="868680" y="1974960"/>
            <a:ext cx="10423800" cy="214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Your model has AUC 0.88 but ECE 0.14. In plain language, what is wrong with it, and will isotonic calibration change its AUC?</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You have training dates, and you need to both calibrate and honestly evaluate. How do you split your remaining dates, and why in that order?</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A teammate clips predictions to [0.01, 0.99] 'to be safe' but fits the isotonic calibrator on the training scores. Which of the two safeguards is real, and which is theater?</a:t>
            </a:r>
            <a:endParaRPr lang="en-US" sz="1450" b="0" strike="noStrike" spc="-1">
              <a:solidFill>
                <a:srgbClr val="000000"/>
              </a:solidFill>
              <a:latin typeface="Arial"/>
            </a:endParaRPr>
          </a:p>
        </p:txBody>
      </p:sp>
      <p:sp>
        <p:nvSpPr>
          <p:cNvPr id="550" name="Shape 6"/>
          <p:cNvSpPr/>
          <p:nvPr/>
        </p:nvSpPr>
        <p:spPr>
          <a:xfrm>
            <a:off x="548640" y="4434840"/>
            <a:ext cx="11091240" cy="1599840"/>
          </a:xfrm>
          <a:prstGeom prst="roundRect">
            <a:avLst>
              <a:gd name="adj" fmla="val 4571"/>
            </a:avLst>
          </a:prstGeom>
          <a:solidFill>
            <a:srgbClr val="F0EEE8"/>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51" name="Text 7"/>
          <p:cNvSpPr/>
          <p:nvPr/>
        </p:nvSpPr>
        <p:spPr>
          <a:xfrm>
            <a:off x="822960" y="457200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5B6B7A"/>
                </a:solidFill>
                <a:latin typeface="Calibri"/>
                <a:ea typeface="Calibri"/>
              </a:rPr>
              <a:t>Hints</a:t>
            </a:r>
            <a:endParaRPr lang="en-US" sz="1300" b="0" strike="noStrike" spc="-1">
              <a:solidFill>
                <a:srgbClr val="000000"/>
              </a:solidFill>
              <a:latin typeface="Arial"/>
            </a:endParaRPr>
          </a:p>
        </p:txBody>
      </p:sp>
      <p:sp>
        <p:nvSpPr>
          <p:cNvPr id="552" name="Text 8"/>
          <p:cNvSpPr/>
          <p:nvPr/>
        </p:nvSpPr>
        <p:spPr>
          <a:xfrm>
            <a:off x="868680" y="4864680"/>
            <a:ext cx="104238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AUC depends only on ranking; isotonic regression is monotone.</a:t>
            </a:r>
            <a:endParaRPr lang="en-US" sz="1300" b="0" strike="noStrike" spc="-1">
              <a:solidFill>
                <a:srgbClr val="000000"/>
              </a:solidFill>
              <a:latin typeface="Arial"/>
            </a:endParaRPr>
          </a:p>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Overconfidence with good ranking is exactly the ECE-high, AUC-high case.</a:t>
            </a:r>
            <a:endParaRPr lang="en-US" sz="1300" b="0" strike="noStrike" spc="-1">
              <a:solidFill>
                <a:srgbClr val="000000"/>
              </a:solidFill>
              <a:latin typeface="Arial"/>
            </a:endParaRPr>
          </a:p>
        </p:txBody>
      </p:sp>
      <p:sp>
        <p:nvSpPr>
          <p:cNvPr id="553" name="Text 9"/>
          <p:cNvSpPr/>
          <p:nvPr/>
        </p:nvSpPr>
        <p:spPr>
          <a:xfrm>
            <a:off x="548640" y="614484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strike="noStrike" spc="-1">
                <a:solidFill>
                  <a:srgbClr val="5B6B7A"/>
                </a:solidFill>
                <a:latin typeface="Calibri"/>
                <a:ea typeface="Calibri"/>
              </a:rPr>
              <a:t>Work this before turning the page. The answer key is at the end of the module.</a:t>
            </a:r>
            <a:endParaRPr lang="en-US" sz="1150" b="0" strike="noStrike" spc="-1">
              <a:solidFill>
                <a:srgbClr val="000000"/>
              </a:solidFill>
              <a:latin typeface="Arial"/>
            </a:endParaRPr>
          </a:p>
        </p:txBody>
      </p:sp>
      <p:sp>
        <p:nvSpPr>
          <p:cNvPr id="554" name="Text 10"/>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5 · Validation &amp; Calibration</a:t>
            </a:r>
            <a:endParaRPr lang="en-US" sz="1000" b="0" strike="noStrike" spc="-1">
              <a:solidFill>
                <a:srgbClr val="000000"/>
              </a:solidFill>
              <a:latin typeface="Arial"/>
            </a:endParaRPr>
          </a:p>
        </p:txBody>
      </p:sp>
      <p:sp>
        <p:nvSpPr>
          <p:cNvPr id="555" name="Text 11"/>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556" name="Text 12"/>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40</a:t>
            </a:r>
            <a:endParaRPr lang="en-US" sz="1000" b="0" strike="noStrike" spc="-1">
              <a:solidFill>
                <a:srgbClr val="000000"/>
              </a:solidFill>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557" name="Shape 0"/>
          <p:cNvSpPr/>
          <p:nvPr/>
        </p:nvSpPr>
        <p:spPr>
          <a:xfrm>
            <a:off x="548640" y="457200"/>
            <a:ext cx="11091240" cy="785880"/>
          </a:xfrm>
          <a:prstGeom prst="roundRect">
            <a:avLst>
              <a:gd name="adj" fmla="val 6977"/>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58" name="Text 1"/>
          <p:cNvSpPr/>
          <p:nvPr/>
        </p:nvSpPr>
        <p:spPr>
          <a:xfrm>
            <a:off x="822960" y="530280"/>
            <a:ext cx="10058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FF3E7"/>
                </a:solidFill>
                <a:latin typeface="Calibri"/>
                <a:ea typeface="Calibri"/>
              </a:rPr>
              <a:t>ANSWER KEY · MODULE 5</a:t>
            </a:r>
            <a:endParaRPr lang="en-US" sz="1300" b="0" strike="noStrike" spc="-1">
              <a:solidFill>
                <a:srgbClr val="000000"/>
              </a:solidFill>
              <a:latin typeface="Arial"/>
            </a:endParaRPr>
          </a:p>
        </p:txBody>
      </p:sp>
      <p:sp>
        <p:nvSpPr>
          <p:cNvPr id="559" name="Text 2"/>
          <p:cNvSpPr/>
          <p:nvPr/>
        </p:nvSpPr>
        <p:spPr>
          <a:xfrm>
            <a:off x="822960" y="786240"/>
            <a:ext cx="100580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Check your work</a:t>
            </a:r>
            <a:endParaRPr lang="en-US" sz="2200" b="0" strike="noStrike" spc="-1">
              <a:solidFill>
                <a:srgbClr val="000000"/>
              </a:solidFill>
              <a:latin typeface="Arial"/>
            </a:endParaRPr>
          </a:p>
        </p:txBody>
      </p:sp>
      <p:sp>
        <p:nvSpPr>
          <p:cNvPr id="560" name="Shape 3"/>
          <p:cNvSpPr/>
          <p:nvPr/>
        </p:nvSpPr>
        <p:spPr>
          <a:xfrm>
            <a:off x="548640" y="1481400"/>
            <a:ext cx="11091240" cy="1051200"/>
          </a:xfrm>
          <a:prstGeom prst="roundRect">
            <a:avLst>
              <a:gd name="adj" fmla="val 695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61" name="Text 4"/>
          <p:cNvSpPr/>
          <p:nvPr/>
        </p:nvSpPr>
        <p:spPr>
          <a:xfrm>
            <a:off x="822960" y="1591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5.1 — AUC 0.88, ECE 0.14</a:t>
            </a:r>
            <a:endParaRPr lang="en-US" sz="1400" b="0" strike="noStrike" spc="-1">
              <a:solidFill>
                <a:srgbClr val="000000"/>
              </a:solidFill>
              <a:latin typeface="Arial"/>
            </a:endParaRPr>
          </a:p>
        </p:txBody>
      </p:sp>
      <p:sp>
        <p:nvSpPr>
          <p:cNvPr id="562" name="Text 5"/>
          <p:cNvSpPr/>
          <p:nvPr/>
        </p:nvSpPr>
        <p:spPr>
          <a:xfrm>
            <a:off x="868680" y="1901880"/>
            <a:ext cx="1051524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It ranks well but its probabilities are dishonest — badly overconfident or underconfident. Isotonic calibration is monotone, so it will not change the AUC at all; it only remaps the probabilities to be truthful, driving ECE down. Ranking and calibration are independent axes.</a:t>
            </a:r>
            <a:endParaRPr lang="en-US" sz="1280" b="0" strike="noStrike" spc="-1">
              <a:solidFill>
                <a:srgbClr val="000000"/>
              </a:solidFill>
              <a:latin typeface="Arial"/>
            </a:endParaRPr>
          </a:p>
        </p:txBody>
      </p:sp>
      <p:sp>
        <p:nvSpPr>
          <p:cNvPr id="563" name="Shape 6"/>
          <p:cNvSpPr/>
          <p:nvPr/>
        </p:nvSpPr>
        <p:spPr>
          <a:xfrm>
            <a:off x="548640" y="2642760"/>
            <a:ext cx="11091240" cy="1051200"/>
          </a:xfrm>
          <a:prstGeom prst="roundRect">
            <a:avLst>
              <a:gd name="adj" fmla="val 695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64" name="Text 7"/>
          <p:cNvSpPr/>
          <p:nvPr/>
        </p:nvSpPr>
        <p:spPr>
          <a:xfrm>
            <a:off x="822960" y="2752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5.1 — how to split the dates</a:t>
            </a:r>
            <a:endParaRPr lang="en-US" sz="1400" b="0" strike="noStrike" spc="-1">
              <a:solidFill>
                <a:srgbClr val="000000"/>
              </a:solidFill>
              <a:latin typeface="Arial"/>
            </a:endParaRPr>
          </a:p>
        </p:txBody>
      </p:sp>
      <p:sp>
        <p:nvSpPr>
          <p:cNvPr id="565" name="Text 8"/>
          <p:cNvSpPr/>
          <p:nvPr/>
        </p:nvSpPr>
        <p:spPr>
          <a:xfrm>
            <a:off x="868680" y="3063240"/>
            <a:ext cx="1051524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Reserve the earliest dates for training, a middle block of later dates for calibration (fit isotonic here), and the latest dates for evaluation. Temporal order matters: calibrate and evaluate on data later than training, mirroring deployment. Never calibrate on training scores.</a:t>
            </a:r>
            <a:endParaRPr lang="en-US" sz="1280" b="0" strike="noStrike" spc="-1">
              <a:solidFill>
                <a:srgbClr val="000000"/>
              </a:solidFill>
              <a:latin typeface="Arial"/>
            </a:endParaRPr>
          </a:p>
        </p:txBody>
      </p:sp>
      <p:sp>
        <p:nvSpPr>
          <p:cNvPr id="566" name="Shape 9"/>
          <p:cNvSpPr/>
          <p:nvPr/>
        </p:nvSpPr>
        <p:spPr>
          <a:xfrm>
            <a:off x="548640" y="3803760"/>
            <a:ext cx="11091240" cy="1005480"/>
          </a:xfrm>
          <a:prstGeom prst="roundRect">
            <a:avLst>
              <a:gd name="adj" fmla="val 727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67" name="Text 10"/>
          <p:cNvSpPr/>
          <p:nvPr/>
        </p:nvSpPr>
        <p:spPr>
          <a:xfrm>
            <a:off x="822960" y="391356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5.1 — real safeguard vs theater</a:t>
            </a:r>
            <a:endParaRPr lang="en-US" sz="1400" b="0" strike="noStrike" spc="-1">
              <a:solidFill>
                <a:srgbClr val="000000"/>
              </a:solidFill>
              <a:latin typeface="Arial"/>
            </a:endParaRPr>
          </a:p>
        </p:txBody>
      </p:sp>
      <p:sp>
        <p:nvSpPr>
          <p:cNvPr id="568" name="Text 11"/>
          <p:cNvSpPr/>
          <p:nvPr/>
        </p:nvSpPr>
        <p:spPr>
          <a:xfrm>
            <a:off x="868680" y="4224600"/>
            <a:ext cx="10515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Clipping to [0.01, 0.99] is a real (if crude) safeguard against catastrophic log-loss. Fitting isotonic on training scores is theater — it will look beautifully calibrated in-sample and fail out of sample. Calibration is only meaningful on held-out data.</a:t>
            </a:r>
            <a:endParaRPr lang="en-US" sz="1280" b="0" strike="noStrike" spc="-1">
              <a:solidFill>
                <a:srgbClr val="000000"/>
              </a:solidFill>
              <a:latin typeface="Arial"/>
            </a:endParaRPr>
          </a:p>
        </p:txBody>
      </p:sp>
      <p:sp>
        <p:nvSpPr>
          <p:cNvPr id="569" name="Text 1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5 · Validation &amp; Calibration</a:t>
            </a:r>
            <a:endParaRPr lang="en-US" sz="1000" b="0" strike="noStrike" spc="-1">
              <a:solidFill>
                <a:srgbClr val="000000"/>
              </a:solidFill>
              <a:latin typeface="Arial"/>
            </a:endParaRPr>
          </a:p>
        </p:txBody>
      </p:sp>
      <p:sp>
        <p:nvSpPr>
          <p:cNvPr id="570" name="Text 1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571" name="Text 1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41</a:t>
            </a:r>
            <a:endParaRPr lang="en-US" sz="1000" b="0" strike="noStrike" spc="-1">
              <a:solidFill>
                <a:srgbClr val="000000"/>
              </a:solidFill>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572" name="Shape 0"/>
          <p:cNvSpPr/>
          <p:nvPr/>
        </p:nvSpPr>
        <p:spPr>
          <a:xfrm>
            <a:off x="640080" y="1371600"/>
            <a:ext cx="1371240" cy="137124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73" name="Text 1"/>
          <p:cNvSpPr/>
          <p:nvPr/>
        </p:nvSpPr>
        <p:spPr>
          <a:xfrm>
            <a:off x="640080" y="137160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6200" b="1" strike="noStrike" spc="-1">
                <a:solidFill>
                  <a:srgbClr val="FFFFFF"/>
                </a:solidFill>
                <a:latin typeface="Cambria"/>
                <a:ea typeface="Cambria"/>
              </a:rPr>
              <a:t>6</a:t>
            </a:r>
            <a:endParaRPr lang="en-US" sz="6200" b="0" strike="noStrike" spc="-1">
              <a:solidFill>
                <a:srgbClr val="FFFFFF"/>
              </a:solidFill>
              <a:latin typeface="Arial"/>
            </a:endParaRPr>
          </a:p>
        </p:txBody>
      </p:sp>
      <p:sp>
        <p:nvSpPr>
          <p:cNvPr id="574" name="Text 2"/>
          <p:cNvSpPr/>
          <p:nvPr/>
        </p:nvSpPr>
        <p:spPr>
          <a:xfrm>
            <a:off x="2331720" y="14814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299">
                <a:solidFill>
                  <a:srgbClr val="7B4EA8"/>
                </a:solidFill>
                <a:latin typeface="Calibri"/>
                <a:ea typeface="Calibri"/>
              </a:rPr>
              <a:t>MODULE 6</a:t>
            </a:r>
            <a:endParaRPr lang="en-US" sz="1500" b="0" strike="noStrike" spc="-1">
              <a:solidFill>
                <a:srgbClr val="FFFFFF"/>
              </a:solidFill>
              <a:latin typeface="Arial"/>
            </a:endParaRPr>
          </a:p>
        </p:txBody>
      </p:sp>
      <p:sp>
        <p:nvSpPr>
          <p:cNvPr id="575" name="Text 3"/>
          <p:cNvSpPr/>
          <p:nvPr/>
        </p:nvSpPr>
        <p:spPr>
          <a:xfrm>
            <a:off x="2286000" y="1810440"/>
            <a:ext cx="932652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4000" b="1" strike="noStrike" spc="-1">
                <a:solidFill>
                  <a:srgbClr val="FFFFFF"/>
                </a:solidFill>
                <a:latin typeface="Cambria"/>
                <a:ea typeface="Cambria"/>
              </a:rPr>
              <a:t>Quantum Methods</a:t>
            </a:r>
            <a:endParaRPr lang="en-US" sz="4000" b="0" strike="noStrike" spc="-1">
              <a:solidFill>
                <a:srgbClr val="FFFFFF"/>
              </a:solidFill>
              <a:latin typeface="Arial"/>
            </a:endParaRPr>
          </a:p>
        </p:txBody>
      </p:sp>
      <p:sp>
        <p:nvSpPr>
          <p:cNvPr id="576" name="Text 4"/>
          <p:cNvSpPr/>
          <p:nvPr/>
        </p:nvSpPr>
        <p:spPr>
          <a:xfrm>
            <a:off x="2331720" y="2743200"/>
            <a:ext cx="9052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strike="noStrike" spc="-1">
                <a:solidFill>
                  <a:srgbClr val="C7D0D9"/>
                </a:solidFill>
                <a:latin typeface="Calibri"/>
                <a:ea typeface="Calibri"/>
              </a:rPr>
              <a:t>Four ways to put a forecasting problem on a quantum computer — and how to test them honestly.</a:t>
            </a:r>
            <a:endParaRPr lang="en-US" sz="1700" b="0" strike="noStrike" spc="-1">
              <a:solidFill>
                <a:srgbClr val="FFFFFF"/>
              </a:solidFill>
              <a:latin typeface="Arial"/>
            </a:endParaRPr>
          </a:p>
        </p:txBody>
      </p:sp>
      <p:sp>
        <p:nvSpPr>
          <p:cNvPr id="577" name="Text 5"/>
          <p:cNvSpPr/>
          <p:nvPr/>
        </p:nvSpPr>
        <p:spPr>
          <a:xfrm>
            <a:off x="2331720" y="36118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8996A3"/>
                </a:solidFill>
                <a:latin typeface="Calibri"/>
                <a:ea typeface="Calibri"/>
              </a:rPr>
              <a:t>IN THIS MODULE</a:t>
            </a:r>
            <a:endParaRPr lang="en-US" sz="1200" b="0" strike="noStrike" spc="-1">
              <a:solidFill>
                <a:srgbClr val="FFFFFF"/>
              </a:solidFill>
              <a:latin typeface="Arial"/>
            </a:endParaRPr>
          </a:p>
        </p:txBody>
      </p:sp>
      <p:sp>
        <p:nvSpPr>
          <p:cNvPr id="578" name="Text 6"/>
          <p:cNvSpPr/>
          <p:nvPr/>
        </p:nvSpPr>
        <p:spPr>
          <a:xfrm>
            <a:off x="2331720" y="3931920"/>
            <a:ext cx="914364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Encoding classical features into quantum states</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Quantum feature maps and the 220 quantum features</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Two quantum kernels — and why one concentrates to uselessness</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Variational classifiers, and the barren-plateau wall</a:t>
            </a:r>
            <a:endParaRPr lang="en-US" sz="1450" b="0" strike="noStrike" spc="-1">
              <a:solidFill>
                <a:srgbClr val="FFFFFF"/>
              </a:solidFill>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579"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7B4EA8"/>
                </a:solidFill>
                <a:latin typeface="Calibri"/>
                <a:ea typeface="Calibri"/>
              </a:rPr>
              <a:t>THE STARTING POINT</a:t>
            </a:r>
            <a:endParaRPr lang="en-US" sz="1300" b="0" strike="noStrike" spc="-1">
              <a:solidFill>
                <a:srgbClr val="000000"/>
              </a:solidFill>
              <a:latin typeface="Arial"/>
            </a:endParaRPr>
          </a:p>
        </p:txBody>
      </p:sp>
      <p:sp>
        <p:nvSpPr>
          <p:cNvPr id="580"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How do you put data on a qubit?</a:t>
            </a:r>
            <a:endParaRPr lang="en-US" sz="3000" b="0" strike="noStrike" spc="-1">
              <a:solidFill>
                <a:srgbClr val="000000"/>
              </a:solidFill>
              <a:latin typeface="Arial"/>
            </a:endParaRPr>
          </a:p>
        </p:txBody>
      </p:sp>
      <p:sp>
        <p:nvSpPr>
          <p:cNvPr id="581"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dirty="0">
                <a:solidFill>
                  <a:srgbClr val="16202B"/>
                </a:solidFill>
                <a:latin typeface="Calibri"/>
                <a:ea typeface="Calibri"/>
              </a:rPr>
              <a:t>A quantum model needs classical numbers loaded into a quantum state. The workhorse is angle encoding: each feature becomes a rotation angle on a qubit.</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1" strike="noStrike" spc="-1" dirty="0">
                <a:solidFill>
                  <a:srgbClr val="7B4EA8"/>
                </a:solidFill>
                <a:latin typeface="Calibri"/>
                <a:ea typeface="Calibri"/>
              </a:rPr>
              <a:t>|ψ(x)⟩ = ⊗ᵢ RY(xᵢ)|0⟩</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0" strike="noStrike" spc="-1" dirty="0">
                <a:solidFill>
                  <a:srgbClr val="16202B"/>
                </a:solidFill>
                <a:latin typeface="Calibri"/>
                <a:ea typeface="Calibri"/>
              </a:rPr>
              <a:t>Feature x₁ rotates qubit 1, x₂ rotates qubit 2, and so on. Entangling gates (CNOTs) then let the qubits interact, creating correlations no single feature holds.</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1" strike="noStrike" spc="-1" dirty="0">
                <a:solidFill>
                  <a:srgbClr val="8E2A20"/>
                </a:solidFill>
                <a:latin typeface="Calibri"/>
                <a:ea typeface="Calibri"/>
              </a:rPr>
              <a:t>You cannot encode 153 features into 10 qubits directly.</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0" strike="noStrike" spc="-1" dirty="0">
                <a:solidFill>
                  <a:srgbClr val="16202B"/>
                </a:solidFill>
                <a:latin typeface="Calibri"/>
                <a:ea typeface="Calibri"/>
              </a:rPr>
              <a:t> You must choose which features to load — and that choice is where many teams can go wrong; what will you do?</a:t>
            </a:r>
            <a:endParaRPr lang="en-US" sz="1500" b="0" strike="noStrike" spc="-1" dirty="0">
              <a:solidFill>
                <a:srgbClr val="000000"/>
              </a:solidFill>
              <a:latin typeface="Arial"/>
            </a:endParaRPr>
          </a:p>
        </p:txBody>
      </p:sp>
      <p:sp>
        <p:nvSpPr>
          <p:cNvPr id="582" name="Shape 3"/>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83" name="Shape 4"/>
          <p:cNvSpPr/>
          <p:nvPr/>
        </p:nvSpPr>
        <p:spPr>
          <a:xfrm>
            <a:off x="6949440" y="2231280"/>
            <a:ext cx="292320" cy="2923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84"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Angle encoding</a:t>
            </a:r>
            <a:endParaRPr lang="en-US" sz="1450" b="0" strike="noStrike" spc="-1">
              <a:solidFill>
                <a:srgbClr val="000000"/>
              </a:solidFill>
              <a:latin typeface="Arial"/>
            </a:endParaRPr>
          </a:p>
        </p:txBody>
      </p:sp>
      <p:sp>
        <p:nvSpPr>
          <p:cNvPr id="585" name="Text 6"/>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Each feature → a qubit rotation. Simple, differentiable, hardware-friendly.</a:t>
            </a:r>
            <a:endParaRPr lang="en-US" sz="1200" b="0" strike="noStrike" spc="-1">
              <a:solidFill>
                <a:srgbClr val="000000"/>
              </a:solidFill>
              <a:latin typeface="Arial"/>
            </a:endParaRPr>
          </a:p>
        </p:txBody>
      </p:sp>
      <p:sp>
        <p:nvSpPr>
          <p:cNvPr id="586" name="Shape 7"/>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87" name="Shape 8"/>
          <p:cNvSpPr/>
          <p:nvPr/>
        </p:nvSpPr>
        <p:spPr>
          <a:xfrm>
            <a:off x="6949440" y="3785760"/>
            <a:ext cx="292320" cy="29232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88" name="Text 9"/>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Entanglement</a:t>
            </a:r>
            <a:endParaRPr lang="en-US" sz="1450" b="0" strike="noStrike" spc="-1">
              <a:solidFill>
                <a:srgbClr val="000000"/>
              </a:solidFill>
              <a:latin typeface="Arial"/>
            </a:endParaRPr>
          </a:p>
        </p:txBody>
      </p:sp>
      <p:sp>
        <p:nvSpPr>
          <p:cNvPr id="589" name="Text 10"/>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CNOT ladders/rings mix qubits so the state holds feature correlations.</a:t>
            </a:r>
            <a:endParaRPr lang="en-US" sz="1200" b="0" strike="noStrike" spc="-1">
              <a:solidFill>
                <a:srgbClr val="000000"/>
              </a:solidFill>
              <a:latin typeface="Arial"/>
            </a:endParaRPr>
          </a:p>
        </p:txBody>
      </p:sp>
      <p:sp>
        <p:nvSpPr>
          <p:cNvPr id="590" name="Shape 11"/>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91" name="Shape 12"/>
          <p:cNvSpPr/>
          <p:nvPr/>
        </p:nvSpPr>
        <p:spPr>
          <a:xfrm>
            <a:off x="6949440" y="5340240"/>
            <a:ext cx="292320" cy="29232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92" name="Text 13"/>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Read-out</a:t>
            </a:r>
            <a:endParaRPr lang="en-US" sz="1450" b="0" strike="noStrike" spc="-1">
              <a:solidFill>
                <a:srgbClr val="000000"/>
              </a:solidFill>
              <a:latin typeface="Arial"/>
            </a:endParaRPr>
          </a:p>
        </p:txBody>
      </p:sp>
      <p:sp>
        <p:nvSpPr>
          <p:cNvPr id="593" name="Text 14"/>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Measure Pauli-Z / ZZ expectation values → new 'quantum features' for a classical model.</a:t>
            </a:r>
            <a:endParaRPr lang="en-US" sz="1200" b="0" strike="noStrike" spc="-1">
              <a:solidFill>
                <a:srgbClr val="000000"/>
              </a:solidFill>
              <a:latin typeface="Arial"/>
            </a:endParaRPr>
          </a:p>
        </p:txBody>
      </p:sp>
      <p:sp>
        <p:nvSpPr>
          <p:cNvPr id="594" name="Text 1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6 · Quantum Methods</a:t>
            </a:r>
            <a:endParaRPr lang="en-US" sz="1000" b="0" strike="noStrike" spc="-1">
              <a:solidFill>
                <a:srgbClr val="000000"/>
              </a:solidFill>
              <a:latin typeface="Arial"/>
            </a:endParaRPr>
          </a:p>
        </p:txBody>
      </p:sp>
      <p:sp>
        <p:nvSpPr>
          <p:cNvPr id="595" name="Text 1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596" name="Text 1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43</a:t>
            </a:r>
            <a:endParaRPr lang="en-US" sz="1000" b="0" strike="noStrike" spc="-1">
              <a:solidFill>
                <a:srgbClr val="000000"/>
              </a:solidFill>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597" name="Shape 0"/>
          <p:cNvSpPr/>
          <p:nvPr/>
        </p:nvSpPr>
        <p:spPr>
          <a:xfrm>
            <a:off x="640080" y="640080"/>
            <a:ext cx="639720" cy="6397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98" name="Text 1"/>
          <p:cNvSpPr/>
          <p:nvPr/>
        </p:nvSpPr>
        <p:spPr>
          <a:xfrm>
            <a:off x="640080" y="621720"/>
            <a:ext cx="639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strike="noStrike" spc="-1">
                <a:solidFill>
                  <a:srgbClr val="FFFFFF"/>
                </a:solidFill>
                <a:latin typeface="Cambria"/>
                <a:ea typeface="Cambria"/>
              </a:rPr>
              <a:t>✓</a:t>
            </a:r>
            <a:endParaRPr lang="en-US" sz="3000" b="0" strike="noStrike" spc="-1">
              <a:solidFill>
                <a:srgbClr val="FFFFFF"/>
              </a:solidFill>
              <a:latin typeface="Arial"/>
            </a:endParaRPr>
          </a:p>
        </p:txBody>
      </p:sp>
      <p:sp>
        <p:nvSpPr>
          <p:cNvPr id="599" name="Text 2"/>
          <p:cNvSpPr/>
          <p:nvPr/>
        </p:nvSpPr>
        <p:spPr>
          <a:xfrm>
            <a:off x="1463040" y="658440"/>
            <a:ext cx="9143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99">
                <a:solidFill>
                  <a:srgbClr val="7B4EA8"/>
                </a:solidFill>
                <a:latin typeface="Calibri"/>
                <a:ea typeface="Calibri"/>
              </a:rPr>
              <a:t>HONESTY CHECKPOINT</a:t>
            </a:r>
            <a:endParaRPr lang="en-US" sz="1500" b="0" strike="noStrike" spc="-1">
              <a:solidFill>
                <a:srgbClr val="FFFFFF"/>
              </a:solidFill>
              <a:latin typeface="Arial"/>
            </a:endParaRPr>
          </a:p>
        </p:txBody>
      </p:sp>
      <p:sp>
        <p:nvSpPr>
          <p:cNvPr id="600" name="Text 3"/>
          <p:cNvSpPr/>
          <p:nvPr/>
        </p:nvSpPr>
        <p:spPr>
          <a:xfrm>
            <a:off x="1463040" y="969120"/>
            <a:ext cx="10058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2700" b="1" strike="noStrike" spc="-1">
                <a:solidFill>
                  <a:srgbClr val="FFFFFF"/>
                </a:solidFill>
                <a:latin typeface="Cambria"/>
                <a:ea typeface="Cambria"/>
              </a:rPr>
              <a:t>Encode dynamics, not location</a:t>
            </a:r>
            <a:endParaRPr lang="en-US" sz="2700" b="0" strike="noStrike" spc="-1">
              <a:solidFill>
                <a:srgbClr val="FFFFFF"/>
              </a:solidFill>
              <a:latin typeface="Arial"/>
            </a:endParaRPr>
          </a:p>
        </p:txBody>
      </p:sp>
      <p:sp>
        <p:nvSpPr>
          <p:cNvPr id="601" name="Text 4"/>
          <p:cNvSpPr/>
          <p:nvPr/>
        </p:nvSpPr>
        <p:spPr>
          <a:xfrm>
            <a:off x="1463040" y="2103120"/>
            <a:ext cx="996660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spcAft>
                <a:spcPts val="1199"/>
              </a:spcAft>
              <a:tabLst>
                <a:tab pos="0" algn="l"/>
              </a:tabLst>
            </a:pPr>
            <a:r>
              <a:rPr lang="en-US" sz="1600" b="0" strike="noStrike" spc="-1">
                <a:solidFill>
                  <a:srgbClr val="E4E9EE"/>
                </a:solidFill>
                <a:latin typeface="Calibri"/>
                <a:ea typeface="Calibri"/>
              </a:rPr>
              <a:t>With only ~10 qubits you must pick which features to encode. The naive choice — rank by tree importance — loads the spatial fingerprints (GPS, distances) we exposed in Module 4.</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1" strike="noStrike" spc="-1">
                <a:solidFill>
                  <a:srgbClr val="E9DDF5"/>
                </a:solidFill>
                <a:latin typeface="Calibri"/>
                <a:ea typeface="Calibri"/>
              </a:rPr>
              <a:t>That wastes every qubit on memorizing location, which a lookup table already does for free.</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The reference instead measures temporal variance, keeps only features that actually change over time, and ranks those by permutation importance. The encoded set becomes ETAS intensity, recent mean magnitude, seismicity counts — the dynamics.</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The quantum circuit should spend its scarce qubits on what moves, not on where you are.</a:t>
            </a:r>
            <a:endParaRPr lang="en-US" sz="1600" b="0" strike="noStrike" spc="-1">
              <a:solidFill>
                <a:srgbClr val="FFFFFF"/>
              </a:solidFill>
              <a:latin typeface="Arial"/>
            </a:endParaRPr>
          </a:p>
        </p:txBody>
      </p:sp>
      <p:sp>
        <p:nvSpPr>
          <p:cNvPr id="602" name="Shape 5"/>
          <p:cNvSpPr/>
          <p:nvPr/>
        </p:nvSpPr>
        <p:spPr>
          <a:xfrm>
            <a:off x="1463040" y="5029200"/>
            <a:ext cx="9966600" cy="1096920"/>
          </a:xfrm>
          <a:prstGeom prst="roundRect">
            <a:avLst>
              <a:gd name="adj" fmla="val 5000"/>
            </a:avLst>
          </a:prstGeom>
          <a:solidFill>
            <a:srgbClr val="241A30"/>
          </a:solidFill>
          <a:ln w="12700">
            <a:solidFill>
              <a:srgbClr val="7B4E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03" name="Text 6"/>
          <p:cNvSpPr/>
          <p:nvPr/>
        </p:nvSpPr>
        <p:spPr>
          <a:xfrm>
            <a:off x="1737360" y="5139000"/>
            <a:ext cx="9417960" cy="87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a:solidFill>
                  <a:srgbClr val="D9C9EC"/>
                </a:solidFill>
                <a:latin typeface="Cambria"/>
                <a:ea typeface="Cambria"/>
              </a:rPr>
              <a:t>“21 of 152 features are near-static spatial fingerprints. Encoding those into a quantum circuit wastes every qubit on a location lookup.”</a:t>
            </a:r>
            <a:endParaRPr lang="en-US" sz="1600" b="0" strike="noStrike" spc="-1">
              <a:solidFill>
                <a:srgbClr val="FFFFFF"/>
              </a:solidFill>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604"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7B4EA8"/>
                </a:solidFill>
                <a:latin typeface="Calibri"/>
                <a:ea typeface="Calibri"/>
              </a:rPr>
              <a:t>APPROACH 1</a:t>
            </a:r>
            <a:endParaRPr lang="en-US" sz="1300" b="0" strike="noStrike" spc="-1">
              <a:solidFill>
                <a:srgbClr val="000000"/>
              </a:solidFill>
              <a:latin typeface="Arial"/>
            </a:endParaRPr>
          </a:p>
        </p:txBody>
      </p:sp>
      <p:sp>
        <p:nvSpPr>
          <p:cNvPr id="605"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Quantum feature maps: 220 new features</a:t>
            </a:r>
            <a:endParaRPr lang="en-US" sz="3000" b="0" strike="noStrike" spc="-1">
              <a:solidFill>
                <a:srgbClr val="000000"/>
              </a:solidFill>
              <a:latin typeface="Arial"/>
            </a:endParaRPr>
          </a:p>
        </p:txBody>
      </p:sp>
      <p:sp>
        <p:nvSpPr>
          <p:cNvPr id="606"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The simplest useful quantum model isn't a classifier at all — it's a feature generator.</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Encode the chosen features through several entangling circuits ('ansätze'), measure a battery of Pauli expectation values, and hand those numbers to your classical model as extra columns.</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7B4EA8"/>
                </a:solidFill>
                <a:latin typeface="Calibri"/>
                <a:ea typeface="Calibri"/>
              </a:rPr>
              <a:t>The reference builds 220 quantum features from 4 ansätze, for 373 features total.</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This is the friendliest on-ramp: if the quantum features carry signal, your classical model's score rises. If they don't, it doesn't. Clean, testable, honest.</a:t>
            </a:r>
            <a:endParaRPr lang="en-US" sz="1500" b="0" strike="noStrike" spc="-1">
              <a:solidFill>
                <a:srgbClr val="000000"/>
              </a:solidFill>
              <a:latin typeface="Arial"/>
            </a:endParaRPr>
          </a:p>
        </p:txBody>
      </p:sp>
      <p:sp>
        <p:nvSpPr>
          <p:cNvPr id="607" name="Shape 3"/>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08" name="Shape 4"/>
          <p:cNvSpPr/>
          <p:nvPr/>
        </p:nvSpPr>
        <p:spPr>
          <a:xfrm>
            <a:off x="6949440" y="2231280"/>
            <a:ext cx="292320" cy="2923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09"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4 ansätze</a:t>
            </a:r>
            <a:endParaRPr lang="en-US" sz="1450" b="0" strike="noStrike" spc="-1">
              <a:solidFill>
                <a:srgbClr val="000000"/>
              </a:solidFill>
              <a:latin typeface="Arial"/>
            </a:endParaRPr>
          </a:p>
        </p:txBody>
      </p:sp>
      <p:sp>
        <p:nvSpPr>
          <p:cNvPr id="610" name="Text 6"/>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Different entanglement patterns (ring, ladder, IQP-style) probe different correlations.</a:t>
            </a:r>
            <a:endParaRPr lang="en-US" sz="1200" b="0" strike="noStrike" spc="-1">
              <a:solidFill>
                <a:srgbClr val="000000"/>
              </a:solidFill>
              <a:latin typeface="Arial"/>
            </a:endParaRPr>
          </a:p>
        </p:txBody>
      </p:sp>
      <p:sp>
        <p:nvSpPr>
          <p:cNvPr id="611" name="Shape 7"/>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12" name="Shape 8"/>
          <p:cNvSpPr/>
          <p:nvPr/>
        </p:nvSpPr>
        <p:spPr>
          <a:xfrm>
            <a:off x="6949440" y="3785760"/>
            <a:ext cx="292320" cy="29232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13" name="Text 9"/>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220 features</a:t>
            </a:r>
            <a:endParaRPr lang="en-US" sz="1450" b="0" strike="noStrike" spc="-1">
              <a:solidFill>
                <a:srgbClr val="000000"/>
              </a:solidFill>
              <a:latin typeface="Arial"/>
            </a:endParaRPr>
          </a:p>
        </p:txBody>
      </p:sp>
      <p:sp>
        <p:nvSpPr>
          <p:cNvPr id="614" name="Text 10"/>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Pauli-Z and ZZ expectation values read from the encoded states.</a:t>
            </a:r>
            <a:endParaRPr lang="en-US" sz="1200" b="0" strike="noStrike" spc="-1">
              <a:solidFill>
                <a:srgbClr val="000000"/>
              </a:solidFill>
              <a:latin typeface="Arial"/>
            </a:endParaRPr>
          </a:p>
        </p:txBody>
      </p:sp>
      <p:sp>
        <p:nvSpPr>
          <p:cNvPr id="615" name="Shape 11"/>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16" name="Shape 12"/>
          <p:cNvSpPr/>
          <p:nvPr/>
        </p:nvSpPr>
        <p:spPr>
          <a:xfrm>
            <a:off x="6949440" y="534024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17" name="Text 13"/>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Testable</a:t>
            </a:r>
            <a:endParaRPr lang="en-US" sz="1450" b="0" strike="noStrike" spc="-1">
              <a:solidFill>
                <a:srgbClr val="000000"/>
              </a:solidFill>
              <a:latin typeface="Arial"/>
            </a:endParaRPr>
          </a:p>
        </p:txBody>
      </p:sp>
      <p:sp>
        <p:nvSpPr>
          <p:cNvPr id="618" name="Text 14"/>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Compare classical-only vs classical+quantum. The difference is the quantum contribution — measured, not assumed.</a:t>
            </a:r>
            <a:endParaRPr lang="en-US" sz="1200" b="0" strike="noStrike" spc="-1">
              <a:solidFill>
                <a:srgbClr val="000000"/>
              </a:solidFill>
              <a:latin typeface="Arial"/>
            </a:endParaRPr>
          </a:p>
        </p:txBody>
      </p:sp>
      <p:sp>
        <p:nvSpPr>
          <p:cNvPr id="619" name="Text 1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6 · Quantum Methods</a:t>
            </a:r>
            <a:endParaRPr lang="en-US" sz="1000" b="0" strike="noStrike" spc="-1">
              <a:solidFill>
                <a:srgbClr val="000000"/>
              </a:solidFill>
              <a:latin typeface="Arial"/>
            </a:endParaRPr>
          </a:p>
        </p:txBody>
      </p:sp>
      <p:sp>
        <p:nvSpPr>
          <p:cNvPr id="620" name="Text 1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621" name="Text 1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45</a:t>
            </a:r>
            <a:endParaRPr lang="en-US" sz="1000" b="0" strike="noStrike" spc="-1">
              <a:solidFill>
                <a:srgbClr val="000000"/>
              </a:solidFill>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622"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7B4EA8"/>
                </a:solidFill>
                <a:latin typeface="Calibri"/>
                <a:ea typeface="Calibri"/>
              </a:rPr>
              <a:t>APPROACH 2</a:t>
            </a:r>
            <a:endParaRPr lang="en-US" sz="1300" b="0" strike="noStrike" spc="-1">
              <a:solidFill>
                <a:srgbClr val="000000"/>
              </a:solidFill>
              <a:latin typeface="Arial"/>
            </a:endParaRPr>
          </a:p>
        </p:txBody>
      </p:sp>
      <p:sp>
        <p:nvSpPr>
          <p:cNvPr id="623"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Quantum kernels — and a failure mode</a:t>
            </a:r>
            <a:endParaRPr lang="en-US" sz="3000" b="0" strike="noStrike" spc="-1">
              <a:solidFill>
                <a:srgbClr val="000000"/>
              </a:solidFill>
              <a:latin typeface="Arial"/>
            </a:endParaRPr>
          </a:p>
        </p:txBody>
      </p:sp>
      <p:sp>
        <p:nvSpPr>
          <p:cNvPr id="624"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A quantum kernel measures similarity between two data points by the overlap of their quantum states — then feeds that into a classical SVM.</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7B4EA8"/>
                </a:solidFill>
                <a:latin typeface="Calibri"/>
                <a:ea typeface="Calibri"/>
              </a:rPr>
              <a:t>The fidelity kernel: K(x,x') = |⟨ψ(x)|ψ(x')⟩|²</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8E2A20"/>
                </a:solidFill>
                <a:latin typeface="Calibri"/>
                <a:ea typeface="Calibri"/>
              </a:rPr>
              <a:t>Its failure mode — exponential concentration:</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 as qubits increase, all off-diagonal similarities collapse toward zero. Every point looks equally dissimilar to every other, and the kernel becomes an identity matrix that teaches the SVM nothing.</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The reference measures this directly and adds a projected kernel (using Bloch-vector distances) to sidestep it.</a:t>
            </a:r>
            <a:endParaRPr lang="en-US" sz="1500" b="0" strike="noStrike" spc="-1">
              <a:solidFill>
                <a:srgbClr val="000000"/>
              </a:solidFill>
              <a:latin typeface="Arial"/>
            </a:endParaRPr>
          </a:p>
        </p:txBody>
      </p:sp>
      <p:pic>
        <p:nvPicPr>
          <p:cNvPr id="625" name="Image 0" descr="figs/full_15.png"/>
          <p:cNvPicPr/>
          <p:nvPr/>
        </p:nvPicPr>
        <p:blipFill>
          <a:blip r:embed="rId3"/>
          <a:stretch/>
        </p:blipFill>
        <p:spPr>
          <a:xfrm>
            <a:off x="6766560" y="2997720"/>
            <a:ext cx="4873320" cy="1410840"/>
          </a:xfrm>
          <a:prstGeom prst="rect">
            <a:avLst/>
          </a:prstGeom>
          <a:ln w="0">
            <a:noFill/>
          </a:ln>
        </p:spPr>
      </p:pic>
      <p:sp>
        <p:nvSpPr>
          <p:cNvPr id="626" name="Text 3"/>
          <p:cNvSpPr/>
          <p:nvPr/>
        </p:nvSpPr>
        <p:spPr>
          <a:xfrm>
            <a:off x="6766560" y="5751720"/>
            <a:ext cx="48733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Fidelity-kernel concentration: off-diagonal entries shrink toward zero as the circuit grows. A kernel where nothing resembles anything is a kernel that cannot classify.</a:t>
            </a:r>
            <a:endParaRPr lang="en-US" sz="1100" b="0" strike="noStrike" spc="-1">
              <a:solidFill>
                <a:srgbClr val="000000"/>
              </a:solidFill>
              <a:latin typeface="Arial"/>
            </a:endParaRPr>
          </a:p>
        </p:txBody>
      </p:sp>
      <p:sp>
        <p:nvSpPr>
          <p:cNvPr id="627" name="Text 4"/>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6 · Quantum Methods</a:t>
            </a:r>
            <a:endParaRPr lang="en-US" sz="1000" b="0" strike="noStrike" spc="-1">
              <a:solidFill>
                <a:srgbClr val="000000"/>
              </a:solidFill>
              <a:latin typeface="Arial"/>
            </a:endParaRPr>
          </a:p>
        </p:txBody>
      </p:sp>
      <p:sp>
        <p:nvSpPr>
          <p:cNvPr id="628" name="Text 5"/>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629" name="Text 6"/>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46</a:t>
            </a:r>
            <a:endParaRPr lang="en-US" sz="1000" b="0" strike="noStrike" spc="-1">
              <a:solidFill>
                <a:srgbClr val="000000"/>
              </a:solidFill>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630"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7B4EA8"/>
                </a:solidFill>
                <a:latin typeface="Calibri"/>
                <a:ea typeface="Calibri"/>
              </a:rPr>
              <a:t>APPROACH 3</a:t>
            </a:r>
            <a:endParaRPr lang="en-US" sz="1300" b="0" strike="noStrike" spc="-1">
              <a:solidFill>
                <a:srgbClr val="000000"/>
              </a:solidFill>
              <a:latin typeface="Arial"/>
            </a:endParaRPr>
          </a:p>
        </p:txBody>
      </p:sp>
      <p:sp>
        <p:nvSpPr>
          <p:cNvPr id="631"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The Variational Quantum Classifier (VQC)</a:t>
            </a:r>
            <a:endParaRPr lang="en-US" sz="3000" b="0" strike="noStrike" spc="-1">
              <a:solidFill>
                <a:srgbClr val="000000"/>
              </a:solidFill>
              <a:latin typeface="Arial"/>
            </a:endParaRPr>
          </a:p>
        </p:txBody>
      </p:sp>
      <p:sp>
        <p:nvSpPr>
          <p:cNvPr id="632"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A VQC is a quantum circuit with trainable rotation angles, optimized like a neural network to output a class probability.</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Encode the features, apply trainable layers, measure one qubit, map to a probability, and adjust the angles by gradient descent to minimize log-loss.</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8E2A20"/>
                </a:solidFill>
                <a:latin typeface="Calibri"/>
                <a:ea typeface="Calibri"/>
              </a:rPr>
              <a:t>Two engineering lessons the reference learned the hard way:</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(1) A bare ⟨Z⟩ readout is bounded in [−1,1] and cannot reach a 9% base rate — you need a trainable affine read-out. (2) Full-batch training stalls; mini-batches are essential.</a:t>
            </a:r>
            <a:endParaRPr lang="en-US" sz="1500" b="0" strike="noStrike" spc="-1">
              <a:solidFill>
                <a:srgbClr val="000000"/>
              </a:solidFill>
              <a:latin typeface="Arial"/>
            </a:endParaRPr>
          </a:p>
        </p:txBody>
      </p:sp>
      <p:pic>
        <p:nvPicPr>
          <p:cNvPr id="633" name="Image 0" descr="figs/full_14.png"/>
          <p:cNvPicPr/>
          <p:nvPr/>
        </p:nvPicPr>
        <p:blipFill>
          <a:blip r:embed="rId3"/>
          <a:stretch/>
        </p:blipFill>
        <p:spPr>
          <a:xfrm>
            <a:off x="6766560" y="3023640"/>
            <a:ext cx="4873320" cy="1359360"/>
          </a:xfrm>
          <a:prstGeom prst="rect">
            <a:avLst/>
          </a:prstGeom>
          <a:ln w="0">
            <a:noFill/>
          </a:ln>
        </p:spPr>
      </p:pic>
      <p:sp>
        <p:nvSpPr>
          <p:cNvPr id="634" name="Text 3"/>
          <p:cNvSpPr/>
          <p:nvPr/>
        </p:nvSpPr>
        <p:spPr>
          <a:xfrm>
            <a:off x="6766560" y="5751720"/>
            <a:ext cx="48733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VQC learning curve (left) and the barren-plateau diagnostic (right): gradient variance shrinking as qubits grow is the signature of the plateau.</a:t>
            </a:r>
            <a:endParaRPr lang="en-US" sz="1100" b="0" strike="noStrike" spc="-1">
              <a:solidFill>
                <a:srgbClr val="000000"/>
              </a:solidFill>
              <a:latin typeface="Arial"/>
            </a:endParaRPr>
          </a:p>
        </p:txBody>
      </p:sp>
      <p:sp>
        <p:nvSpPr>
          <p:cNvPr id="635" name="Text 4"/>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6 · Quantum Methods</a:t>
            </a:r>
            <a:endParaRPr lang="en-US" sz="1000" b="0" strike="noStrike" spc="-1">
              <a:solidFill>
                <a:srgbClr val="000000"/>
              </a:solidFill>
              <a:latin typeface="Arial"/>
            </a:endParaRPr>
          </a:p>
        </p:txBody>
      </p:sp>
      <p:sp>
        <p:nvSpPr>
          <p:cNvPr id="636" name="Text 5"/>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637" name="Text 6"/>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47</a:t>
            </a:r>
            <a:endParaRPr lang="en-US" sz="1000" b="0" strike="noStrike" spc="-1">
              <a:solidFill>
                <a:srgbClr val="000000"/>
              </a:solidFill>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63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7B4EA8"/>
                </a:solidFill>
                <a:latin typeface="Calibri"/>
                <a:ea typeface="Calibri"/>
              </a:rPr>
              <a:t>THE WALL</a:t>
            </a:r>
            <a:endParaRPr lang="en-US" sz="1300" b="0" strike="noStrike" spc="-1">
              <a:solidFill>
                <a:srgbClr val="000000"/>
              </a:solidFill>
              <a:latin typeface="Arial"/>
            </a:endParaRPr>
          </a:p>
        </p:txBody>
      </p:sp>
      <p:sp>
        <p:nvSpPr>
          <p:cNvPr id="63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Barren plateaus: why big VQCs won't train</a:t>
            </a:r>
            <a:endParaRPr lang="en-US" sz="3000" b="0" strike="noStrike" spc="-1">
              <a:solidFill>
                <a:srgbClr val="000000"/>
              </a:solidFill>
              <a:latin typeface="Arial"/>
            </a:endParaRPr>
          </a:p>
        </p:txBody>
      </p:sp>
      <p:sp>
        <p:nvSpPr>
          <p:cNvPr id="640"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As you add qubits, the gradient of a random variational circuit shrinks exponentially. The optimization landscape flattens into a vast plateau with no slope to follow.</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7B4EA8"/>
                </a:solidFill>
                <a:latin typeface="Calibri"/>
                <a:ea typeface="Calibri"/>
              </a:rPr>
              <a:t>The reference measures it: gradient variance falls 0.307 → 0.085 → 0.012 → 0.0036 → 0.0003 across 2, 4, 6, 8, 10 qubits.</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That is a factor of ~1000 over eight qubits — a textbook exponential decay. Beyond a modest width, a generic VQC simply cannot be trained.</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16202B"/>
                </a:solidFill>
                <a:latin typeface="Calibri"/>
                <a:ea typeface="Calibri"/>
              </a:rPr>
              <a:t>This is not a bug in your code. It is a known, fundamental limit — and knowing it exists is what separates informed quantum practitioners from the rest.</a:t>
            </a:r>
            <a:endParaRPr lang="en-US" sz="1500" b="0" strike="noStrike" spc="-1">
              <a:solidFill>
                <a:srgbClr val="000000"/>
              </a:solidFill>
              <a:latin typeface="Arial"/>
            </a:endParaRPr>
          </a:p>
        </p:txBody>
      </p:sp>
      <p:sp>
        <p:nvSpPr>
          <p:cNvPr id="641" name="Shape 3"/>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42" name="Shape 4"/>
          <p:cNvSpPr/>
          <p:nvPr/>
        </p:nvSpPr>
        <p:spPr>
          <a:xfrm>
            <a:off x="6949440" y="2231280"/>
            <a:ext cx="292320" cy="2923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43"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The signature</a:t>
            </a:r>
            <a:endParaRPr lang="en-US" sz="1450" b="0" strike="noStrike" spc="-1">
              <a:solidFill>
                <a:srgbClr val="000000"/>
              </a:solidFill>
              <a:latin typeface="Arial"/>
            </a:endParaRPr>
          </a:p>
        </p:txBody>
      </p:sp>
      <p:sp>
        <p:nvSpPr>
          <p:cNvPr id="644" name="Text 6"/>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Gradient variance ↓ exponentially with qubit count. ~1000× over 8 qubits here.</a:t>
            </a:r>
            <a:endParaRPr lang="en-US" sz="1200" b="0" strike="noStrike" spc="-1">
              <a:solidFill>
                <a:srgbClr val="000000"/>
              </a:solidFill>
              <a:latin typeface="Arial"/>
            </a:endParaRPr>
          </a:p>
        </p:txBody>
      </p:sp>
      <p:sp>
        <p:nvSpPr>
          <p:cNvPr id="645" name="Shape 7"/>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46" name="Shape 8"/>
          <p:cNvSpPr/>
          <p:nvPr/>
        </p:nvSpPr>
        <p:spPr>
          <a:xfrm>
            <a:off x="6949440" y="3785760"/>
            <a:ext cx="292320" cy="29232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47" name="Text 9"/>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Why it happens</a:t>
            </a:r>
            <a:endParaRPr lang="en-US" sz="1450" b="0" strike="noStrike" spc="-1">
              <a:solidFill>
                <a:srgbClr val="000000"/>
              </a:solidFill>
              <a:latin typeface="Arial"/>
            </a:endParaRPr>
          </a:p>
        </p:txBody>
      </p:sp>
      <p:sp>
        <p:nvSpPr>
          <p:cNvPr id="648" name="Text 10"/>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Random deep circuits concentrate measure; expectation gradients average to ~0.</a:t>
            </a:r>
            <a:endParaRPr lang="en-US" sz="1200" b="0" strike="noStrike" spc="-1">
              <a:solidFill>
                <a:srgbClr val="000000"/>
              </a:solidFill>
              <a:latin typeface="Arial"/>
            </a:endParaRPr>
          </a:p>
        </p:txBody>
      </p:sp>
      <p:sp>
        <p:nvSpPr>
          <p:cNvPr id="649" name="Shape 11"/>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50" name="Shape 12"/>
          <p:cNvSpPr/>
          <p:nvPr/>
        </p:nvSpPr>
        <p:spPr>
          <a:xfrm>
            <a:off x="6949440" y="534024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51" name="Text 13"/>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What to do</a:t>
            </a:r>
            <a:endParaRPr lang="en-US" sz="1450" b="0" strike="noStrike" spc="-1">
              <a:solidFill>
                <a:srgbClr val="000000"/>
              </a:solidFill>
              <a:latin typeface="Arial"/>
            </a:endParaRPr>
          </a:p>
        </p:txBody>
      </p:sp>
      <p:sp>
        <p:nvSpPr>
          <p:cNvPr id="652" name="Text 14"/>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Shallow circuits, structured ansätze, smart initialization — or accept the width limit honestly.</a:t>
            </a:r>
            <a:endParaRPr lang="en-US" sz="1200" b="0" strike="noStrike" spc="-1">
              <a:solidFill>
                <a:srgbClr val="000000"/>
              </a:solidFill>
              <a:latin typeface="Arial"/>
            </a:endParaRPr>
          </a:p>
        </p:txBody>
      </p:sp>
      <p:sp>
        <p:nvSpPr>
          <p:cNvPr id="653" name="Text 1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6 · Quantum Methods</a:t>
            </a:r>
            <a:endParaRPr lang="en-US" sz="1000" b="0" strike="noStrike" spc="-1">
              <a:solidFill>
                <a:srgbClr val="000000"/>
              </a:solidFill>
              <a:latin typeface="Arial"/>
            </a:endParaRPr>
          </a:p>
        </p:txBody>
      </p:sp>
      <p:sp>
        <p:nvSpPr>
          <p:cNvPr id="654" name="Text 1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655" name="Text 1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48</a:t>
            </a:r>
            <a:endParaRPr lang="en-US" sz="1000" b="0" strike="noStrike" spc="-1">
              <a:solidFill>
                <a:srgbClr val="000000"/>
              </a:solidFill>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656"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7B4EA8"/>
                </a:solidFill>
                <a:latin typeface="Calibri"/>
                <a:ea typeface="Calibri"/>
              </a:rPr>
              <a:t>THE HONEST QUANTUM VERDICT</a:t>
            </a:r>
            <a:endParaRPr lang="en-US" sz="1300" b="0" strike="noStrike" spc="-1">
              <a:solidFill>
                <a:srgbClr val="000000"/>
              </a:solidFill>
              <a:latin typeface="Arial"/>
            </a:endParaRPr>
          </a:p>
        </p:txBody>
      </p:sp>
      <p:sp>
        <p:nvSpPr>
          <p:cNvPr id="657"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Does quantum actually help? Measure it.</a:t>
            </a:r>
            <a:endParaRPr lang="en-US" sz="3000" b="0" strike="noStrike" spc="-1">
              <a:solidFill>
                <a:srgbClr val="000000"/>
              </a:solidFill>
              <a:latin typeface="Arial"/>
            </a:endParaRPr>
          </a:p>
        </p:txBody>
      </p:sp>
      <p:pic>
        <p:nvPicPr>
          <p:cNvPr id="658" name="Image 0" descr="figs/full_17.png"/>
          <p:cNvPicPr/>
          <p:nvPr/>
        </p:nvPicPr>
        <p:blipFill>
          <a:blip r:embed="rId3"/>
          <a:stretch/>
        </p:blipFill>
        <p:spPr>
          <a:xfrm>
            <a:off x="3134160" y="1645920"/>
            <a:ext cx="5893200" cy="3657240"/>
          </a:xfrm>
          <a:prstGeom prst="rect">
            <a:avLst/>
          </a:prstGeom>
          <a:ln w="0">
            <a:noFill/>
          </a:ln>
        </p:spPr>
      </p:pic>
      <p:sp>
        <p:nvSpPr>
          <p:cNvPr id="659"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Paired significance test, classical vs. classical+quantum, on the blind window: ΔAUC +0.0011, 95% CI [−0.0004, +0.0026] — spanning zero. Verdict: no statistically significant quantum lift.</a:t>
            </a:r>
            <a:endParaRPr lang="en-US" sz="1100" b="0" strike="noStrike" spc="-1">
              <a:solidFill>
                <a:srgbClr val="000000"/>
              </a:solidFill>
              <a:latin typeface="Arial"/>
            </a:endParaRPr>
          </a:p>
        </p:txBody>
      </p:sp>
      <p:sp>
        <p:nvSpPr>
          <p:cNvPr id="660"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61"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62"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The quantum features are used by the model, but add no reliable generalization. Reporting that honestly — with a paired test and a confidence interval — is the mark of a top team, not a failure.</a:t>
            </a:r>
            <a:endParaRPr lang="en-US" sz="1350" b="0" strike="noStrike" spc="-1">
              <a:solidFill>
                <a:srgbClr val="000000"/>
              </a:solidFill>
              <a:latin typeface="Arial"/>
            </a:endParaRPr>
          </a:p>
        </p:txBody>
      </p:sp>
      <p:sp>
        <p:nvSpPr>
          <p:cNvPr id="663"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6 · Quantum Methods</a:t>
            </a:r>
            <a:endParaRPr lang="en-US" sz="1000" b="0" strike="noStrike" spc="-1">
              <a:solidFill>
                <a:srgbClr val="000000"/>
              </a:solidFill>
              <a:latin typeface="Arial"/>
            </a:endParaRPr>
          </a:p>
        </p:txBody>
      </p:sp>
      <p:sp>
        <p:nvSpPr>
          <p:cNvPr id="664"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665"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49</a:t>
            </a:r>
            <a:endParaRPr lang="en-US" sz="1000" b="0" strike="noStrike" spc="-1">
              <a:solidFill>
                <a:srgbClr val="000000"/>
              </a:solidFill>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666" name="Shape 0"/>
          <p:cNvSpPr/>
          <p:nvPr/>
        </p:nvSpPr>
        <p:spPr>
          <a:xfrm>
            <a:off x="548640" y="457200"/>
            <a:ext cx="11091240" cy="822600"/>
          </a:xfrm>
          <a:prstGeom prst="roundRect">
            <a:avLst>
              <a:gd name="adj" fmla="val 6667"/>
            </a:avLst>
          </a:prstGeom>
          <a:solidFill>
            <a:srgbClr val="2A201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67" name="Text 1"/>
          <p:cNvSpPr/>
          <p:nvPr/>
        </p:nvSpPr>
        <p:spPr>
          <a:xfrm>
            <a:off x="822960" y="53028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TRY IT YOURSELF · 6.1</a:t>
            </a:r>
            <a:endParaRPr lang="en-US" sz="1300" b="0" strike="noStrike" spc="-1">
              <a:solidFill>
                <a:srgbClr val="000000"/>
              </a:solidFill>
              <a:latin typeface="Arial"/>
            </a:endParaRPr>
          </a:p>
        </p:txBody>
      </p:sp>
      <p:sp>
        <p:nvSpPr>
          <p:cNvPr id="668" name="Text 2"/>
          <p:cNvSpPr/>
          <p:nvPr/>
        </p:nvSpPr>
        <p:spPr>
          <a:xfrm>
            <a:off x="822960" y="786240"/>
            <a:ext cx="104238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Reason about quantum models</a:t>
            </a:r>
            <a:endParaRPr lang="en-US" sz="2200" b="0" strike="noStrike" spc="-1">
              <a:solidFill>
                <a:srgbClr val="000000"/>
              </a:solidFill>
              <a:latin typeface="Arial"/>
            </a:endParaRPr>
          </a:p>
        </p:txBody>
      </p:sp>
      <p:sp>
        <p:nvSpPr>
          <p:cNvPr id="669" name="Shape 3"/>
          <p:cNvSpPr/>
          <p:nvPr/>
        </p:nvSpPr>
        <p:spPr>
          <a:xfrm>
            <a:off x="548640" y="1508760"/>
            <a:ext cx="11091240" cy="2742840"/>
          </a:xfrm>
          <a:prstGeom prst="roundRect">
            <a:avLst>
              <a:gd name="adj" fmla="val 2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70" name="Text 4"/>
          <p:cNvSpPr/>
          <p:nvPr/>
        </p:nvSpPr>
        <p:spPr>
          <a:xfrm>
            <a:off x="822960" y="16642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0392B"/>
                </a:solidFill>
                <a:latin typeface="Calibri"/>
                <a:ea typeface="Calibri"/>
              </a:rPr>
              <a:t>The task</a:t>
            </a:r>
            <a:endParaRPr lang="en-US" sz="1300" b="0" strike="noStrike" spc="-1">
              <a:solidFill>
                <a:srgbClr val="000000"/>
              </a:solidFill>
              <a:latin typeface="Arial"/>
            </a:endParaRPr>
          </a:p>
        </p:txBody>
      </p:sp>
      <p:sp>
        <p:nvSpPr>
          <p:cNvPr id="671" name="Text 5"/>
          <p:cNvSpPr/>
          <p:nvPr/>
        </p:nvSpPr>
        <p:spPr>
          <a:xfrm>
            <a:off x="868680" y="1974960"/>
            <a:ext cx="10423800" cy="214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You have 152 features and 10 qubits. Describe your feature-selection strategy for the encoder, and justify why you would NOT just take the top-10 by tree importance.</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Your quantum-kernel SVM performs at chance. You measure the kernel matrix and its off-diagonal entries are all ≈ 0. Name the phenomenon and one fix.</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You add qubits to your VQC hoping for more power, but training gets worse and the loss barely moves. What is happening, and what is the diagnostic you would compute to confirm it?</a:t>
            </a:r>
            <a:endParaRPr lang="en-US" sz="1450" b="0" strike="noStrike" spc="-1">
              <a:solidFill>
                <a:srgbClr val="000000"/>
              </a:solidFill>
              <a:latin typeface="Arial"/>
            </a:endParaRPr>
          </a:p>
        </p:txBody>
      </p:sp>
      <p:sp>
        <p:nvSpPr>
          <p:cNvPr id="672" name="Shape 6"/>
          <p:cNvSpPr/>
          <p:nvPr/>
        </p:nvSpPr>
        <p:spPr>
          <a:xfrm>
            <a:off x="548640" y="4434840"/>
            <a:ext cx="11091240" cy="1599840"/>
          </a:xfrm>
          <a:prstGeom prst="roundRect">
            <a:avLst>
              <a:gd name="adj" fmla="val 4571"/>
            </a:avLst>
          </a:prstGeom>
          <a:solidFill>
            <a:srgbClr val="F0EEE8"/>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73" name="Text 7"/>
          <p:cNvSpPr/>
          <p:nvPr/>
        </p:nvSpPr>
        <p:spPr>
          <a:xfrm>
            <a:off x="822960" y="457200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5B6B7A"/>
                </a:solidFill>
                <a:latin typeface="Calibri"/>
                <a:ea typeface="Calibri"/>
              </a:rPr>
              <a:t>Hints</a:t>
            </a:r>
            <a:endParaRPr lang="en-US" sz="1300" b="0" strike="noStrike" spc="-1">
              <a:solidFill>
                <a:srgbClr val="000000"/>
              </a:solidFill>
              <a:latin typeface="Arial"/>
            </a:endParaRPr>
          </a:p>
        </p:txBody>
      </p:sp>
      <p:sp>
        <p:nvSpPr>
          <p:cNvPr id="674" name="Text 8"/>
          <p:cNvSpPr/>
          <p:nvPr/>
        </p:nvSpPr>
        <p:spPr>
          <a:xfrm>
            <a:off x="868680" y="4864680"/>
            <a:ext cx="104238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Tree importance rewards static spatial fingerprints. What should a scarce qubit encode instead?</a:t>
            </a:r>
            <a:endParaRPr lang="en-US" sz="1300" b="0" strike="noStrike" spc="-1">
              <a:solidFill>
                <a:srgbClr val="000000"/>
              </a:solidFill>
              <a:latin typeface="Arial"/>
            </a:endParaRPr>
          </a:p>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Off-diagonal kernel entries collapsing to zero has a specific name from Module 6.</a:t>
            </a:r>
            <a:endParaRPr lang="en-US" sz="1300" b="0" strike="noStrike" spc="-1">
              <a:solidFill>
                <a:srgbClr val="000000"/>
              </a:solidFill>
              <a:latin typeface="Arial"/>
            </a:endParaRPr>
          </a:p>
        </p:txBody>
      </p:sp>
      <p:sp>
        <p:nvSpPr>
          <p:cNvPr id="675" name="Text 9"/>
          <p:cNvSpPr/>
          <p:nvPr/>
        </p:nvSpPr>
        <p:spPr>
          <a:xfrm>
            <a:off x="548640" y="614484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strike="noStrike" spc="-1">
                <a:solidFill>
                  <a:srgbClr val="5B6B7A"/>
                </a:solidFill>
                <a:latin typeface="Calibri"/>
                <a:ea typeface="Calibri"/>
              </a:rPr>
              <a:t>Work this before turning the page. The answer key is at the end of the module.</a:t>
            </a:r>
            <a:endParaRPr lang="en-US" sz="1150" b="0" strike="noStrike" spc="-1">
              <a:solidFill>
                <a:srgbClr val="000000"/>
              </a:solidFill>
              <a:latin typeface="Arial"/>
            </a:endParaRPr>
          </a:p>
        </p:txBody>
      </p:sp>
      <p:sp>
        <p:nvSpPr>
          <p:cNvPr id="676" name="Text 10"/>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6 · Quantum Methods</a:t>
            </a:r>
            <a:endParaRPr lang="en-US" sz="1000" b="0" strike="noStrike" spc="-1">
              <a:solidFill>
                <a:srgbClr val="000000"/>
              </a:solidFill>
              <a:latin typeface="Arial"/>
            </a:endParaRPr>
          </a:p>
        </p:txBody>
      </p:sp>
      <p:sp>
        <p:nvSpPr>
          <p:cNvPr id="677" name="Text 11"/>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678" name="Text 12"/>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50</a:t>
            </a:r>
            <a:endParaRPr lang="en-US" sz="1000" b="0" strike="noStrike" spc="-1">
              <a:solidFill>
                <a:srgbClr val="000000"/>
              </a:solidFill>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679" name="Shape 0"/>
          <p:cNvSpPr/>
          <p:nvPr/>
        </p:nvSpPr>
        <p:spPr>
          <a:xfrm>
            <a:off x="548640" y="457200"/>
            <a:ext cx="11091240" cy="785880"/>
          </a:xfrm>
          <a:prstGeom prst="roundRect">
            <a:avLst>
              <a:gd name="adj" fmla="val 6977"/>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80" name="Text 1"/>
          <p:cNvSpPr/>
          <p:nvPr/>
        </p:nvSpPr>
        <p:spPr>
          <a:xfrm>
            <a:off x="822960" y="530280"/>
            <a:ext cx="10058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FF3E7"/>
                </a:solidFill>
                <a:latin typeface="Calibri"/>
                <a:ea typeface="Calibri"/>
              </a:rPr>
              <a:t>ANSWER KEY · MODULE 6</a:t>
            </a:r>
            <a:endParaRPr lang="en-US" sz="1300" b="0" strike="noStrike" spc="-1">
              <a:solidFill>
                <a:srgbClr val="000000"/>
              </a:solidFill>
              <a:latin typeface="Arial"/>
            </a:endParaRPr>
          </a:p>
        </p:txBody>
      </p:sp>
      <p:sp>
        <p:nvSpPr>
          <p:cNvPr id="681" name="Text 2"/>
          <p:cNvSpPr/>
          <p:nvPr/>
        </p:nvSpPr>
        <p:spPr>
          <a:xfrm>
            <a:off x="822960" y="786240"/>
            <a:ext cx="100580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Check your work</a:t>
            </a:r>
            <a:endParaRPr lang="en-US" sz="2200" b="0" strike="noStrike" spc="-1">
              <a:solidFill>
                <a:srgbClr val="000000"/>
              </a:solidFill>
              <a:latin typeface="Arial"/>
            </a:endParaRPr>
          </a:p>
        </p:txBody>
      </p:sp>
      <p:sp>
        <p:nvSpPr>
          <p:cNvPr id="682" name="Shape 3"/>
          <p:cNvSpPr/>
          <p:nvPr/>
        </p:nvSpPr>
        <p:spPr>
          <a:xfrm>
            <a:off x="548640" y="1481400"/>
            <a:ext cx="11091240" cy="1234080"/>
          </a:xfrm>
          <a:prstGeom prst="roundRect">
            <a:avLst>
              <a:gd name="adj" fmla="val 5926"/>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83" name="Text 4"/>
          <p:cNvSpPr/>
          <p:nvPr/>
        </p:nvSpPr>
        <p:spPr>
          <a:xfrm>
            <a:off x="822960" y="1591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6.1 — encoder feature selection</a:t>
            </a:r>
            <a:endParaRPr lang="en-US" sz="1400" b="0" strike="noStrike" spc="-1">
              <a:solidFill>
                <a:srgbClr val="000000"/>
              </a:solidFill>
              <a:latin typeface="Arial"/>
            </a:endParaRPr>
          </a:p>
        </p:txBody>
      </p:sp>
      <p:sp>
        <p:nvSpPr>
          <p:cNvPr id="684" name="Text 5"/>
          <p:cNvSpPr/>
          <p:nvPr/>
        </p:nvSpPr>
        <p:spPr>
          <a:xfrm>
            <a:off x="868680" y="1901880"/>
            <a:ext cx="105152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Measure each feature's temporal variance within a cell; discard near-static ones (they are spatial fingerprints). Rank the remaining dynamic features by permutation importance on held-out data, and encode the top ~10. Top-10-by-tree-importance would load GPS/distance fingerprints, wasting qubits on location the model can memorize classically.</a:t>
            </a:r>
            <a:endParaRPr lang="en-US" sz="1280" b="0" strike="noStrike" spc="-1">
              <a:solidFill>
                <a:srgbClr val="000000"/>
              </a:solidFill>
              <a:latin typeface="Arial"/>
            </a:endParaRPr>
          </a:p>
        </p:txBody>
      </p:sp>
      <p:sp>
        <p:nvSpPr>
          <p:cNvPr id="685" name="Shape 6"/>
          <p:cNvSpPr/>
          <p:nvPr/>
        </p:nvSpPr>
        <p:spPr>
          <a:xfrm>
            <a:off x="548640" y="2825640"/>
            <a:ext cx="11091240" cy="1142640"/>
          </a:xfrm>
          <a:prstGeom prst="roundRect">
            <a:avLst>
              <a:gd name="adj" fmla="val 6400"/>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86" name="Text 7"/>
          <p:cNvSpPr/>
          <p:nvPr/>
        </p:nvSpPr>
        <p:spPr>
          <a:xfrm>
            <a:off x="822960" y="293508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6.1 — kernel at chance, off-diagonals ≈ 0</a:t>
            </a:r>
            <a:endParaRPr lang="en-US" sz="1400" b="0" strike="noStrike" spc="-1">
              <a:solidFill>
                <a:srgbClr val="000000"/>
              </a:solidFill>
              <a:latin typeface="Arial"/>
            </a:endParaRPr>
          </a:p>
        </p:txBody>
      </p:sp>
      <p:sp>
        <p:nvSpPr>
          <p:cNvPr id="687" name="Text 8"/>
          <p:cNvSpPr/>
          <p:nvPr/>
        </p:nvSpPr>
        <p:spPr>
          <a:xfrm>
            <a:off x="868680" y="3246120"/>
            <a:ext cx="105152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Exponential kernel concentration: as the circuit grows, fidelities between distinct points collapse toward zero, giving a near-identity kernel that carries no similarity structure. Fixes: use fewer qubits / a shallower map, reduce the encoding angle scale, or switch to a projected (Bloch-vector) kernel.</a:t>
            </a:r>
            <a:endParaRPr lang="en-US" sz="1280" b="0" strike="noStrike" spc="-1">
              <a:solidFill>
                <a:srgbClr val="000000"/>
              </a:solidFill>
              <a:latin typeface="Arial"/>
            </a:endParaRPr>
          </a:p>
        </p:txBody>
      </p:sp>
      <p:sp>
        <p:nvSpPr>
          <p:cNvPr id="688" name="Shape 9"/>
          <p:cNvSpPr/>
          <p:nvPr/>
        </p:nvSpPr>
        <p:spPr>
          <a:xfrm>
            <a:off x="548640" y="4078080"/>
            <a:ext cx="11091240" cy="1142640"/>
          </a:xfrm>
          <a:prstGeom prst="roundRect">
            <a:avLst>
              <a:gd name="adj" fmla="val 6400"/>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89" name="Text 10"/>
          <p:cNvSpPr/>
          <p:nvPr/>
        </p:nvSpPr>
        <p:spPr>
          <a:xfrm>
            <a:off x="822960" y="418788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6.1 — VQC gets worse with more qubits</a:t>
            </a:r>
            <a:endParaRPr lang="en-US" sz="1400" b="0" strike="noStrike" spc="-1">
              <a:solidFill>
                <a:srgbClr val="000000"/>
              </a:solidFill>
              <a:latin typeface="Arial"/>
            </a:endParaRPr>
          </a:p>
        </p:txBody>
      </p:sp>
      <p:sp>
        <p:nvSpPr>
          <p:cNvPr id="690" name="Text 11"/>
          <p:cNvSpPr/>
          <p:nvPr/>
        </p:nvSpPr>
        <p:spPr>
          <a:xfrm>
            <a:off x="868680" y="4498920"/>
            <a:ext cx="105152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Barren plateau: gradient variance decays exponentially with qubit count, flattening the landscape so the optimizer has no slope to follow. Diagnostic: sample random parameters and measure the variance of a gradient component across several qubit counts — an exponential decrease confirms the plateau.</a:t>
            </a:r>
            <a:endParaRPr lang="en-US" sz="1280" b="0" strike="noStrike" spc="-1">
              <a:solidFill>
                <a:srgbClr val="000000"/>
              </a:solidFill>
              <a:latin typeface="Arial"/>
            </a:endParaRPr>
          </a:p>
        </p:txBody>
      </p:sp>
      <p:sp>
        <p:nvSpPr>
          <p:cNvPr id="691" name="Text 1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6 · Quantum Methods</a:t>
            </a:r>
            <a:endParaRPr lang="en-US" sz="1000" b="0" strike="noStrike" spc="-1">
              <a:solidFill>
                <a:srgbClr val="000000"/>
              </a:solidFill>
              <a:latin typeface="Arial"/>
            </a:endParaRPr>
          </a:p>
        </p:txBody>
      </p:sp>
      <p:sp>
        <p:nvSpPr>
          <p:cNvPr id="692" name="Text 1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693" name="Text 1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51</a:t>
            </a:r>
            <a:endParaRPr lang="en-US" sz="1000" b="0" strike="noStrike" spc="-1">
              <a:solidFill>
                <a:srgbClr val="000000"/>
              </a:solidFill>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694" name="Shape 0"/>
          <p:cNvSpPr/>
          <p:nvPr/>
        </p:nvSpPr>
        <p:spPr>
          <a:xfrm>
            <a:off x="640080" y="1371600"/>
            <a:ext cx="1371240" cy="137124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95" name="Text 1"/>
          <p:cNvSpPr/>
          <p:nvPr/>
        </p:nvSpPr>
        <p:spPr>
          <a:xfrm>
            <a:off x="640080" y="137160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6200" b="1" strike="noStrike" spc="-1">
                <a:solidFill>
                  <a:srgbClr val="FFFFFF"/>
                </a:solidFill>
                <a:latin typeface="Cambria"/>
                <a:ea typeface="Cambria"/>
              </a:rPr>
              <a:t>7</a:t>
            </a:r>
            <a:endParaRPr lang="en-US" sz="6200" b="0" strike="noStrike" spc="-1">
              <a:solidFill>
                <a:srgbClr val="FFFFFF"/>
              </a:solidFill>
              <a:latin typeface="Arial"/>
            </a:endParaRPr>
          </a:p>
        </p:txBody>
      </p:sp>
      <p:sp>
        <p:nvSpPr>
          <p:cNvPr id="696" name="Text 2"/>
          <p:cNvSpPr/>
          <p:nvPr/>
        </p:nvSpPr>
        <p:spPr>
          <a:xfrm>
            <a:off x="2331720" y="14814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299">
                <a:solidFill>
                  <a:srgbClr val="2E7D53"/>
                </a:solidFill>
                <a:latin typeface="Calibri"/>
                <a:ea typeface="Calibri"/>
              </a:rPr>
              <a:t>MODULE 7</a:t>
            </a:r>
            <a:endParaRPr lang="en-US" sz="1500" b="0" strike="noStrike" spc="-1">
              <a:solidFill>
                <a:srgbClr val="FFFFFF"/>
              </a:solidFill>
              <a:latin typeface="Arial"/>
            </a:endParaRPr>
          </a:p>
        </p:txBody>
      </p:sp>
      <p:sp>
        <p:nvSpPr>
          <p:cNvPr id="697" name="Text 3"/>
          <p:cNvSpPr/>
          <p:nvPr/>
        </p:nvSpPr>
        <p:spPr>
          <a:xfrm>
            <a:off x="2286000" y="1810440"/>
            <a:ext cx="932652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4000" b="1" strike="noStrike" spc="-1">
                <a:solidFill>
                  <a:srgbClr val="FFFFFF"/>
                </a:solidFill>
                <a:latin typeface="Cambria"/>
                <a:ea typeface="Cambria"/>
              </a:rPr>
              <a:t>The Honest Verdict</a:t>
            </a:r>
            <a:endParaRPr lang="en-US" sz="4000" b="0" strike="noStrike" spc="-1">
              <a:solidFill>
                <a:srgbClr val="FFFFFF"/>
              </a:solidFill>
              <a:latin typeface="Arial"/>
            </a:endParaRPr>
          </a:p>
        </p:txBody>
      </p:sp>
      <p:sp>
        <p:nvSpPr>
          <p:cNvPr id="698" name="Text 4"/>
          <p:cNvSpPr/>
          <p:nvPr/>
        </p:nvSpPr>
        <p:spPr>
          <a:xfrm>
            <a:off x="2331720" y="2743200"/>
            <a:ext cx="9052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strike="noStrike" spc="-1">
                <a:solidFill>
                  <a:srgbClr val="C7D0D9"/>
                </a:solidFill>
                <a:latin typeface="Calibri"/>
                <a:ea typeface="Calibri"/>
              </a:rPr>
              <a:t>The whole tournament comes down to one question, answered honestly.</a:t>
            </a:r>
            <a:endParaRPr lang="en-US" sz="1700" b="0" strike="noStrike" spc="-1">
              <a:solidFill>
                <a:srgbClr val="FFFFFF"/>
              </a:solidFill>
              <a:latin typeface="Arial"/>
            </a:endParaRPr>
          </a:p>
        </p:txBody>
      </p:sp>
      <p:sp>
        <p:nvSpPr>
          <p:cNvPr id="699" name="Text 5"/>
          <p:cNvSpPr/>
          <p:nvPr/>
        </p:nvSpPr>
        <p:spPr>
          <a:xfrm>
            <a:off x="2331720" y="36118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8996A3"/>
                </a:solidFill>
                <a:latin typeface="Calibri"/>
                <a:ea typeface="Calibri"/>
              </a:rPr>
              <a:t>IN THIS MODULE</a:t>
            </a:r>
            <a:endParaRPr lang="en-US" sz="1200" b="0" strike="noStrike" spc="-1">
              <a:solidFill>
                <a:srgbClr val="FFFFFF"/>
              </a:solidFill>
              <a:latin typeface="Arial"/>
            </a:endParaRPr>
          </a:p>
        </p:txBody>
      </p:sp>
      <p:sp>
        <p:nvSpPr>
          <p:cNvPr id="700" name="Text 6"/>
          <p:cNvSpPr/>
          <p:nvPr/>
        </p:nvSpPr>
        <p:spPr>
          <a:xfrm>
            <a:off x="2331720" y="3931920"/>
            <a:ext cx="914364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00"/>
              </a:spcAft>
              <a:buClr>
                <a:srgbClr val="E4E9EE"/>
              </a:buClr>
              <a:buFont typeface="Symbol" charset="2"/>
              <a:buChar char=""/>
            </a:pPr>
            <a:r>
              <a:rPr lang="en-US" sz="1450" b="0" strike="noStrike" spc="-1" dirty="0">
                <a:solidFill>
                  <a:srgbClr val="E4E9EE"/>
                </a:solidFill>
                <a:latin typeface="Calibri"/>
                <a:ea typeface="Calibri"/>
              </a:rPr>
              <a:t>The full leaderboard on the sealed judge window</a:t>
            </a:r>
            <a:endParaRPr lang="en-US" sz="1450" b="0" strike="noStrike" spc="-1" dirty="0">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dirty="0">
                <a:solidFill>
                  <a:srgbClr val="E4E9EE"/>
                </a:solidFill>
                <a:latin typeface="Calibri"/>
                <a:ea typeface="Calibri"/>
              </a:rPr>
              <a:t>Does a 373-feature pipeline beat 5-parameter physics?</a:t>
            </a:r>
            <a:endParaRPr lang="en-US" sz="1450" b="0" strike="noStrike" spc="-1" dirty="0">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dirty="0">
                <a:solidFill>
                  <a:srgbClr val="E4E9EE"/>
                </a:solidFill>
                <a:latin typeface="Calibri"/>
                <a:ea typeface="Calibri"/>
              </a:rPr>
              <a:t>AUC drawn as an area you can see</a:t>
            </a:r>
            <a:endParaRPr lang="en-US" sz="1450" b="0" strike="noStrike" spc="-1" dirty="0">
              <a:solidFill>
                <a:srgbClr val="FFFFFF"/>
              </a:solidFill>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01"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THE RESULT</a:t>
            </a:r>
            <a:endParaRPr lang="en-US" sz="1300" b="0" strike="noStrike" spc="-1">
              <a:solidFill>
                <a:srgbClr val="000000"/>
              </a:solidFill>
              <a:latin typeface="Arial"/>
            </a:endParaRPr>
          </a:p>
        </p:txBody>
      </p:sp>
      <p:sp>
        <p:nvSpPr>
          <p:cNvPr id="702"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Every model, on data none of them saw</a:t>
            </a:r>
            <a:endParaRPr lang="en-US" sz="3000" b="0" strike="noStrike" spc="-1">
              <a:solidFill>
                <a:srgbClr val="000000"/>
              </a:solidFill>
              <a:latin typeface="Arial"/>
            </a:endParaRPr>
          </a:p>
        </p:txBody>
      </p:sp>
      <p:pic>
        <p:nvPicPr>
          <p:cNvPr id="703" name="Image 0" descr="figs/full_19.png"/>
          <p:cNvPicPr/>
          <p:nvPr/>
        </p:nvPicPr>
        <p:blipFill>
          <a:blip r:embed="rId3"/>
          <a:stretch/>
        </p:blipFill>
        <p:spPr>
          <a:xfrm>
            <a:off x="2125080" y="1645920"/>
            <a:ext cx="7911000" cy="3657240"/>
          </a:xfrm>
          <a:prstGeom prst="rect">
            <a:avLst/>
          </a:prstGeom>
          <a:ln w="0">
            <a:noFill/>
          </a:ln>
        </p:spPr>
      </p:pic>
      <p:sp>
        <p:nvSpPr>
          <p:cNvPr id="704"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Train / test / blind information gain for every model. The ranking on test largely survives on the blind window — which is exactly what a non-leaking pipeline looks like.</a:t>
            </a:r>
            <a:endParaRPr lang="en-US" sz="1100" b="0" strike="noStrike" spc="-1">
              <a:solidFill>
                <a:srgbClr val="000000"/>
              </a:solidFill>
              <a:latin typeface="Arial"/>
            </a:endParaRPr>
          </a:p>
        </p:txBody>
      </p:sp>
      <p:sp>
        <p:nvSpPr>
          <p:cNvPr id="705"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06"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07"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Notice the gaps. The tree models overfit train IG to ~0.19–0.25 but score ~0.13 blind. ETAS shows almost no gap — it never saw the labels, so it has nothing to overfit.</a:t>
            </a:r>
            <a:endParaRPr lang="en-US" sz="1350" b="0" strike="noStrike" spc="-1">
              <a:solidFill>
                <a:srgbClr val="000000"/>
              </a:solidFill>
              <a:latin typeface="Arial"/>
            </a:endParaRPr>
          </a:p>
        </p:txBody>
      </p:sp>
      <p:sp>
        <p:nvSpPr>
          <p:cNvPr id="708"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7 · The Honest Verdict</a:t>
            </a:r>
            <a:endParaRPr lang="en-US" sz="1000" b="0" strike="noStrike" spc="-1">
              <a:solidFill>
                <a:srgbClr val="000000"/>
              </a:solidFill>
              <a:latin typeface="Arial"/>
            </a:endParaRPr>
          </a:p>
        </p:txBody>
      </p:sp>
      <p:sp>
        <p:nvSpPr>
          <p:cNvPr id="709"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710"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53</a:t>
            </a:r>
            <a:endParaRPr lang="en-US" sz="1000" b="0" strike="noStrike" spc="-1">
              <a:solidFill>
                <a:srgbClr val="000000"/>
              </a:solidFill>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11"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THE HEADLINE</a:t>
            </a:r>
            <a:endParaRPr lang="en-US" sz="1300" b="0" strike="noStrike" spc="-1">
              <a:solidFill>
                <a:srgbClr val="000000"/>
              </a:solidFill>
              <a:latin typeface="Arial"/>
            </a:endParaRPr>
          </a:p>
        </p:txBody>
      </p:sp>
      <p:sp>
        <p:nvSpPr>
          <p:cNvPr id="712"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Parity with five parameters of physics</a:t>
            </a:r>
            <a:endParaRPr lang="en-US" sz="3000" b="0" strike="noStrike" spc="-1">
              <a:solidFill>
                <a:srgbClr val="000000"/>
              </a:solidFill>
              <a:latin typeface="Arial"/>
            </a:endParaRPr>
          </a:p>
        </p:txBody>
      </p:sp>
      <p:sp>
        <p:nvSpPr>
          <p:cNvPr id="713" name="Shape 2"/>
          <p:cNvSpPr/>
          <p:nvPr/>
        </p:nvSpPr>
        <p:spPr>
          <a:xfrm>
            <a:off x="548640" y="1965960"/>
            <a:ext cx="2532600" cy="2102760"/>
          </a:xfrm>
          <a:prstGeom prst="roundRect">
            <a:avLst>
              <a:gd name="adj" fmla="val 3478"/>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14" name="Text 3"/>
          <p:cNvSpPr/>
          <p:nvPr/>
        </p:nvSpPr>
        <p:spPr>
          <a:xfrm>
            <a:off x="548640" y="2286000"/>
            <a:ext cx="253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600" b="1" strike="noStrike" spc="-1">
                <a:solidFill>
                  <a:srgbClr val="2E7D53"/>
                </a:solidFill>
                <a:latin typeface="Cambria"/>
                <a:ea typeface="Cambria"/>
              </a:rPr>
              <a:t>+0.136</a:t>
            </a:r>
            <a:endParaRPr lang="en-US" sz="4600" b="0" strike="noStrike" spc="-1">
              <a:solidFill>
                <a:srgbClr val="000000"/>
              </a:solidFill>
              <a:latin typeface="Arial"/>
            </a:endParaRPr>
          </a:p>
        </p:txBody>
      </p:sp>
      <p:sp>
        <p:nvSpPr>
          <p:cNvPr id="715" name="Text 4"/>
          <p:cNvSpPr/>
          <p:nvPr/>
        </p:nvSpPr>
        <p:spPr>
          <a:xfrm>
            <a:off x="548640" y="3127320"/>
            <a:ext cx="25326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0" strike="noStrike" spc="-1">
                <a:solidFill>
                  <a:srgbClr val="5B6B7A"/>
                </a:solidFill>
                <a:latin typeface="Calibri"/>
                <a:ea typeface="Calibri"/>
              </a:rPr>
              <a:t>Reference IG over climatology (bits), blind window</a:t>
            </a:r>
            <a:endParaRPr lang="en-US" sz="1250" b="0" strike="noStrike" spc="-1">
              <a:solidFill>
                <a:srgbClr val="000000"/>
              </a:solidFill>
              <a:latin typeface="Arial"/>
            </a:endParaRPr>
          </a:p>
        </p:txBody>
      </p:sp>
      <p:sp>
        <p:nvSpPr>
          <p:cNvPr id="716" name="Shape 5"/>
          <p:cNvSpPr/>
          <p:nvPr/>
        </p:nvSpPr>
        <p:spPr>
          <a:xfrm>
            <a:off x="3401640" y="1965960"/>
            <a:ext cx="2532600" cy="2102760"/>
          </a:xfrm>
          <a:prstGeom prst="roundRect">
            <a:avLst>
              <a:gd name="adj" fmla="val 3478"/>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17" name="Text 6"/>
          <p:cNvSpPr/>
          <p:nvPr/>
        </p:nvSpPr>
        <p:spPr>
          <a:xfrm>
            <a:off x="3401640" y="2286000"/>
            <a:ext cx="253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600" b="1" strike="noStrike" spc="-1">
                <a:solidFill>
                  <a:srgbClr val="C0392B"/>
                </a:solidFill>
                <a:latin typeface="Cambria"/>
                <a:ea typeface="Cambria"/>
              </a:rPr>
              <a:t>+0.002</a:t>
            </a:r>
            <a:endParaRPr lang="en-US" sz="4600" b="0" strike="noStrike" spc="-1">
              <a:solidFill>
                <a:srgbClr val="000000"/>
              </a:solidFill>
              <a:latin typeface="Arial"/>
            </a:endParaRPr>
          </a:p>
        </p:txBody>
      </p:sp>
      <p:sp>
        <p:nvSpPr>
          <p:cNvPr id="718" name="Text 7"/>
          <p:cNvSpPr/>
          <p:nvPr/>
        </p:nvSpPr>
        <p:spPr>
          <a:xfrm>
            <a:off x="3401640" y="3127320"/>
            <a:ext cx="25326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0" strike="noStrike" spc="-1">
                <a:solidFill>
                  <a:srgbClr val="5B6B7A"/>
                </a:solidFill>
                <a:latin typeface="Calibri"/>
                <a:ea typeface="Calibri"/>
              </a:rPr>
              <a:t>Reference IG over a fitted ETAS — statistical parity</a:t>
            </a:r>
            <a:endParaRPr lang="en-US" sz="1250" b="0" strike="noStrike" spc="-1">
              <a:solidFill>
                <a:srgbClr val="000000"/>
              </a:solidFill>
              <a:latin typeface="Arial"/>
            </a:endParaRPr>
          </a:p>
        </p:txBody>
      </p:sp>
      <p:sp>
        <p:nvSpPr>
          <p:cNvPr id="719" name="Shape 8"/>
          <p:cNvSpPr/>
          <p:nvPr/>
        </p:nvSpPr>
        <p:spPr>
          <a:xfrm>
            <a:off x="6254640" y="1965960"/>
            <a:ext cx="2532600" cy="2102760"/>
          </a:xfrm>
          <a:prstGeom prst="roundRect">
            <a:avLst>
              <a:gd name="adj" fmla="val 3478"/>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20" name="Text 9"/>
          <p:cNvSpPr/>
          <p:nvPr/>
        </p:nvSpPr>
        <p:spPr>
          <a:xfrm>
            <a:off x="6254640" y="2286000"/>
            <a:ext cx="253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600" b="1" strike="noStrike" spc="-1">
                <a:solidFill>
                  <a:srgbClr val="1F6FB2"/>
                </a:solidFill>
                <a:latin typeface="Cambria"/>
                <a:ea typeface="Cambria"/>
              </a:rPr>
              <a:t>0.872</a:t>
            </a:r>
            <a:endParaRPr lang="en-US" sz="4600" b="0" strike="noStrike" spc="-1">
              <a:solidFill>
                <a:srgbClr val="000000"/>
              </a:solidFill>
              <a:latin typeface="Arial"/>
            </a:endParaRPr>
          </a:p>
        </p:txBody>
      </p:sp>
      <p:sp>
        <p:nvSpPr>
          <p:cNvPr id="721" name="Text 10"/>
          <p:cNvSpPr/>
          <p:nvPr/>
        </p:nvSpPr>
        <p:spPr>
          <a:xfrm>
            <a:off x="6254640" y="3127320"/>
            <a:ext cx="25326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0" strike="noStrike" spc="-1">
                <a:solidFill>
                  <a:srgbClr val="5B6B7A"/>
                </a:solidFill>
                <a:latin typeface="Calibri"/>
                <a:ea typeface="Calibri"/>
              </a:rPr>
              <a:t>Blind AUC — high, because location is predictable</a:t>
            </a:r>
            <a:endParaRPr lang="en-US" sz="1250" b="0" strike="noStrike" spc="-1">
              <a:solidFill>
                <a:srgbClr val="000000"/>
              </a:solidFill>
              <a:latin typeface="Arial"/>
            </a:endParaRPr>
          </a:p>
        </p:txBody>
      </p:sp>
      <p:sp>
        <p:nvSpPr>
          <p:cNvPr id="722" name="Shape 11"/>
          <p:cNvSpPr/>
          <p:nvPr/>
        </p:nvSpPr>
        <p:spPr>
          <a:xfrm>
            <a:off x="9107280" y="1965960"/>
            <a:ext cx="2532600" cy="2102760"/>
          </a:xfrm>
          <a:prstGeom prst="roundRect">
            <a:avLst>
              <a:gd name="adj" fmla="val 3478"/>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23" name="Text 12"/>
          <p:cNvSpPr/>
          <p:nvPr/>
        </p:nvSpPr>
        <p:spPr>
          <a:xfrm>
            <a:off x="9107280" y="2286000"/>
            <a:ext cx="253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600" b="1" strike="noStrike" spc="-1">
                <a:solidFill>
                  <a:srgbClr val="7B4EA8"/>
                </a:solidFill>
                <a:latin typeface="Cambria"/>
                <a:ea typeface="Cambria"/>
              </a:rPr>
              <a:t>+0.001</a:t>
            </a:r>
            <a:endParaRPr lang="en-US" sz="4600" b="0" strike="noStrike" spc="-1">
              <a:solidFill>
                <a:srgbClr val="000000"/>
              </a:solidFill>
              <a:latin typeface="Arial"/>
            </a:endParaRPr>
          </a:p>
        </p:txBody>
      </p:sp>
      <p:sp>
        <p:nvSpPr>
          <p:cNvPr id="724" name="Text 13"/>
          <p:cNvSpPr/>
          <p:nvPr/>
        </p:nvSpPr>
        <p:spPr>
          <a:xfrm>
            <a:off x="9107280" y="3127320"/>
            <a:ext cx="25326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0" strike="noStrike" spc="-1">
                <a:solidFill>
                  <a:srgbClr val="5B6B7A"/>
                </a:solidFill>
                <a:latin typeface="Calibri"/>
                <a:ea typeface="Calibri"/>
              </a:rPr>
              <a:t>Quantum ΔAUC — CI spans zero, no lift</a:t>
            </a:r>
            <a:endParaRPr lang="en-US" sz="1250" b="0" strike="noStrike" spc="-1">
              <a:solidFill>
                <a:srgbClr val="000000"/>
              </a:solidFill>
              <a:latin typeface="Arial"/>
            </a:endParaRPr>
          </a:p>
        </p:txBody>
      </p:sp>
      <p:sp>
        <p:nvSpPr>
          <p:cNvPr id="725" name="Text 14"/>
          <p:cNvSpPr/>
          <p:nvPr/>
        </p:nvSpPr>
        <p:spPr>
          <a:xfrm>
            <a:off x="548640" y="4343400"/>
            <a:ext cx="11091240" cy="164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500" b="0" strike="noStrike" spc="-1">
                <a:solidFill>
                  <a:srgbClr val="16202B"/>
                </a:solidFill>
                <a:latin typeface="Calibri"/>
                <a:ea typeface="Calibri"/>
              </a:rPr>
              <a:t>With 248,000 training rows and 373 features — classical and quantum — the reference beats a five-parameter ETAS model by two thousandths of a bit. That is the honest result. A properly fitted physics baseline, which never saw a single label, is essentially as good as everything else combined.</a:t>
            </a:r>
            <a:endParaRPr lang="en-US" sz="1500" b="0" strike="noStrike" spc="-1">
              <a:solidFill>
                <a:srgbClr val="000000"/>
              </a:solidFill>
              <a:latin typeface="Arial"/>
            </a:endParaRPr>
          </a:p>
        </p:txBody>
      </p:sp>
      <p:sp>
        <p:nvSpPr>
          <p:cNvPr id="726" name="Text 1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7 · The Honest Verdict</a:t>
            </a:r>
            <a:endParaRPr lang="en-US" sz="1000" b="0" strike="noStrike" spc="-1">
              <a:solidFill>
                <a:srgbClr val="000000"/>
              </a:solidFill>
              <a:latin typeface="Arial"/>
            </a:endParaRPr>
          </a:p>
        </p:txBody>
      </p:sp>
      <p:sp>
        <p:nvSpPr>
          <p:cNvPr id="727" name="Text 1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728" name="Text 1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54</a:t>
            </a:r>
            <a:endParaRPr lang="en-US" sz="1000" b="0" strike="noStrike" spc="-1">
              <a:solidFill>
                <a:srgbClr val="000000"/>
              </a:solidFill>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29"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SEE THE SCORE</a:t>
            </a:r>
            <a:endParaRPr lang="en-US" sz="1300" b="0" strike="noStrike" spc="-1">
              <a:solidFill>
                <a:srgbClr val="000000"/>
              </a:solidFill>
              <a:latin typeface="Arial"/>
            </a:endParaRPr>
          </a:p>
        </p:txBody>
      </p:sp>
      <p:sp>
        <p:nvSpPr>
          <p:cNvPr id="730"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AUC, drawn as an area</a:t>
            </a:r>
            <a:endParaRPr lang="en-US" sz="3000" b="0" strike="noStrike" spc="-1">
              <a:solidFill>
                <a:srgbClr val="000000"/>
              </a:solidFill>
              <a:latin typeface="Arial"/>
            </a:endParaRPr>
          </a:p>
        </p:txBody>
      </p:sp>
      <p:sp>
        <p:nvSpPr>
          <p:cNvPr id="731"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AUC is literally an area — the area under the ROC curve. These panels shade it so you can read the score off the picture.</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The grey wedge behind each curve is the no-skill region a coin flip earns (AUC 0.5). The colored area on top is what the model actually added.</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Seeing the models overlaid this way makes the punchline visual: the physics baseline (green) and the full pipeline (red) enclose almost the same area. The quantum models enclose less.</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i="1" strike="noStrike" spc="-1">
                <a:solidFill>
                  <a:srgbClr val="5B6B7A"/>
                </a:solidFill>
                <a:latin typeface="Calibri"/>
                <a:ea typeface="Calibri"/>
              </a:rPr>
              <a:t>A picture like this defends your result better than a table of decimals ever will.</a:t>
            </a:r>
            <a:endParaRPr lang="en-US" sz="1500" b="0" strike="noStrike" spc="-1">
              <a:solidFill>
                <a:srgbClr val="000000"/>
              </a:solidFill>
              <a:latin typeface="Arial"/>
            </a:endParaRPr>
          </a:p>
        </p:txBody>
      </p:sp>
      <p:pic>
        <p:nvPicPr>
          <p:cNvPr id="732" name="Image 0" descr="figs/full_28.png"/>
          <p:cNvPicPr/>
          <p:nvPr/>
        </p:nvPicPr>
        <p:blipFill>
          <a:blip r:embed="rId3"/>
          <a:stretch/>
        </p:blipFill>
        <p:spPr>
          <a:xfrm>
            <a:off x="7204680" y="1691640"/>
            <a:ext cx="3996720" cy="4023000"/>
          </a:xfrm>
          <a:prstGeom prst="rect">
            <a:avLst/>
          </a:prstGeom>
          <a:ln w="0">
            <a:noFill/>
          </a:ln>
        </p:spPr>
      </p:pic>
      <p:sp>
        <p:nvSpPr>
          <p:cNvPr id="733" name="Text 3"/>
          <p:cNvSpPr/>
          <p:nvPr/>
        </p:nvSpPr>
        <p:spPr>
          <a:xfrm>
            <a:off x="6766560" y="5751720"/>
            <a:ext cx="48733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AUC as a shaded area for each model on the blind window. The grey wedge is the no-skill baseline; the colored region is the earned skill.</a:t>
            </a:r>
            <a:endParaRPr lang="en-US" sz="1100" b="0" strike="noStrike" spc="-1">
              <a:solidFill>
                <a:srgbClr val="000000"/>
              </a:solidFill>
              <a:latin typeface="Arial"/>
            </a:endParaRPr>
          </a:p>
        </p:txBody>
      </p:sp>
      <p:sp>
        <p:nvSpPr>
          <p:cNvPr id="734" name="Text 4"/>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7 · The Honest Verdict</a:t>
            </a:r>
            <a:endParaRPr lang="en-US" sz="1000" b="0" strike="noStrike" spc="-1">
              <a:solidFill>
                <a:srgbClr val="000000"/>
              </a:solidFill>
              <a:latin typeface="Arial"/>
            </a:endParaRPr>
          </a:p>
        </p:txBody>
      </p:sp>
      <p:sp>
        <p:nvSpPr>
          <p:cNvPr id="735" name="Text 5"/>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736" name="Text 6"/>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55</a:t>
            </a:r>
            <a:endParaRPr lang="en-US" sz="1000" b="0" strike="noStrike" spc="-1">
              <a:solidFill>
                <a:srgbClr val="000000"/>
              </a:solidFill>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737" name="Shape 0"/>
          <p:cNvSpPr/>
          <p:nvPr/>
        </p:nvSpPr>
        <p:spPr>
          <a:xfrm>
            <a:off x="640080" y="640080"/>
            <a:ext cx="639720" cy="6397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38" name="Text 1"/>
          <p:cNvSpPr/>
          <p:nvPr/>
        </p:nvSpPr>
        <p:spPr>
          <a:xfrm>
            <a:off x="640080" y="621720"/>
            <a:ext cx="639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strike="noStrike" spc="-1">
                <a:solidFill>
                  <a:srgbClr val="FFFFFF"/>
                </a:solidFill>
                <a:latin typeface="Cambria"/>
                <a:ea typeface="Cambria"/>
              </a:rPr>
              <a:t>✓</a:t>
            </a:r>
            <a:endParaRPr lang="en-US" sz="3000" b="0" strike="noStrike" spc="-1">
              <a:solidFill>
                <a:srgbClr val="FFFFFF"/>
              </a:solidFill>
              <a:latin typeface="Arial"/>
            </a:endParaRPr>
          </a:p>
        </p:txBody>
      </p:sp>
      <p:sp>
        <p:nvSpPr>
          <p:cNvPr id="739" name="Text 2"/>
          <p:cNvSpPr/>
          <p:nvPr/>
        </p:nvSpPr>
        <p:spPr>
          <a:xfrm>
            <a:off x="1463040" y="658440"/>
            <a:ext cx="9143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99">
                <a:solidFill>
                  <a:srgbClr val="7B4EA8"/>
                </a:solidFill>
                <a:latin typeface="Calibri"/>
                <a:ea typeface="Calibri"/>
              </a:rPr>
              <a:t>HONESTY CHECKPOINT</a:t>
            </a:r>
            <a:endParaRPr lang="en-US" sz="1500" b="0" strike="noStrike" spc="-1">
              <a:solidFill>
                <a:srgbClr val="FFFFFF"/>
              </a:solidFill>
              <a:latin typeface="Arial"/>
            </a:endParaRPr>
          </a:p>
        </p:txBody>
      </p:sp>
      <p:sp>
        <p:nvSpPr>
          <p:cNvPr id="740" name="Text 3"/>
          <p:cNvSpPr/>
          <p:nvPr/>
        </p:nvSpPr>
        <p:spPr>
          <a:xfrm>
            <a:off x="1463040" y="969120"/>
            <a:ext cx="10058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2700" b="1" strike="noStrike" spc="-1">
                <a:solidFill>
                  <a:srgbClr val="FFFFFF"/>
                </a:solidFill>
                <a:latin typeface="Cambria"/>
                <a:ea typeface="Cambria"/>
              </a:rPr>
              <a:t>The honest negative is the winning answer</a:t>
            </a:r>
            <a:endParaRPr lang="en-US" sz="2700" b="0" strike="noStrike" spc="-1">
              <a:solidFill>
                <a:srgbClr val="FFFFFF"/>
              </a:solidFill>
              <a:latin typeface="Arial"/>
            </a:endParaRPr>
          </a:p>
        </p:txBody>
      </p:sp>
      <p:sp>
        <p:nvSpPr>
          <p:cNvPr id="741" name="Text 4"/>
          <p:cNvSpPr/>
          <p:nvPr/>
        </p:nvSpPr>
        <p:spPr>
          <a:xfrm>
            <a:off x="1463040" y="2103120"/>
            <a:ext cx="996660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spcAft>
                <a:spcPts val="1199"/>
              </a:spcAft>
              <a:tabLst>
                <a:tab pos="0" algn="l"/>
              </a:tabLst>
            </a:pPr>
            <a:r>
              <a:rPr lang="en-US" sz="1600" b="0" strike="noStrike" spc="-1">
                <a:solidFill>
                  <a:srgbClr val="E4E9EE"/>
                </a:solidFill>
                <a:latin typeface="Calibri"/>
                <a:ea typeface="Calibri"/>
              </a:rPr>
              <a:t>It is tempting to report the biggest margin you can find. Resist it. On this problem, a large margin over ETAS almost always means you leaked.</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1" strike="noStrike" spc="-1">
                <a:solidFill>
                  <a:srgbClr val="E9DDF5"/>
                </a:solidFill>
                <a:latin typeface="Calibri"/>
                <a:ea typeface="Calibri"/>
              </a:rPr>
              <a:t>The team that reports 'our sophisticated pipeline achieves parity with five-parameter physics, and here is the evidence' has understood the problem better than the team claiming a spectacular win.</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The reference selected its model on the test window (etas_boosted), and a different model won on the blind window (physics_ml_stack) — by 0.002 bits. With margins that thin, that is honest selection under uncertainty, not a mistake. Say so.</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Science rewards the true answer, not the impressive one.</a:t>
            </a:r>
            <a:endParaRPr lang="en-US" sz="1600" b="0" strike="noStrike" spc="-1">
              <a:solidFill>
                <a:srgbClr val="FFFFFF"/>
              </a:solidFill>
              <a:latin typeface="Arial"/>
            </a:endParaRPr>
          </a:p>
        </p:txBody>
      </p:sp>
      <p:sp>
        <p:nvSpPr>
          <p:cNvPr id="742" name="Shape 5"/>
          <p:cNvSpPr/>
          <p:nvPr/>
        </p:nvSpPr>
        <p:spPr>
          <a:xfrm>
            <a:off x="1463040" y="5029200"/>
            <a:ext cx="9966600" cy="1096920"/>
          </a:xfrm>
          <a:prstGeom prst="roundRect">
            <a:avLst>
              <a:gd name="adj" fmla="val 5000"/>
            </a:avLst>
          </a:prstGeom>
          <a:solidFill>
            <a:srgbClr val="241A30"/>
          </a:solidFill>
          <a:ln w="12700">
            <a:solidFill>
              <a:srgbClr val="7B4E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43" name="Text 6"/>
          <p:cNvSpPr/>
          <p:nvPr/>
        </p:nvSpPr>
        <p:spPr>
          <a:xfrm>
            <a:off x="1737360" y="5139000"/>
            <a:ext cx="9417960" cy="87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dirty="0">
                <a:solidFill>
                  <a:srgbClr val="D9C9EC"/>
                </a:solidFill>
                <a:latin typeface="Cambria"/>
                <a:ea typeface="Cambria"/>
              </a:rPr>
              <a:t>“A team that matches ETAS honestly, with clean calibration and no leakage, is already </a:t>
            </a:r>
            <a:r>
              <a:rPr lang="en-US" sz="1600" i="1" spc="-1" dirty="0">
                <a:solidFill>
                  <a:srgbClr val="D9C9EC"/>
                </a:solidFill>
                <a:latin typeface="Cambria"/>
                <a:ea typeface="Cambria"/>
              </a:rPr>
              <a:t>a</a:t>
            </a:r>
            <a:r>
              <a:rPr lang="en-US" sz="1600" b="0" i="1" strike="noStrike" spc="-1" dirty="0">
                <a:solidFill>
                  <a:srgbClr val="D9C9EC"/>
                </a:solidFill>
                <a:latin typeface="Cambria"/>
                <a:ea typeface="Cambria"/>
              </a:rPr>
              <a:t> top tier. </a:t>
            </a:r>
            <a:endParaRPr lang="en-US" sz="1600" b="0" strike="noStrike" spc="-1" dirty="0">
              <a:solidFill>
                <a:srgbClr val="FFFFFF"/>
              </a:solidFill>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44" name="Shape 0"/>
          <p:cNvSpPr/>
          <p:nvPr/>
        </p:nvSpPr>
        <p:spPr>
          <a:xfrm>
            <a:off x="548640" y="457200"/>
            <a:ext cx="11091240" cy="822600"/>
          </a:xfrm>
          <a:prstGeom prst="roundRect">
            <a:avLst>
              <a:gd name="adj" fmla="val 6667"/>
            </a:avLst>
          </a:prstGeom>
          <a:solidFill>
            <a:srgbClr val="2A201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45" name="Text 1"/>
          <p:cNvSpPr/>
          <p:nvPr/>
        </p:nvSpPr>
        <p:spPr>
          <a:xfrm>
            <a:off x="822960" y="53028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TRY IT YOURSELF · 7.1</a:t>
            </a:r>
            <a:endParaRPr lang="en-US" sz="1300" b="0" strike="noStrike" spc="-1">
              <a:solidFill>
                <a:srgbClr val="000000"/>
              </a:solidFill>
              <a:latin typeface="Arial"/>
            </a:endParaRPr>
          </a:p>
        </p:txBody>
      </p:sp>
      <p:sp>
        <p:nvSpPr>
          <p:cNvPr id="746" name="Text 2"/>
          <p:cNvSpPr/>
          <p:nvPr/>
        </p:nvSpPr>
        <p:spPr>
          <a:xfrm>
            <a:off x="822960" y="786240"/>
            <a:ext cx="104238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Interpret the leaderboard</a:t>
            </a:r>
            <a:endParaRPr lang="en-US" sz="2200" b="0" strike="noStrike" spc="-1">
              <a:solidFill>
                <a:srgbClr val="000000"/>
              </a:solidFill>
              <a:latin typeface="Arial"/>
            </a:endParaRPr>
          </a:p>
        </p:txBody>
      </p:sp>
      <p:sp>
        <p:nvSpPr>
          <p:cNvPr id="747" name="Shape 3"/>
          <p:cNvSpPr/>
          <p:nvPr/>
        </p:nvSpPr>
        <p:spPr>
          <a:xfrm>
            <a:off x="548640" y="1508760"/>
            <a:ext cx="11091240" cy="2742840"/>
          </a:xfrm>
          <a:prstGeom prst="roundRect">
            <a:avLst>
              <a:gd name="adj" fmla="val 2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48" name="Text 4"/>
          <p:cNvSpPr/>
          <p:nvPr/>
        </p:nvSpPr>
        <p:spPr>
          <a:xfrm>
            <a:off x="822960" y="16642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0392B"/>
                </a:solidFill>
                <a:latin typeface="Calibri"/>
                <a:ea typeface="Calibri"/>
              </a:rPr>
              <a:t>The task</a:t>
            </a:r>
            <a:endParaRPr lang="en-US" sz="1300" b="0" strike="noStrike" spc="-1">
              <a:solidFill>
                <a:srgbClr val="000000"/>
              </a:solidFill>
              <a:latin typeface="Arial"/>
            </a:endParaRPr>
          </a:p>
        </p:txBody>
      </p:sp>
      <p:sp>
        <p:nvSpPr>
          <p:cNvPr id="749" name="Text 5"/>
          <p:cNvSpPr/>
          <p:nvPr/>
        </p:nvSpPr>
        <p:spPr>
          <a:xfrm>
            <a:off x="868680" y="1974960"/>
            <a:ext cx="10423800" cy="214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Model A: train IG 0.25, blind IG 0.11. Model B: train IG 0.12, blind IG 0.13. Which do you trust more, and what does each gap tell you?</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Your pipeline beats ETAS by 0.05 bits on the blind window. Before celebrating, what is the FIRST thing you should suspect, and how would you check it?</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Explain to a skeptical judge why 'no statistically significant quantum lift' is a stronger scientific result than 'quantum improved AUC by 0.03' with no confidence interval.</a:t>
            </a:r>
            <a:endParaRPr lang="en-US" sz="1450" b="0" strike="noStrike" spc="-1">
              <a:solidFill>
                <a:srgbClr val="000000"/>
              </a:solidFill>
              <a:latin typeface="Arial"/>
            </a:endParaRPr>
          </a:p>
        </p:txBody>
      </p:sp>
      <p:sp>
        <p:nvSpPr>
          <p:cNvPr id="750" name="Shape 6"/>
          <p:cNvSpPr/>
          <p:nvPr/>
        </p:nvSpPr>
        <p:spPr>
          <a:xfrm>
            <a:off x="548640" y="4434840"/>
            <a:ext cx="11091240" cy="1599840"/>
          </a:xfrm>
          <a:prstGeom prst="roundRect">
            <a:avLst>
              <a:gd name="adj" fmla="val 4571"/>
            </a:avLst>
          </a:prstGeom>
          <a:solidFill>
            <a:srgbClr val="F0EEE8"/>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51" name="Text 7"/>
          <p:cNvSpPr/>
          <p:nvPr/>
        </p:nvSpPr>
        <p:spPr>
          <a:xfrm>
            <a:off x="822960" y="457200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5B6B7A"/>
                </a:solidFill>
                <a:latin typeface="Calibri"/>
                <a:ea typeface="Calibri"/>
              </a:rPr>
              <a:t>Hints</a:t>
            </a:r>
            <a:endParaRPr lang="en-US" sz="1300" b="0" strike="noStrike" spc="-1">
              <a:solidFill>
                <a:srgbClr val="000000"/>
              </a:solidFill>
              <a:latin typeface="Arial"/>
            </a:endParaRPr>
          </a:p>
        </p:txBody>
      </p:sp>
      <p:sp>
        <p:nvSpPr>
          <p:cNvPr id="752" name="Text 8"/>
          <p:cNvSpPr/>
          <p:nvPr/>
        </p:nvSpPr>
        <p:spPr>
          <a:xfrm>
            <a:off x="868680" y="4864680"/>
            <a:ext cx="104238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A large train-minus-blind gap is the fingerprint of overfitting or leakage.</a:t>
            </a:r>
            <a:endParaRPr lang="en-US" sz="1300" b="0" strike="noStrike" spc="-1">
              <a:solidFill>
                <a:srgbClr val="000000"/>
              </a:solidFill>
              <a:latin typeface="Arial"/>
            </a:endParaRPr>
          </a:p>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On this problem, ETAS is very strong. A large margin over it is surprising — and surprising results on held-out-looking data are usually leaks.</a:t>
            </a:r>
            <a:endParaRPr lang="en-US" sz="1300" b="0" strike="noStrike" spc="-1">
              <a:solidFill>
                <a:srgbClr val="000000"/>
              </a:solidFill>
              <a:latin typeface="Arial"/>
            </a:endParaRPr>
          </a:p>
        </p:txBody>
      </p:sp>
      <p:sp>
        <p:nvSpPr>
          <p:cNvPr id="753" name="Text 9"/>
          <p:cNvSpPr/>
          <p:nvPr/>
        </p:nvSpPr>
        <p:spPr>
          <a:xfrm>
            <a:off x="548640" y="614484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strike="noStrike" spc="-1">
                <a:solidFill>
                  <a:srgbClr val="5B6B7A"/>
                </a:solidFill>
                <a:latin typeface="Calibri"/>
                <a:ea typeface="Calibri"/>
              </a:rPr>
              <a:t>Work this before turning the page. The answer key is at the end of the module.</a:t>
            </a:r>
            <a:endParaRPr lang="en-US" sz="1150" b="0" strike="noStrike" spc="-1">
              <a:solidFill>
                <a:srgbClr val="000000"/>
              </a:solidFill>
              <a:latin typeface="Arial"/>
            </a:endParaRPr>
          </a:p>
        </p:txBody>
      </p:sp>
      <p:sp>
        <p:nvSpPr>
          <p:cNvPr id="754" name="Text 10"/>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7 · The Honest Verdict</a:t>
            </a:r>
            <a:endParaRPr lang="en-US" sz="1000" b="0" strike="noStrike" spc="-1">
              <a:solidFill>
                <a:srgbClr val="000000"/>
              </a:solidFill>
              <a:latin typeface="Arial"/>
            </a:endParaRPr>
          </a:p>
        </p:txBody>
      </p:sp>
      <p:sp>
        <p:nvSpPr>
          <p:cNvPr id="755" name="Text 11"/>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756" name="Text 12"/>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57</a:t>
            </a:r>
            <a:endParaRPr lang="en-US" sz="1000" b="0" strike="noStrike" spc="-1">
              <a:solidFill>
                <a:srgbClr val="000000"/>
              </a:solidFill>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57" name="Shape 0"/>
          <p:cNvSpPr/>
          <p:nvPr/>
        </p:nvSpPr>
        <p:spPr>
          <a:xfrm>
            <a:off x="548640" y="457200"/>
            <a:ext cx="11091240" cy="785880"/>
          </a:xfrm>
          <a:prstGeom prst="roundRect">
            <a:avLst>
              <a:gd name="adj" fmla="val 6977"/>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58" name="Text 1"/>
          <p:cNvSpPr/>
          <p:nvPr/>
        </p:nvSpPr>
        <p:spPr>
          <a:xfrm>
            <a:off x="822960" y="530280"/>
            <a:ext cx="10058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FF3E7"/>
                </a:solidFill>
                <a:latin typeface="Calibri"/>
                <a:ea typeface="Calibri"/>
              </a:rPr>
              <a:t>ANSWER KEY · MODULE 7</a:t>
            </a:r>
            <a:endParaRPr lang="en-US" sz="1300" b="0" strike="noStrike" spc="-1">
              <a:solidFill>
                <a:srgbClr val="000000"/>
              </a:solidFill>
              <a:latin typeface="Arial"/>
            </a:endParaRPr>
          </a:p>
        </p:txBody>
      </p:sp>
      <p:sp>
        <p:nvSpPr>
          <p:cNvPr id="759" name="Text 2"/>
          <p:cNvSpPr/>
          <p:nvPr/>
        </p:nvSpPr>
        <p:spPr>
          <a:xfrm>
            <a:off x="822960" y="786240"/>
            <a:ext cx="100580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Check your work</a:t>
            </a:r>
            <a:endParaRPr lang="en-US" sz="2200" b="0" strike="noStrike" spc="-1">
              <a:solidFill>
                <a:srgbClr val="000000"/>
              </a:solidFill>
              <a:latin typeface="Arial"/>
            </a:endParaRPr>
          </a:p>
        </p:txBody>
      </p:sp>
      <p:sp>
        <p:nvSpPr>
          <p:cNvPr id="760" name="Shape 3"/>
          <p:cNvSpPr/>
          <p:nvPr/>
        </p:nvSpPr>
        <p:spPr>
          <a:xfrm>
            <a:off x="548640" y="1481400"/>
            <a:ext cx="11091240" cy="1051200"/>
          </a:xfrm>
          <a:prstGeom prst="roundRect">
            <a:avLst>
              <a:gd name="adj" fmla="val 695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61" name="Text 4"/>
          <p:cNvSpPr/>
          <p:nvPr/>
        </p:nvSpPr>
        <p:spPr>
          <a:xfrm>
            <a:off x="822960" y="1591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7.1 — Model A vs Model B</a:t>
            </a:r>
            <a:endParaRPr lang="en-US" sz="1400" b="0" strike="noStrike" spc="-1">
              <a:solidFill>
                <a:srgbClr val="000000"/>
              </a:solidFill>
              <a:latin typeface="Arial"/>
            </a:endParaRPr>
          </a:p>
        </p:txBody>
      </p:sp>
      <p:sp>
        <p:nvSpPr>
          <p:cNvPr id="762" name="Text 5"/>
          <p:cNvSpPr/>
          <p:nvPr/>
        </p:nvSpPr>
        <p:spPr>
          <a:xfrm>
            <a:off x="868680" y="1901880"/>
            <a:ext cx="1051524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Trust B. A's huge train-to-blind gap (0.25 → 0.11) signals overfitting: it memorized the training set. B generalizes cleanly (0.12 → 0.13), even improving out of sample, which is the signature of an honest, well-regularized model. On this problem the small honest gap beats the large one.</a:t>
            </a:r>
            <a:endParaRPr lang="en-US" sz="1280" b="0" strike="noStrike" spc="-1">
              <a:solidFill>
                <a:srgbClr val="000000"/>
              </a:solidFill>
              <a:latin typeface="Arial"/>
            </a:endParaRPr>
          </a:p>
        </p:txBody>
      </p:sp>
      <p:sp>
        <p:nvSpPr>
          <p:cNvPr id="763" name="Shape 6"/>
          <p:cNvSpPr/>
          <p:nvPr/>
        </p:nvSpPr>
        <p:spPr>
          <a:xfrm>
            <a:off x="548640" y="2642760"/>
            <a:ext cx="11091240" cy="1096920"/>
          </a:xfrm>
          <a:prstGeom prst="roundRect">
            <a:avLst>
              <a:gd name="adj" fmla="val 6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64" name="Text 7"/>
          <p:cNvSpPr/>
          <p:nvPr/>
        </p:nvSpPr>
        <p:spPr>
          <a:xfrm>
            <a:off x="822960" y="2752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7.1 — beating ETAS by 0.05 bits</a:t>
            </a:r>
            <a:endParaRPr lang="en-US" sz="1400" b="0" strike="noStrike" spc="-1">
              <a:solidFill>
                <a:srgbClr val="000000"/>
              </a:solidFill>
              <a:latin typeface="Arial"/>
            </a:endParaRPr>
          </a:p>
        </p:txBody>
      </p:sp>
      <p:sp>
        <p:nvSpPr>
          <p:cNvPr id="765" name="Text 8"/>
          <p:cNvSpPr/>
          <p:nvPr/>
        </p:nvSpPr>
        <p:spPr>
          <a:xfrm>
            <a:off x="868680" y="3063240"/>
            <a:ext cx="10515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Suspect leakage first. A 0.05-bit margin over a properly fitted ETAS is implausibly large. Check: does any feature use post-issue information? Is the label window disjoint from the feature window? Is CV temporal, not shuffled? Re-run with strict temporal separation and see if the margin survives.</a:t>
            </a:r>
            <a:endParaRPr lang="en-US" sz="1280" b="0" strike="noStrike" spc="-1">
              <a:solidFill>
                <a:srgbClr val="000000"/>
              </a:solidFill>
              <a:latin typeface="Arial"/>
            </a:endParaRPr>
          </a:p>
        </p:txBody>
      </p:sp>
      <p:sp>
        <p:nvSpPr>
          <p:cNvPr id="766" name="Shape 9"/>
          <p:cNvSpPr/>
          <p:nvPr/>
        </p:nvSpPr>
        <p:spPr>
          <a:xfrm>
            <a:off x="548640" y="3849480"/>
            <a:ext cx="11091240" cy="1188360"/>
          </a:xfrm>
          <a:prstGeom prst="roundRect">
            <a:avLst>
              <a:gd name="adj" fmla="val 6154"/>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67" name="Text 10"/>
          <p:cNvSpPr/>
          <p:nvPr/>
        </p:nvSpPr>
        <p:spPr>
          <a:xfrm>
            <a:off x="822960" y="395928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7.1 — why the honest negative is stronger</a:t>
            </a:r>
            <a:endParaRPr lang="en-US" sz="1400" b="0" strike="noStrike" spc="-1">
              <a:solidFill>
                <a:srgbClr val="000000"/>
              </a:solidFill>
              <a:latin typeface="Arial"/>
            </a:endParaRPr>
          </a:p>
        </p:txBody>
      </p:sp>
      <p:sp>
        <p:nvSpPr>
          <p:cNvPr id="768" name="Text 11"/>
          <p:cNvSpPr/>
          <p:nvPr/>
        </p:nvSpPr>
        <p:spPr>
          <a:xfrm>
            <a:off x="868680" y="4270320"/>
            <a:ext cx="10515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A claim without a confidence interval is unfalsifiable noise — 0.03 AUC could easily be sampling variation. 'No significant lift, CI spans zero, from a paired test' is a rigorous, reproducible statement about what the data support. Quantifying uncertainty, including when it dooms your favored hypothesis, is what makes it science.</a:t>
            </a:r>
            <a:endParaRPr lang="en-US" sz="1280" b="0" strike="noStrike" spc="-1">
              <a:solidFill>
                <a:srgbClr val="000000"/>
              </a:solidFill>
              <a:latin typeface="Arial"/>
            </a:endParaRPr>
          </a:p>
        </p:txBody>
      </p:sp>
      <p:sp>
        <p:nvSpPr>
          <p:cNvPr id="769" name="Text 1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7 · The Honest Verdict</a:t>
            </a:r>
            <a:endParaRPr lang="en-US" sz="1000" b="0" strike="noStrike" spc="-1">
              <a:solidFill>
                <a:srgbClr val="000000"/>
              </a:solidFill>
              <a:latin typeface="Arial"/>
            </a:endParaRPr>
          </a:p>
        </p:txBody>
      </p:sp>
      <p:sp>
        <p:nvSpPr>
          <p:cNvPr id="770" name="Text 1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771" name="Text 1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58</a:t>
            </a:r>
            <a:endParaRPr lang="en-US" sz="1000" b="0" strike="noStrike" spc="-1">
              <a:solidFill>
                <a:srgbClr val="000000"/>
              </a:solidFill>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772" name="Shape 0"/>
          <p:cNvSpPr/>
          <p:nvPr/>
        </p:nvSpPr>
        <p:spPr>
          <a:xfrm>
            <a:off x="640080" y="1371600"/>
            <a:ext cx="1371240" cy="137124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73" name="Text 1"/>
          <p:cNvSpPr/>
          <p:nvPr/>
        </p:nvSpPr>
        <p:spPr>
          <a:xfrm>
            <a:off x="640080" y="137160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6200" b="1" strike="noStrike" spc="-1">
                <a:solidFill>
                  <a:srgbClr val="FFFFFF"/>
                </a:solidFill>
                <a:latin typeface="Cambria"/>
                <a:ea typeface="Cambria"/>
              </a:rPr>
              <a:t>8</a:t>
            </a:r>
            <a:endParaRPr lang="en-US" sz="6200" b="0" strike="noStrike" spc="-1">
              <a:solidFill>
                <a:srgbClr val="FFFFFF"/>
              </a:solidFill>
              <a:latin typeface="Arial"/>
            </a:endParaRPr>
          </a:p>
        </p:txBody>
      </p:sp>
      <p:sp>
        <p:nvSpPr>
          <p:cNvPr id="774" name="Text 2"/>
          <p:cNvSpPr/>
          <p:nvPr/>
        </p:nvSpPr>
        <p:spPr>
          <a:xfrm>
            <a:off x="2331720" y="14814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299">
                <a:solidFill>
                  <a:srgbClr val="1F6FB2"/>
                </a:solidFill>
                <a:latin typeface="Calibri"/>
                <a:ea typeface="Calibri"/>
              </a:rPr>
              <a:t>MODULE 8</a:t>
            </a:r>
            <a:endParaRPr lang="en-US" sz="1500" b="0" strike="noStrike" spc="-1">
              <a:solidFill>
                <a:srgbClr val="FFFFFF"/>
              </a:solidFill>
              <a:latin typeface="Arial"/>
            </a:endParaRPr>
          </a:p>
        </p:txBody>
      </p:sp>
      <p:sp>
        <p:nvSpPr>
          <p:cNvPr id="775" name="Text 3"/>
          <p:cNvSpPr/>
          <p:nvPr/>
        </p:nvSpPr>
        <p:spPr>
          <a:xfrm>
            <a:off x="2286000" y="1810440"/>
            <a:ext cx="932652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4000" b="1" strike="noStrike" spc="-1">
                <a:solidFill>
                  <a:srgbClr val="FFFFFF"/>
                </a:solidFill>
                <a:latin typeface="Cambria"/>
                <a:ea typeface="Cambria"/>
              </a:rPr>
              <a:t>The Naive Control</a:t>
            </a:r>
            <a:endParaRPr lang="en-US" sz="4000" b="0" strike="noStrike" spc="-1">
              <a:solidFill>
                <a:srgbClr val="FFFFFF"/>
              </a:solidFill>
              <a:latin typeface="Arial"/>
            </a:endParaRPr>
          </a:p>
        </p:txBody>
      </p:sp>
      <p:sp>
        <p:nvSpPr>
          <p:cNvPr id="776" name="Text 4"/>
          <p:cNvSpPr/>
          <p:nvPr/>
        </p:nvSpPr>
        <p:spPr>
          <a:xfrm>
            <a:off x="2331720" y="2743200"/>
            <a:ext cx="9052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strike="noStrike" spc="-1">
                <a:solidFill>
                  <a:srgbClr val="C7D0D9"/>
                </a:solidFill>
                <a:latin typeface="Calibri"/>
                <a:ea typeface="Calibri"/>
              </a:rPr>
              <a:t>What if you skip the physics entirely and just pour raw data into a model?</a:t>
            </a:r>
            <a:endParaRPr lang="en-US" sz="1700" b="0" strike="noStrike" spc="-1">
              <a:solidFill>
                <a:srgbClr val="FFFFFF"/>
              </a:solidFill>
              <a:latin typeface="Arial"/>
            </a:endParaRPr>
          </a:p>
        </p:txBody>
      </p:sp>
      <p:sp>
        <p:nvSpPr>
          <p:cNvPr id="777" name="Text 5"/>
          <p:cNvSpPr/>
          <p:nvPr/>
        </p:nvSpPr>
        <p:spPr>
          <a:xfrm>
            <a:off x="2331720" y="36118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8996A3"/>
                </a:solidFill>
                <a:latin typeface="Calibri"/>
                <a:ea typeface="Calibri"/>
              </a:rPr>
              <a:t>IN THIS MODULE</a:t>
            </a:r>
            <a:endParaRPr lang="en-US" sz="1200" b="0" strike="noStrike" spc="-1">
              <a:solidFill>
                <a:srgbClr val="FFFFFF"/>
              </a:solidFill>
              <a:latin typeface="Arial"/>
            </a:endParaRPr>
          </a:p>
        </p:txBody>
      </p:sp>
      <p:sp>
        <p:nvSpPr>
          <p:cNvPr id="778" name="Text 6"/>
          <p:cNvSpPr/>
          <p:nvPr/>
        </p:nvSpPr>
        <p:spPr>
          <a:xfrm>
            <a:off x="2331720" y="3931920"/>
            <a:ext cx="914364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The control experiment every team should run</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How far three inputs (lat, lon, lead) can take you</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Quantifying the value of feature engineering and physics</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The stationarity caveat that keeps everyone honest</a:t>
            </a:r>
            <a:endParaRPr lang="en-US" sz="1450" b="0" strike="noStrike" spc="-1">
              <a:solidFill>
                <a:srgbClr val="FFFFFF"/>
              </a:solidFill>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79"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THE CONTROL</a:t>
            </a:r>
            <a:endParaRPr lang="en-US" sz="1300" b="0" strike="noStrike" spc="-1">
              <a:solidFill>
                <a:srgbClr val="000000"/>
              </a:solidFill>
              <a:latin typeface="Arial"/>
            </a:endParaRPr>
          </a:p>
        </p:txBody>
      </p:sp>
      <p:sp>
        <p:nvSpPr>
          <p:cNvPr id="780"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Raw numbers, straight into a model</a:t>
            </a:r>
            <a:endParaRPr lang="en-US" sz="3000" b="0" strike="noStrike" spc="-1">
              <a:solidFill>
                <a:srgbClr val="000000"/>
              </a:solidFill>
              <a:latin typeface="Arial"/>
            </a:endParaRPr>
          </a:p>
        </p:txBody>
      </p:sp>
      <p:sp>
        <p:nvSpPr>
          <p:cNvPr id="781"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a:solidFill>
                  <a:srgbClr val="16202B"/>
                </a:solidFill>
                <a:latin typeface="Calibri"/>
                <a:ea typeface="Calibri"/>
              </a:rPr>
              <a:t>Here is the experiment that anchors the whole result: do the minimum to make a design matrix — no counting, no distances, no windows, no physics — and let a model suite loose on the raw numbers.</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0" strike="noStrike" spc="-1">
                <a:solidFill>
                  <a:srgbClr val="16202B"/>
                </a:solidFill>
                <a:latin typeface="Calibri"/>
                <a:ea typeface="Calibri"/>
              </a:rPr>
              <a:t>This is exactly what an unaided AI pipeline produces. The gap between it and the engineered reference is the measured value of feature engineering. The gap to ETAS is the value of physics.</a:t>
            </a:r>
            <a:endParaRPr lang="en-US" sz="1500" b="0" strike="noStrike" spc="-1">
              <a:solidFill>
                <a:srgbClr val="000000"/>
              </a:solidFill>
              <a:latin typeface="Arial"/>
            </a:endParaRPr>
          </a:p>
          <a:p>
            <a:pPr defTabSz="914400">
              <a:lnSpc>
                <a:spcPct val="110000"/>
              </a:lnSpc>
              <a:spcAft>
                <a:spcPts val="1001"/>
              </a:spcAft>
              <a:tabLst>
                <a:tab pos="0" algn="l"/>
              </a:tabLst>
            </a:pPr>
            <a:r>
              <a:rPr lang="en-US" sz="1500" b="1" strike="noStrike" spc="-1">
                <a:solidFill>
                  <a:srgbClr val="1F6FB2"/>
                </a:solidFill>
                <a:latin typeface="Calibri"/>
                <a:ea typeface="Calibri"/>
              </a:rPr>
              <a:t>A ladder from L0 (just lat, lon, lead-window) to L4 (adding raw sequences, events, and GPS) shows what each addition of raw data actually buys.</a:t>
            </a:r>
            <a:endParaRPr lang="en-US" sz="1500" b="0" strike="noStrike" spc="-1">
              <a:solidFill>
                <a:srgbClr val="000000"/>
              </a:solidFill>
              <a:latin typeface="Arial"/>
            </a:endParaRPr>
          </a:p>
        </p:txBody>
      </p:sp>
      <p:pic>
        <p:nvPicPr>
          <p:cNvPr id="782" name="Image 0" descr="figs/full_26.png"/>
          <p:cNvPicPr/>
          <p:nvPr/>
        </p:nvPicPr>
        <p:blipFill>
          <a:blip r:embed="rId3"/>
          <a:stretch/>
        </p:blipFill>
        <p:spPr>
          <a:xfrm>
            <a:off x="6766560" y="2983320"/>
            <a:ext cx="4873320" cy="1439280"/>
          </a:xfrm>
          <a:prstGeom prst="rect">
            <a:avLst/>
          </a:prstGeom>
          <a:ln w="0">
            <a:noFill/>
          </a:ln>
        </p:spPr>
      </p:pic>
      <p:sp>
        <p:nvSpPr>
          <p:cNvPr id="783" name="Text 3"/>
          <p:cNvSpPr/>
          <p:nvPr/>
        </p:nvSpPr>
        <p:spPr>
          <a:xfrm>
            <a:off x="6766560" y="5751720"/>
            <a:ext cx="48733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The no-feature-engineering ladder and its own overfitting. Raw data alone gets remarkably far; the honest control against which sophistication must justify itself.</a:t>
            </a:r>
            <a:endParaRPr lang="en-US" sz="1100" b="0" strike="noStrike" spc="-1">
              <a:solidFill>
                <a:srgbClr val="000000"/>
              </a:solidFill>
              <a:latin typeface="Arial"/>
            </a:endParaRPr>
          </a:p>
        </p:txBody>
      </p:sp>
      <p:sp>
        <p:nvSpPr>
          <p:cNvPr id="784" name="Text 4"/>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8 · The Naive Control</a:t>
            </a:r>
            <a:endParaRPr lang="en-US" sz="1000" b="0" strike="noStrike" spc="-1">
              <a:solidFill>
                <a:srgbClr val="000000"/>
              </a:solidFill>
              <a:latin typeface="Arial"/>
            </a:endParaRPr>
          </a:p>
        </p:txBody>
      </p:sp>
      <p:sp>
        <p:nvSpPr>
          <p:cNvPr id="785" name="Text 5"/>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786" name="Text 6"/>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60</a:t>
            </a:r>
            <a:endParaRPr lang="en-US" sz="1000" b="0" strike="noStrike" spc="-1">
              <a:solidFill>
                <a:srgbClr val="000000"/>
              </a:solidFill>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87"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THE SURPRISE</a:t>
            </a:r>
            <a:endParaRPr lang="en-US" sz="1300" b="0" strike="noStrike" spc="-1">
              <a:solidFill>
                <a:srgbClr val="000000"/>
              </a:solidFill>
              <a:latin typeface="Arial"/>
            </a:endParaRPr>
          </a:p>
        </p:txBody>
      </p:sp>
      <p:sp>
        <p:nvSpPr>
          <p:cNvPr id="788"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Three inputs get you most of the way</a:t>
            </a:r>
            <a:endParaRPr lang="en-US" sz="3000" b="0" strike="noStrike" spc="-1">
              <a:solidFill>
                <a:srgbClr val="000000"/>
              </a:solidFill>
              <a:latin typeface="Arial"/>
            </a:endParaRPr>
          </a:p>
        </p:txBody>
      </p:sp>
      <p:sp>
        <p:nvSpPr>
          <p:cNvPr id="789" name="Shape 2"/>
          <p:cNvSpPr/>
          <p:nvPr/>
        </p:nvSpPr>
        <p:spPr>
          <a:xfrm>
            <a:off x="548640" y="1965960"/>
            <a:ext cx="3483360" cy="2102760"/>
          </a:xfrm>
          <a:prstGeom prst="roundRect">
            <a:avLst>
              <a:gd name="adj" fmla="val 3478"/>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90" name="Text 3"/>
          <p:cNvSpPr/>
          <p:nvPr/>
        </p:nvSpPr>
        <p:spPr>
          <a:xfrm>
            <a:off x="548640" y="2286000"/>
            <a:ext cx="34833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600" b="1" strike="noStrike" spc="-1">
                <a:solidFill>
                  <a:srgbClr val="1F6FB2"/>
                </a:solidFill>
                <a:latin typeface="Cambria"/>
                <a:ea typeface="Cambria"/>
              </a:rPr>
              <a:t>93%</a:t>
            </a:r>
            <a:endParaRPr lang="en-US" sz="4600" b="0" strike="noStrike" spc="-1">
              <a:solidFill>
                <a:srgbClr val="000000"/>
              </a:solidFill>
              <a:latin typeface="Arial"/>
            </a:endParaRPr>
          </a:p>
        </p:txBody>
      </p:sp>
      <p:sp>
        <p:nvSpPr>
          <p:cNvPr id="791" name="Text 4"/>
          <p:cNvSpPr/>
          <p:nvPr/>
        </p:nvSpPr>
        <p:spPr>
          <a:xfrm>
            <a:off x="548640" y="3127320"/>
            <a:ext cx="3483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0" strike="noStrike" spc="-1">
                <a:solidFill>
                  <a:srgbClr val="5B6B7A"/>
                </a:solidFill>
                <a:latin typeface="Calibri"/>
                <a:ea typeface="Calibri"/>
              </a:rPr>
              <a:t>of the reference's information gain, from just lat, lon, lead-window</a:t>
            </a:r>
            <a:endParaRPr lang="en-US" sz="1250" b="0" strike="noStrike" spc="-1">
              <a:solidFill>
                <a:srgbClr val="000000"/>
              </a:solidFill>
              <a:latin typeface="Arial"/>
            </a:endParaRPr>
          </a:p>
        </p:txBody>
      </p:sp>
      <p:sp>
        <p:nvSpPr>
          <p:cNvPr id="792" name="Shape 5"/>
          <p:cNvSpPr/>
          <p:nvPr/>
        </p:nvSpPr>
        <p:spPr>
          <a:xfrm>
            <a:off x="4352400" y="1965960"/>
            <a:ext cx="3483360" cy="2102760"/>
          </a:xfrm>
          <a:prstGeom prst="roundRect">
            <a:avLst>
              <a:gd name="adj" fmla="val 3478"/>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93" name="Text 6"/>
          <p:cNvSpPr/>
          <p:nvPr/>
        </p:nvSpPr>
        <p:spPr>
          <a:xfrm>
            <a:off x="4352400" y="2286000"/>
            <a:ext cx="34833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600" b="1" strike="noStrike" spc="-1">
                <a:solidFill>
                  <a:srgbClr val="D98C1F"/>
                </a:solidFill>
                <a:latin typeface="Cambria"/>
                <a:ea typeface="Cambria"/>
              </a:rPr>
              <a:t>+0.016</a:t>
            </a:r>
            <a:endParaRPr lang="en-US" sz="4600" b="0" strike="noStrike" spc="-1">
              <a:solidFill>
                <a:srgbClr val="000000"/>
              </a:solidFill>
              <a:latin typeface="Arial"/>
            </a:endParaRPr>
          </a:p>
        </p:txBody>
      </p:sp>
      <p:sp>
        <p:nvSpPr>
          <p:cNvPr id="794" name="Text 7"/>
          <p:cNvSpPr/>
          <p:nvPr/>
        </p:nvSpPr>
        <p:spPr>
          <a:xfrm>
            <a:off x="4352400" y="3127320"/>
            <a:ext cx="3483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0" strike="noStrike" spc="-1">
                <a:solidFill>
                  <a:srgbClr val="5B6B7A"/>
                </a:solidFill>
                <a:latin typeface="Calibri"/>
                <a:ea typeface="Calibri"/>
              </a:rPr>
              <a:t>bits — the measured value of all feature engineering</a:t>
            </a:r>
            <a:endParaRPr lang="en-US" sz="1250" b="0" strike="noStrike" spc="-1">
              <a:solidFill>
                <a:srgbClr val="000000"/>
              </a:solidFill>
              <a:latin typeface="Arial"/>
            </a:endParaRPr>
          </a:p>
        </p:txBody>
      </p:sp>
      <p:sp>
        <p:nvSpPr>
          <p:cNvPr id="795" name="Shape 8"/>
          <p:cNvSpPr/>
          <p:nvPr/>
        </p:nvSpPr>
        <p:spPr>
          <a:xfrm>
            <a:off x="8156520" y="1965960"/>
            <a:ext cx="3483360" cy="2102760"/>
          </a:xfrm>
          <a:prstGeom prst="roundRect">
            <a:avLst>
              <a:gd name="adj" fmla="val 3478"/>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96" name="Text 9"/>
          <p:cNvSpPr/>
          <p:nvPr/>
        </p:nvSpPr>
        <p:spPr>
          <a:xfrm>
            <a:off x="8156520" y="2286000"/>
            <a:ext cx="34833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600" b="1" strike="noStrike" spc="-1">
                <a:solidFill>
                  <a:srgbClr val="2E7D53"/>
                </a:solidFill>
                <a:latin typeface="Cambria"/>
                <a:ea typeface="Cambria"/>
              </a:rPr>
              <a:t>+0.010</a:t>
            </a:r>
            <a:endParaRPr lang="en-US" sz="4600" b="0" strike="noStrike" spc="-1">
              <a:solidFill>
                <a:srgbClr val="000000"/>
              </a:solidFill>
              <a:latin typeface="Arial"/>
            </a:endParaRPr>
          </a:p>
        </p:txBody>
      </p:sp>
      <p:sp>
        <p:nvSpPr>
          <p:cNvPr id="797" name="Text 10"/>
          <p:cNvSpPr/>
          <p:nvPr/>
        </p:nvSpPr>
        <p:spPr>
          <a:xfrm>
            <a:off x="8156520" y="3127320"/>
            <a:ext cx="3483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250" b="0" strike="noStrike" spc="-1">
                <a:solidFill>
                  <a:srgbClr val="5B6B7A"/>
                </a:solidFill>
                <a:latin typeface="Calibri"/>
                <a:ea typeface="Calibri"/>
              </a:rPr>
              <a:t>bits — the measured value of ETAS physics</a:t>
            </a:r>
            <a:endParaRPr lang="en-US" sz="1250" b="0" strike="noStrike" spc="-1">
              <a:solidFill>
                <a:srgbClr val="000000"/>
              </a:solidFill>
              <a:latin typeface="Arial"/>
            </a:endParaRPr>
          </a:p>
        </p:txBody>
      </p:sp>
      <p:sp>
        <p:nvSpPr>
          <p:cNvPr id="798" name="Text 11"/>
          <p:cNvSpPr/>
          <p:nvPr/>
        </p:nvSpPr>
        <p:spPr>
          <a:xfrm>
            <a:off x="548640" y="4343400"/>
            <a:ext cx="11091240" cy="164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500" b="0" strike="noStrike" spc="-1">
                <a:solidFill>
                  <a:srgbClr val="16202B"/>
                </a:solidFill>
                <a:latin typeface="Calibri"/>
                <a:ea typeface="Calibri"/>
              </a:rPr>
              <a:t>A model with three inputs — where the cell is, and how far ahead — reaches blind IG +0.124 and AUC 0.854. It has memorized where earthquakes happen, from the same cells it is scored on. Feature engineering adds ~0.016 bits on top; physics adds ~0.010. That is the whole challenge in three numbers: locating the active zones is most of the battle, and the sophisticated machinery earns a real but modest margin.</a:t>
            </a:r>
            <a:endParaRPr lang="en-US" sz="1500" b="0" strike="noStrike" spc="-1">
              <a:solidFill>
                <a:srgbClr val="000000"/>
              </a:solidFill>
              <a:latin typeface="Arial"/>
            </a:endParaRPr>
          </a:p>
        </p:txBody>
      </p:sp>
      <p:sp>
        <p:nvSpPr>
          <p:cNvPr id="799" name="Text 1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8 · The Naive Control</a:t>
            </a:r>
            <a:endParaRPr lang="en-US" sz="1000" b="0" strike="noStrike" spc="-1">
              <a:solidFill>
                <a:srgbClr val="000000"/>
              </a:solidFill>
              <a:latin typeface="Arial"/>
            </a:endParaRPr>
          </a:p>
        </p:txBody>
      </p:sp>
      <p:sp>
        <p:nvSpPr>
          <p:cNvPr id="800" name="Text 1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801" name="Text 1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61</a:t>
            </a:r>
            <a:endParaRPr lang="en-US" sz="1000" b="0" strike="noStrike" spc="-1">
              <a:solidFill>
                <a:srgbClr val="000000"/>
              </a:solidFill>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802" name="Shape 0"/>
          <p:cNvSpPr/>
          <p:nvPr/>
        </p:nvSpPr>
        <p:spPr>
          <a:xfrm>
            <a:off x="640080" y="640080"/>
            <a:ext cx="639720" cy="6397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03" name="Text 1"/>
          <p:cNvSpPr/>
          <p:nvPr/>
        </p:nvSpPr>
        <p:spPr>
          <a:xfrm>
            <a:off x="640080" y="621720"/>
            <a:ext cx="639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strike="noStrike" spc="-1">
                <a:solidFill>
                  <a:srgbClr val="FFFFFF"/>
                </a:solidFill>
                <a:latin typeface="Cambria"/>
                <a:ea typeface="Cambria"/>
              </a:rPr>
              <a:t>✓</a:t>
            </a:r>
            <a:endParaRPr lang="en-US" sz="3000" b="0" strike="noStrike" spc="-1">
              <a:solidFill>
                <a:srgbClr val="FFFFFF"/>
              </a:solidFill>
              <a:latin typeface="Arial"/>
            </a:endParaRPr>
          </a:p>
        </p:txBody>
      </p:sp>
      <p:sp>
        <p:nvSpPr>
          <p:cNvPr id="804" name="Text 2"/>
          <p:cNvSpPr/>
          <p:nvPr/>
        </p:nvSpPr>
        <p:spPr>
          <a:xfrm>
            <a:off x="1463040" y="658440"/>
            <a:ext cx="9143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99">
                <a:solidFill>
                  <a:srgbClr val="7B4EA8"/>
                </a:solidFill>
                <a:latin typeface="Calibri"/>
                <a:ea typeface="Calibri"/>
              </a:rPr>
              <a:t>HONESTY CHECKPOINT</a:t>
            </a:r>
            <a:endParaRPr lang="en-US" sz="1500" b="0" strike="noStrike" spc="-1">
              <a:solidFill>
                <a:srgbClr val="FFFFFF"/>
              </a:solidFill>
              <a:latin typeface="Arial"/>
            </a:endParaRPr>
          </a:p>
        </p:txBody>
      </p:sp>
      <p:sp>
        <p:nvSpPr>
          <p:cNvPr id="805" name="Text 3"/>
          <p:cNvSpPr/>
          <p:nvPr/>
        </p:nvSpPr>
        <p:spPr>
          <a:xfrm>
            <a:off x="1463040" y="969120"/>
            <a:ext cx="10058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2700" b="1" strike="noStrike" spc="-1">
                <a:solidFill>
                  <a:srgbClr val="FFFFFF"/>
                </a:solidFill>
                <a:latin typeface="Cambria"/>
                <a:ea typeface="Cambria"/>
              </a:rPr>
              <a:t>Don't over-credit the spatial prior</a:t>
            </a:r>
            <a:endParaRPr lang="en-US" sz="2700" b="0" strike="noStrike" spc="-1">
              <a:solidFill>
                <a:srgbClr val="FFFFFF"/>
              </a:solidFill>
              <a:latin typeface="Arial"/>
            </a:endParaRPr>
          </a:p>
        </p:txBody>
      </p:sp>
      <p:sp>
        <p:nvSpPr>
          <p:cNvPr id="806" name="Text 4"/>
          <p:cNvSpPr/>
          <p:nvPr/>
        </p:nvSpPr>
        <p:spPr>
          <a:xfrm>
            <a:off x="1463040" y="2103120"/>
            <a:ext cx="996660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spcAft>
                <a:spcPts val="1199"/>
              </a:spcAft>
              <a:tabLst>
                <a:tab pos="0" algn="l"/>
              </a:tabLst>
            </a:pPr>
            <a:r>
              <a:rPr lang="en-US" sz="1600" b="0" strike="noStrike" spc="-1">
                <a:solidFill>
                  <a:srgbClr val="E4E9EE"/>
                </a:solidFill>
                <a:latin typeface="Calibri"/>
                <a:ea typeface="Calibri"/>
              </a:rPr>
              <a:t>The three-input model's skill is a pure spatial prior: it learns which cells host quakes, from the same grid it is scored on. That is legitimate and non-leaking — but it only transfers as far as seismicity is stationary.</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1" strike="noStrike" spc="-1">
                <a:solidFill>
                  <a:srgbClr val="E9DDF5"/>
                </a:solidFill>
                <a:latin typeface="Calibri"/>
                <a:ea typeface="Calibri"/>
              </a:rPr>
              <a:t>On this dataset, the per-cell rank correlation between the training era and the blind window is only ~0.49 — moderate, not high. About 55% of blind events fall in the top-20 training cells.</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So the naive model wins on this 15-month window but would degrade over a longer horizon or a shifting catalog — which is precisely where engineered features and physics earn their margin.</a:t>
            </a:r>
            <a:endParaRPr lang="en-US" sz="1600" b="0" strike="noStrike" spc="-1">
              <a:solidFill>
                <a:srgbClr val="FFFFFF"/>
              </a:solidFill>
              <a:latin typeface="Arial"/>
            </a:endParaRPr>
          </a:p>
          <a:p>
            <a:pPr defTabSz="914400">
              <a:lnSpc>
                <a:spcPct val="105000"/>
              </a:lnSpc>
              <a:spcAft>
                <a:spcPts val="1199"/>
              </a:spcAft>
              <a:tabLst>
                <a:tab pos="0" algn="l"/>
              </a:tabLst>
            </a:pPr>
            <a:r>
              <a:rPr lang="en-US" sz="1600" b="0" strike="noStrike" spc="-1">
                <a:solidFill>
                  <a:srgbClr val="E4E9EE"/>
                </a:solidFill>
                <a:latin typeface="Calibri"/>
                <a:ea typeface="Calibri"/>
              </a:rPr>
              <a:t>A strong team makes this point without being prompted: the spatial prior wins cheaply and temporarily, and here is the evidence for when it won't.</a:t>
            </a:r>
            <a:endParaRPr lang="en-US" sz="1600" b="0" strike="noStrike" spc="-1">
              <a:solidFill>
                <a:srgbClr val="FFFFFF"/>
              </a:solidFill>
              <a:latin typeface="Arial"/>
            </a:endParaRPr>
          </a:p>
        </p:txBody>
      </p:sp>
      <p:sp>
        <p:nvSpPr>
          <p:cNvPr id="807" name="Shape 5"/>
          <p:cNvSpPr/>
          <p:nvPr/>
        </p:nvSpPr>
        <p:spPr>
          <a:xfrm>
            <a:off x="1463040" y="5029200"/>
            <a:ext cx="9966600" cy="1096920"/>
          </a:xfrm>
          <a:prstGeom prst="roundRect">
            <a:avLst>
              <a:gd name="adj" fmla="val 5000"/>
            </a:avLst>
          </a:prstGeom>
          <a:solidFill>
            <a:srgbClr val="241A30"/>
          </a:solidFill>
          <a:ln w="12700">
            <a:solidFill>
              <a:srgbClr val="7B4E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08" name="Text 6"/>
          <p:cNvSpPr/>
          <p:nvPr/>
        </p:nvSpPr>
        <p:spPr>
          <a:xfrm>
            <a:off x="1737360" y="5139000"/>
            <a:ext cx="9417960" cy="87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a:solidFill>
                  <a:srgbClr val="D9C9EC"/>
                </a:solidFill>
                <a:latin typeface="Cambria"/>
                <a:ea typeface="Cambria"/>
              </a:rPr>
              <a:t>“Locating the active zones is ~93% of the achievable information. A team whose pipeline doesn't clearly beat that has rediscovered the central result.”</a:t>
            </a:r>
            <a:endParaRPr lang="en-US" sz="1600" b="0" strike="noStrike" spc="-1">
              <a:solidFill>
                <a:srgbClr val="FFFFFF"/>
              </a:solidFill>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809" name="Shape 0"/>
          <p:cNvSpPr/>
          <p:nvPr/>
        </p:nvSpPr>
        <p:spPr>
          <a:xfrm>
            <a:off x="548640" y="457200"/>
            <a:ext cx="11091240" cy="822600"/>
          </a:xfrm>
          <a:prstGeom prst="roundRect">
            <a:avLst>
              <a:gd name="adj" fmla="val 6667"/>
            </a:avLst>
          </a:prstGeom>
          <a:solidFill>
            <a:srgbClr val="2A201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10" name="Text 1"/>
          <p:cNvSpPr/>
          <p:nvPr/>
        </p:nvSpPr>
        <p:spPr>
          <a:xfrm>
            <a:off x="822960" y="53028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TRY IT YOURSELF · 8.1</a:t>
            </a:r>
            <a:endParaRPr lang="en-US" sz="1300" b="0" strike="noStrike" spc="-1">
              <a:solidFill>
                <a:srgbClr val="000000"/>
              </a:solidFill>
              <a:latin typeface="Arial"/>
            </a:endParaRPr>
          </a:p>
        </p:txBody>
      </p:sp>
      <p:sp>
        <p:nvSpPr>
          <p:cNvPr id="811" name="Text 2"/>
          <p:cNvSpPr/>
          <p:nvPr/>
        </p:nvSpPr>
        <p:spPr>
          <a:xfrm>
            <a:off x="822960" y="786240"/>
            <a:ext cx="104238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Run the control in your head</a:t>
            </a:r>
            <a:endParaRPr lang="en-US" sz="2200" b="0" strike="noStrike" spc="-1">
              <a:solidFill>
                <a:srgbClr val="000000"/>
              </a:solidFill>
              <a:latin typeface="Arial"/>
            </a:endParaRPr>
          </a:p>
        </p:txBody>
      </p:sp>
      <p:sp>
        <p:nvSpPr>
          <p:cNvPr id="812" name="Shape 3"/>
          <p:cNvSpPr/>
          <p:nvPr/>
        </p:nvSpPr>
        <p:spPr>
          <a:xfrm>
            <a:off x="548640" y="1508760"/>
            <a:ext cx="11091240" cy="2742840"/>
          </a:xfrm>
          <a:prstGeom prst="roundRect">
            <a:avLst>
              <a:gd name="adj" fmla="val 2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13" name="Text 4"/>
          <p:cNvSpPr/>
          <p:nvPr/>
        </p:nvSpPr>
        <p:spPr>
          <a:xfrm>
            <a:off x="822960" y="16642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0392B"/>
                </a:solidFill>
                <a:latin typeface="Calibri"/>
                <a:ea typeface="Calibri"/>
              </a:rPr>
              <a:t>The task</a:t>
            </a:r>
            <a:endParaRPr lang="en-US" sz="1300" b="0" strike="noStrike" spc="-1">
              <a:solidFill>
                <a:srgbClr val="000000"/>
              </a:solidFill>
              <a:latin typeface="Arial"/>
            </a:endParaRPr>
          </a:p>
        </p:txBody>
      </p:sp>
      <p:sp>
        <p:nvSpPr>
          <p:cNvPr id="814" name="Text 5"/>
          <p:cNvSpPr/>
          <p:nvPr/>
        </p:nvSpPr>
        <p:spPr>
          <a:xfrm>
            <a:off x="868680" y="1974960"/>
            <a:ext cx="10423800" cy="214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Why is a three-input (lat, lon, lead) model NOT leaking, even though it scores well on cells it 'saw' in training?</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The naive ladder goes L0 → L1 by adding six raw geophysical numbers, and the blind IG DROPS. Explain why adding real data made the model worse.</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Given that raw data alone captures ~93% of the reference's skill, argue both sides: (a) feature engineering was a waste; (b) feature engineering was essential. Which side is right, and under what conditions?</a:t>
            </a:r>
            <a:endParaRPr lang="en-US" sz="1450" b="0" strike="noStrike" spc="-1">
              <a:solidFill>
                <a:srgbClr val="000000"/>
              </a:solidFill>
              <a:latin typeface="Arial"/>
            </a:endParaRPr>
          </a:p>
        </p:txBody>
      </p:sp>
      <p:sp>
        <p:nvSpPr>
          <p:cNvPr id="815" name="Shape 6"/>
          <p:cNvSpPr/>
          <p:nvPr/>
        </p:nvSpPr>
        <p:spPr>
          <a:xfrm>
            <a:off x="548640" y="4434840"/>
            <a:ext cx="11091240" cy="1599840"/>
          </a:xfrm>
          <a:prstGeom prst="roundRect">
            <a:avLst>
              <a:gd name="adj" fmla="val 4571"/>
            </a:avLst>
          </a:prstGeom>
          <a:solidFill>
            <a:srgbClr val="F0EEE8"/>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16" name="Text 7"/>
          <p:cNvSpPr/>
          <p:nvPr/>
        </p:nvSpPr>
        <p:spPr>
          <a:xfrm>
            <a:off x="822960" y="457200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5B6B7A"/>
                </a:solidFill>
                <a:latin typeface="Calibri"/>
                <a:ea typeface="Calibri"/>
              </a:rPr>
              <a:t>Hints</a:t>
            </a:r>
            <a:endParaRPr lang="en-US" sz="1300" b="0" strike="noStrike" spc="-1">
              <a:solidFill>
                <a:srgbClr val="000000"/>
              </a:solidFill>
              <a:latin typeface="Arial"/>
            </a:endParaRPr>
          </a:p>
        </p:txBody>
      </p:sp>
      <p:sp>
        <p:nvSpPr>
          <p:cNvPr id="817" name="Text 8"/>
          <p:cNvSpPr/>
          <p:nvPr/>
        </p:nvSpPr>
        <p:spPr>
          <a:xfrm>
            <a:off x="868680" y="4864680"/>
            <a:ext cx="104238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Distinguish memorizing a stationary spatial pattern from using future information.</a:t>
            </a:r>
            <a:endParaRPr lang="en-US" sz="1300" b="0" strike="noStrike" spc="-1">
              <a:solidFill>
                <a:srgbClr val="000000"/>
              </a:solidFill>
              <a:latin typeface="Arial"/>
            </a:endParaRPr>
          </a:p>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Six unaggregated daily numbers vs. a strong spatial prior — what does the model do with pure noise?</a:t>
            </a:r>
            <a:endParaRPr lang="en-US" sz="1300" b="0" strike="noStrike" spc="-1">
              <a:solidFill>
                <a:srgbClr val="000000"/>
              </a:solidFill>
              <a:latin typeface="Arial"/>
            </a:endParaRPr>
          </a:p>
        </p:txBody>
      </p:sp>
      <p:sp>
        <p:nvSpPr>
          <p:cNvPr id="818" name="Text 9"/>
          <p:cNvSpPr/>
          <p:nvPr/>
        </p:nvSpPr>
        <p:spPr>
          <a:xfrm>
            <a:off x="548640" y="614484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strike="noStrike" spc="-1">
                <a:solidFill>
                  <a:srgbClr val="5B6B7A"/>
                </a:solidFill>
                <a:latin typeface="Calibri"/>
                <a:ea typeface="Calibri"/>
              </a:rPr>
              <a:t>Work this before turning the page. The answer key is at the end of the module.</a:t>
            </a:r>
            <a:endParaRPr lang="en-US" sz="1150" b="0" strike="noStrike" spc="-1">
              <a:solidFill>
                <a:srgbClr val="000000"/>
              </a:solidFill>
              <a:latin typeface="Arial"/>
            </a:endParaRPr>
          </a:p>
        </p:txBody>
      </p:sp>
      <p:sp>
        <p:nvSpPr>
          <p:cNvPr id="819" name="Text 10"/>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8 · The Naive Control</a:t>
            </a:r>
            <a:endParaRPr lang="en-US" sz="1000" b="0" strike="noStrike" spc="-1">
              <a:solidFill>
                <a:srgbClr val="000000"/>
              </a:solidFill>
              <a:latin typeface="Arial"/>
            </a:endParaRPr>
          </a:p>
        </p:txBody>
      </p:sp>
      <p:sp>
        <p:nvSpPr>
          <p:cNvPr id="820" name="Text 11"/>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821" name="Text 12"/>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63</a:t>
            </a:r>
            <a:endParaRPr lang="en-US" sz="1000" b="0" strike="noStrike" spc="-1">
              <a:solidFill>
                <a:srgbClr val="000000"/>
              </a:solidFill>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822" name="Shape 0"/>
          <p:cNvSpPr/>
          <p:nvPr/>
        </p:nvSpPr>
        <p:spPr>
          <a:xfrm>
            <a:off x="548640" y="457200"/>
            <a:ext cx="11091240" cy="785880"/>
          </a:xfrm>
          <a:prstGeom prst="roundRect">
            <a:avLst>
              <a:gd name="adj" fmla="val 6977"/>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23" name="Text 1"/>
          <p:cNvSpPr/>
          <p:nvPr/>
        </p:nvSpPr>
        <p:spPr>
          <a:xfrm>
            <a:off x="822960" y="530280"/>
            <a:ext cx="10058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FF3E7"/>
                </a:solidFill>
                <a:latin typeface="Calibri"/>
                <a:ea typeface="Calibri"/>
              </a:rPr>
              <a:t>ANSWER KEY · MODULE 8</a:t>
            </a:r>
            <a:endParaRPr lang="en-US" sz="1300" b="0" strike="noStrike" spc="-1">
              <a:solidFill>
                <a:srgbClr val="000000"/>
              </a:solidFill>
              <a:latin typeface="Arial"/>
            </a:endParaRPr>
          </a:p>
        </p:txBody>
      </p:sp>
      <p:sp>
        <p:nvSpPr>
          <p:cNvPr id="824" name="Text 2"/>
          <p:cNvSpPr/>
          <p:nvPr/>
        </p:nvSpPr>
        <p:spPr>
          <a:xfrm>
            <a:off x="822960" y="786240"/>
            <a:ext cx="100580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Check your work</a:t>
            </a:r>
            <a:endParaRPr lang="en-US" sz="2200" b="0" strike="noStrike" spc="-1">
              <a:solidFill>
                <a:srgbClr val="000000"/>
              </a:solidFill>
              <a:latin typeface="Arial"/>
            </a:endParaRPr>
          </a:p>
        </p:txBody>
      </p:sp>
      <p:sp>
        <p:nvSpPr>
          <p:cNvPr id="825" name="Shape 3"/>
          <p:cNvSpPr/>
          <p:nvPr/>
        </p:nvSpPr>
        <p:spPr>
          <a:xfrm>
            <a:off x="548640" y="1481400"/>
            <a:ext cx="11091240" cy="1005480"/>
          </a:xfrm>
          <a:prstGeom prst="roundRect">
            <a:avLst>
              <a:gd name="adj" fmla="val 727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26" name="Text 4"/>
          <p:cNvSpPr/>
          <p:nvPr/>
        </p:nvSpPr>
        <p:spPr>
          <a:xfrm>
            <a:off x="822960" y="1591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8.1 — why 3 inputs don't leak</a:t>
            </a:r>
            <a:endParaRPr lang="en-US" sz="1400" b="0" strike="noStrike" spc="-1">
              <a:solidFill>
                <a:srgbClr val="000000"/>
              </a:solidFill>
              <a:latin typeface="Arial"/>
            </a:endParaRPr>
          </a:p>
        </p:txBody>
      </p:sp>
      <p:sp>
        <p:nvSpPr>
          <p:cNvPr id="827" name="Text 5"/>
          <p:cNvSpPr/>
          <p:nvPr/>
        </p:nvSpPr>
        <p:spPr>
          <a:xfrm>
            <a:off x="868680" y="1901880"/>
            <a:ext cx="10515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It uses only static coordinates and the lead window — no event-derived, post-issue information exists in the feature set. Its skill is a spatial prior (which cells are active), learned from history and applied forward. That is legitimate memorization of a stationary pattern, not leakage of the future.</a:t>
            </a:r>
            <a:endParaRPr lang="en-US" sz="1280" b="0" strike="noStrike" spc="-1">
              <a:solidFill>
                <a:srgbClr val="000000"/>
              </a:solidFill>
              <a:latin typeface="Arial"/>
            </a:endParaRPr>
          </a:p>
        </p:txBody>
      </p:sp>
      <p:sp>
        <p:nvSpPr>
          <p:cNvPr id="828" name="Shape 6"/>
          <p:cNvSpPr/>
          <p:nvPr/>
        </p:nvSpPr>
        <p:spPr>
          <a:xfrm>
            <a:off x="548640" y="2597040"/>
            <a:ext cx="11091240" cy="1051200"/>
          </a:xfrm>
          <a:prstGeom prst="roundRect">
            <a:avLst>
              <a:gd name="adj" fmla="val 695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29" name="Text 7"/>
          <p:cNvSpPr/>
          <p:nvPr/>
        </p:nvSpPr>
        <p:spPr>
          <a:xfrm>
            <a:off x="822960" y="270648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8.1 — why adding raw data hurt</a:t>
            </a:r>
            <a:endParaRPr lang="en-US" sz="1400" b="0" strike="noStrike" spc="-1">
              <a:solidFill>
                <a:srgbClr val="000000"/>
              </a:solidFill>
              <a:latin typeface="Arial"/>
            </a:endParaRPr>
          </a:p>
        </p:txBody>
      </p:sp>
      <p:sp>
        <p:nvSpPr>
          <p:cNvPr id="830" name="Text 8"/>
          <p:cNvSpPr/>
          <p:nvPr/>
        </p:nvSpPr>
        <p:spPr>
          <a:xfrm>
            <a:off x="868680" y="3017520"/>
            <a:ext cx="1051524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Six unaggregated daily indices (ap, Kp, F10.7, etc.) carry almost no cell-level forecasting signal, but they add noise and free parameters the model can overfit. Without aggregation into physical features, the extra columns dilute the strong spatial prior — so blind IG falls. Raw ≠ useful.</a:t>
            </a:r>
            <a:endParaRPr lang="en-US" sz="1280" b="0" strike="noStrike" spc="-1">
              <a:solidFill>
                <a:srgbClr val="000000"/>
              </a:solidFill>
              <a:latin typeface="Arial"/>
            </a:endParaRPr>
          </a:p>
        </p:txBody>
      </p:sp>
      <p:sp>
        <p:nvSpPr>
          <p:cNvPr id="831" name="Shape 9"/>
          <p:cNvSpPr/>
          <p:nvPr/>
        </p:nvSpPr>
        <p:spPr>
          <a:xfrm>
            <a:off x="548640" y="3758040"/>
            <a:ext cx="1109124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32" name="Text 10"/>
          <p:cNvSpPr/>
          <p:nvPr/>
        </p:nvSpPr>
        <p:spPr>
          <a:xfrm>
            <a:off x="822960" y="386784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8.1 — was feature engineering worth it?</a:t>
            </a:r>
            <a:endParaRPr lang="en-US" sz="1400" b="0" strike="noStrike" spc="-1">
              <a:solidFill>
                <a:srgbClr val="000000"/>
              </a:solidFill>
              <a:latin typeface="Arial"/>
            </a:endParaRPr>
          </a:p>
        </p:txBody>
      </p:sp>
      <p:sp>
        <p:nvSpPr>
          <p:cNvPr id="833" name="Text 11"/>
          <p:cNvSpPr/>
          <p:nvPr/>
        </p:nvSpPr>
        <p:spPr>
          <a:xfrm>
            <a:off x="868680" y="4178880"/>
            <a:ext cx="105152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Both are partly right. On this short, spatially-stationary blind window, the spatial prior dominates and engineering adds only ~0.016 bits — looks marginal. But over longer horizons or a shifting catalog the prior degrades (ρ≈0.49), and engineered/physics features are what remain. Engineering buys robustness and transfer, not headline points on an easy window. That is the honest verdict.</a:t>
            </a:r>
            <a:endParaRPr lang="en-US" sz="1280" b="0" strike="noStrike" spc="-1">
              <a:solidFill>
                <a:srgbClr val="000000"/>
              </a:solidFill>
              <a:latin typeface="Arial"/>
            </a:endParaRPr>
          </a:p>
        </p:txBody>
      </p:sp>
      <p:sp>
        <p:nvSpPr>
          <p:cNvPr id="834" name="Text 1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8 · The Naive Control</a:t>
            </a:r>
            <a:endParaRPr lang="en-US" sz="1000" b="0" strike="noStrike" spc="-1">
              <a:solidFill>
                <a:srgbClr val="000000"/>
              </a:solidFill>
              <a:latin typeface="Arial"/>
            </a:endParaRPr>
          </a:p>
        </p:txBody>
      </p:sp>
      <p:sp>
        <p:nvSpPr>
          <p:cNvPr id="835" name="Text 1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836" name="Text 1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64</a:t>
            </a:r>
            <a:endParaRPr lang="en-US" sz="1000" b="0" strike="noStrike" spc="-1">
              <a:solidFill>
                <a:srgbClr val="000000"/>
              </a:solidFill>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837" name="Shape 0"/>
          <p:cNvSpPr/>
          <p:nvPr/>
        </p:nvSpPr>
        <p:spPr>
          <a:xfrm>
            <a:off x="640080" y="1371600"/>
            <a:ext cx="1371240" cy="137124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38" name="Text 1"/>
          <p:cNvSpPr/>
          <p:nvPr/>
        </p:nvSpPr>
        <p:spPr>
          <a:xfrm>
            <a:off x="640080" y="1371600"/>
            <a:ext cx="1371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6200" b="1" strike="noStrike" spc="-1">
                <a:solidFill>
                  <a:srgbClr val="FFFFFF"/>
                </a:solidFill>
                <a:latin typeface="Cambria"/>
                <a:ea typeface="Cambria"/>
              </a:rPr>
              <a:t>9</a:t>
            </a:r>
            <a:endParaRPr lang="en-US" sz="6200" b="0" strike="noStrike" spc="-1">
              <a:solidFill>
                <a:srgbClr val="FFFFFF"/>
              </a:solidFill>
              <a:latin typeface="Arial"/>
            </a:endParaRPr>
          </a:p>
        </p:txBody>
      </p:sp>
      <p:sp>
        <p:nvSpPr>
          <p:cNvPr id="839" name="Text 2"/>
          <p:cNvSpPr/>
          <p:nvPr/>
        </p:nvSpPr>
        <p:spPr>
          <a:xfrm>
            <a:off x="2331720" y="148140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299">
                <a:solidFill>
                  <a:srgbClr val="D98C1F"/>
                </a:solidFill>
                <a:latin typeface="Calibri"/>
                <a:ea typeface="Calibri"/>
              </a:rPr>
              <a:t>MODULE 9</a:t>
            </a:r>
            <a:endParaRPr lang="en-US" sz="1500" b="0" strike="noStrike" spc="-1">
              <a:solidFill>
                <a:srgbClr val="FFFFFF"/>
              </a:solidFill>
              <a:latin typeface="Arial"/>
            </a:endParaRPr>
          </a:p>
        </p:txBody>
      </p:sp>
      <p:sp>
        <p:nvSpPr>
          <p:cNvPr id="840" name="Text 3"/>
          <p:cNvSpPr/>
          <p:nvPr/>
        </p:nvSpPr>
        <p:spPr>
          <a:xfrm>
            <a:off x="2286000" y="1810440"/>
            <a:ext cx="932652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4000" b="1" strike="noStrike" spc="-1">
                <a:solidFill>
                  <a:srgbClr val="FFFFFF"/>
                </a:solidFill>
                <a:latin typeface="Cambria"/>
                <a:ea typeface="Cambria"/>
              </a:rPr>
              <a:t>Deploy &amp; Reflect</a:t>
            </a:r>
            <a:endParaRPr lang="en-US" sz="4000" b="0" strike="noStrike" spc="-1">
              <a:solidFill>
                <a:srgbClr val="FFFFFF"/>
              </a:solidFill>
              <a:latin typeface="Arial"/>
            </a:endParaRPr>
          </a:p>
        </p:txBody>
      </p:sp>
      <p:sp>
        <p:nvSpPr>
          <p:cNvPr id="841" name="Text 4"/>
          <p:cNvSpPr/>
          <p:nvPr/>
        </p:nvSpPr>
        <p:spPr>
          <a:xfrm>
            <a:off x="2331720" y="2743200"/>
            <a:ext cx="9052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strike="noStrike" spc="-1">
                <a:solidFill>
                  <a:srgbClr val="C7D0D9"/>
                </a:solidFill>
                <a:latin typeface="Calibri"/>
                <a:ea typeface="Calibri"/>
              </a:rPr>
              <a:t>A real forecast for a real city — and the lessons you take home.</a:t>
            </a:r>
            <a:endParaRPr lang="en-US" sz="1700" b="0" strike="noStrike" spc="-1">
              <a:solidFill>
                <a:srgbClr val="FFFFFF"/>
              </a:solidFill>
              <a:latin typeface="Arial"/>
            </a:endParaRPr>
          </a:p>
        </p:txBody>
      </p:sp>
      <p:sp>
        <p:nvSpPr>
          <p:cNvPr id="842" name="Text 5"/>
          <p:cNvSpPr/>
          <p:nvPr/>
        </p:nvSpPr>
        <p:spPr>
          <a:xfrm>
            <a:off x="2331720" y="361188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8996A3"/>
                </a:solidFill>
                <a:latin typeface="Calibri"/>
                <a:ea typeface="Calibri"/>
              </a:rPr>
              <a:t>IN THIS MODULE</a:t>
            </a:r>
            <a:endParaRPr lang="en-US" sz="1200" b="0" strike="noStrike" spc="-1">
              <a:solidFill>
                <a:srgbClr val="FFFFFF"/>
              </a:solidFill>
              <a:latin typeface="Arial"/>
            </a:endParaRPr>
          </a:p>
        </p:txBody>
      </p:sp>
      <p:sp>
        <p:nvSpPr>
          <p:cNvPr id="843" name="Text 6"/>
          <p:cNvSpPr/>
          <p:nvPr/>
        </p:nvSpPr>
        <p:spPr>
          <a:xfrm>
            <a:off x="2331720" y="3931920"/>
            <a:ext cx="914364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An operational forecast for Charleston, SC, with honest uncertainty</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The five findings a strong submission reproduces</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A checklist you can apply to any forecasting problem</a:t>
            </a:r>
            <a:endParaRPr lang="en-US" sz="1450" b="0" strike="noStrike" spc="-1">
              <a:solidFill>
                <a:srgbClr val="FFFFFF"/>
              </a:solidFill>
              <a:latin typeface="Arial"/>
            </a:endParaRPr>
          </a:p>
          <a:p>
            <a:pPr marL="177840" indent="-177840" defTabSz="914400">
              <a:lnSpc>
                <a:spcPct val="100000"/>
              </a:lnSpc>
              <a:spcAft>
                <a:spcPts val="700"/>
              </a:spcAft>
              <a:buClr>
                <a:srgbClr val="E4E9EE"/>
              </a:buClr>
              <a:buFont typeface="Symbol" charset="2"/>
              <a:buChar char=""/>
            </a:pPr>
            <a:r>
              <a:rPr lang="en-US" sz="1450" b="0" strike="noStrike" spc="-1">
                <a:solidFill>
                  <a:srgbClr val="E4E9EE"/>
                </a:solidFill>
                <a:latin typeface="Calibri"/>
                <a:ea typeface="Calibri"/>
              </a:rPr>
              <a:t>Where to go next</a:t>
            </a:r>
            <a:endParaRPr lang="en-US" sz="1450" b="0" strike="noStrike" spc="-1">
              <a:solidFill>
                <a:srgbClr val="FFFFFF"/>
              </a:solidFill>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844"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DEPLOYMENT</a:t>
            </a:r>
            <a:endParaRPr lang="en-US" sz="1300" b="0" strike="noStrike" spc="-1">
              <a:solidFill>
                <a:srgbClr val="000000"/>
              </a:solidFill>
              <a:latin typeface="Arial"/>
            </a:endParaRPr>
          </a:p>
        </p:txBody>
      </p:sp>
      <p:sp>
        <p:nvSpPr>
          <p:cNvPr id="845"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A real forecast, with honest error bars</a:t>
            </a:r>
            <a:endParaRPr lang="en-US" sz="3000" b="0" strike="noStrike" spc="-1">
              <a:solidFill>
                <a:srgbClr val="000000"/>
              </a:solidFill>
              <a:latin typeface="Arial"/>
            </a:endParaRPr>
          </a:p>
        </p:txBody>
      </p:sp>
      <p:pic>
        <p:nvPicPr>
          <p:cNvPr id="846" name="Image 0" descr="figs/full_27.png"/>
          <p:cNvPicPr/>
          <p:nvPr/>
        </p:nvPicPr>
        <p:blipFill>
          <a:blip r:embed="rId3"/>
          <a:stretch/>
        </p:blipFill>
        <p:spPr>
          <a:xfrm>
            <a:off x="2464200" y="1645920"/>
            <a:ext cx="7233120" cy="3657240"/>
          </a:xfrm>
          <a:prstGeom prst="rect">
            <a:avLst/>
          </a:prstGeom>
          <a:ln w="0">
            <a:noFill/>
          </a:ln>
        </p:spPr>
      </p:pic>
      <p:sp>
        <p:nvSpPr>
          <p:cNvPr id="847"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The operational forecast for Charleston, SC, across all 15 windows, with a bootstrap uncertainty band on the first window. Green stripes mark windows where a qualifying earthquake actually occurred.</a:t>
            </a:r>
            <a:endParaRPr lang="en-US" sz="1100" b="0" strike="noStrike" spc="-1">
              <a:solidFill>
                <a:srgbClr val="000000"/>
              </a:solidFill>
              <a:latin typeface="Arial"/>
            </a:endParaRPr>
          </a:p>
        </p:txBody>
      </p:sp>
      <p:sp>
        <p:nvSpPr>
          <p:cNvPr id="848"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49"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50"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The deliverable is not a leaderboard number — it is a calibrated probability an emergency manager could act on, with its uncertainty stated honestly and its probabilities clipped away from false certainty.</a:t>
            </a:r>
            <a:endParaRPr lang="en-US" sz="1350" b="0" strike="noStrike" spc="-1">
              <a:solidFill>
                <a:srgbClr val="000000"/>
              </a:solidFill>
              <a:latin typeface="Arial"/>
            </a:endParaRPr>
          </a:p>
        </p:txBody>
      </p:sp>
      <p:sp>
        <p:nvSpPr>
          <p:cNvPr id="851"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9 · Deploy &amp; Reflect</a:t>
            </a:r>
            <a:endParaRPr lang="en-US" sz="1000" b="0" strike="noStrike" spc="-1">
              <a:solidFill>
                <a:srgbClr val="000000"/>
              </a:solidFill>
              <a:latin typeface="Arial"/>
            </a:endParaRPr>
          </a:p>
        </p:txBody>
      </p:sp>
      <p:sp>
        <p:nvSpPr>
          <p:cNvPr id="852"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853"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66</a:t>
            </a:r>
            <a:endParaRPr lang="en-US" sz="1000" b="0" strike="noStrike" spc="-1">
              <a:solidFill>
                <a:srgbClr val="000000"/>
              </a:solidFill>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854"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THE FIVE FINDINGS</a:t>
            </a:r>
            <a:endParaRPr lang="en-US" sz="1300" b="0" strike="noStrike" spc="-1">
              <a:solidFill>
                <a:srgbClr val="000000"/>
              </a:solidFill>
              <a:latin typeface="Arial"/>
            </a:endParaRPr>
          </a:p>
        </p:txBody>
      </p:sp>
      <p:sp>
        <p:nvSpPr>
          <p:cNvPr id="855"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What a strong submission reproduces</a:t>
            </a:r>
            <a:endParaRPr lang="en-US" sz="3000" b="0" strike="noStrike" spc="-1">
              <a:solidFill>
                <a:srgbClr val="000000"/>
              </a:solidFill>
              <a:latin typeface="Arial"/>
            </a:endParaRPr>
          </a:p>
        </p:txBody>
      </p:sp>
      <p:sp>
        <p:nvSpPr>
          <p:cNvPr id="856" name="Shape 2"/>
          <p:cNvSpPr/>
          <p:nvPr/>
        </p:nvSpPr>
        <p:spPr>
          <a:xfrm>
            <a:off x="548640" y="1691640"/>
            <a:ext cx="585180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57" name="Shape 3"/>
          <p:cNvSpPr/>
          <p:nvPr/>
        </p:nvSpPr>
        <p:spPr>
          <a:xfrm>
            <a:off x="731520" y="223128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58" name="Text 4"/>
          <p:cNvSpPr/>
          <p:nvPr/>
        </p:nvSpPr>
        <p:spPr>
          <a:xfrm>
            <a:off x="1170360" y="1801440"/>
            <a:ext cx="5120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1 · Parity with ETAS</a:t>
            </a:r>
            <a:endParaRPr lang="en-US" sz="1450" b="0" strike="noStrike" spc="-1">
              <a:solidFill>
                <a:srgbClr val="000000"/>
              </a:solidFill>
              <a:latin typeface="Arial"/>
            </a:endParaRPr>
          </a:p>
        </p:txBody>
      </p:sp>
      <p:sp>
        <p:nvSpPr>
          <p:cNvPr id="859" name="Text 5"/>
          <p:cNvSpPr/>
          <p:nvPr/>
        </p:nvSpPr>
        <p:spPr>
          <a:xfrm>
            <a:off x="1170360" y="2094120"/>
            <a:ext cx="5065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A 373-feature pipeline beats 5-parameter physics by only ~0.002 bits.</a:t>
            </a:r>
            <a:endParaRPr lang="en-US" sz="1200" b="0" strike="noStrike" spc="-1">
              <a:solidFill>
                <a:srgbClr val="000000"/>
              </a:solidFill>
              <a:latin typeface="Arial"/>
            </a:endParaRPr>
          </a:p>
        </p:txBody>
      </p:sp>
      <p:sp>
        <p:nvSpPr>
          <p:cNvPr id="860" name="Shape 6"/>
          <p:cNvSpPr/>
          <p:nvPr/>
        </p:nvSpPr>
        <p:spPr>
          <a:xfrm>
            <a:off x="548640" y="3246120"/>
            <a:ext cx="585180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61" name="Shape 7"/>
          <p:cNvSpPr/>
          <p:nvPr/>
        </p:nvSpPr>
        <p:spPr>
          <a:xfrm>
            <a:off x="731520" y="3785760"/>
            <a:ext cx="292320" cy="2923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62" name="Text 8"/>
          <p:cNvSpPr/>
          <p:nvPr/>
        </p:nvSpPr>
        <p:spPr>
          <a:xfrm>
            <a:off x="1170360" y="3355920"/>
            <a:ext cx="5120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2 · No quantum lift</a:t>
            </a:r>
            <a:endParaRPr lang="en-US" sz="1450" b="0" strike="noStrike" spc="-1">
              <a:solidFill>
                <a:srgbClr val="000000"/>
              </a:solidFill>
              <a:latin typeface="Arial"/>
            </a:endParaRPr>
          </a:p>
        </p:txBody>
      </p:sp>
      <p:sp>
        <p:nvSpPr>
          <p:cNvPr id="863" name="Text 9"/>
          <p:cNvSpPr/>
          <p:nvPr/>
        </p:nvSpPr>
        <p:spPr>
          <a:xfrm>
            <a:off x="1170360" y="3648600"/>
            <a:ext cx="5065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Quantum features are used but add no significant generalization (CI spans 0).</a:t>
            </a:r>
            <a:endParaRPr lang="en-US" sz="1200" b="0" strike="noStrike" spc="-1">
              <a:solidFill>
                <a:srgbClr val="000000"/>
              </a:solidFill>
              <a:latin typeface="Arial"/>
            </a:endParaRPr>
          </a:p>
        </p:txBody>
      </p:sp>
      <p:sp>
        <p:nvSpPr>
          <p:cNvPr id="864" name="Shape 10"/>
          <p:cNvSpPr/>
          <p:nvPr/>
        </p:nvSpPr>
        <p:spPr>
          <a:xfrm>
            <a:off x="548640" y="4800600"/>
            <a:ext cx="585180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65" name="Shape 11"/>
          <p:cNvSpPr/>
          <p:nvPr/>
        </p:nvSpPr>
        <p:spPr>
          <a:xfrm>
            <a:off x="731520" y="5340240"/>
            <a:ext cx="292320" cy="29232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66" name="Text 12"/>
          <p:cNvSpPr/>
          <p:nvPr/>
        </p:nvSpPr>
        <p:spPr>
          <a:xfrm>
            <a:off x="1170360" y="4910400"/>
            <a:ext cx="5120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3 · Spatial prior ≈ 93%</a:t>
            </a:r>
            <a:endParaRPr lang="en-US" sz="1450" b="0" strike="noStrike" spc="-1">
              <a:solidFill>
                <a:srgbClr val="000000"/>
              </a:solidFill>
              <a:latin typeface="Arial"/>
            </a:endParaRPr>
          </a:p>
        </p:txBody>
      </p:sp>
      <p:sp>
        <p:nvSpPr>
          <p:cNvPr id="867" name="Text 13"/>
          <p:cNvSpPr/>
          <p:nvPr/>
        </p:nvSpPr>
        <p:spPr>
          <a:xfrm>
            <a:off x="1170360" y="5203080"/>
            <a:ext cx="5065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Three inputs capture most of the achievable information gain.</a:t>
            </a:r>
            <a:endParaRPr lang="en-US" sz="1200" b="0" strike="noStrike" spc="-1">
              <a:solidFill>
                <a:srgbClr val="000000"/>
              </a:solidFill>
              <a:latin typeface="Arial"/>
            </a:endParaRPr>
          </a:p>
        </p:txBody>
      </p:sp>
      <p:sp>
        <p:nvSpPr>
          <p:cNvPr id="868" name="Shape 14"/>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69" name="Shape 15"/>
          <p:cNvSpPr/>
          <p:nvPr/>
        </p:nvSpPr>
        <p:spPr>
          <a:xfrm>
            <a:off x="6949440" y="223128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70" name="Text 16"/>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4 · Calibration &gt; accuracy</a:t>
            </a:r>
            <a:endParaRPr lang="en-US" sz="1450" b="0" strike="noStrike" spc="-1">
              <a:solidFill>
                <a:srgbClr val="000000"/>
              </a:solidFill>
              <a:latin typeface="Arial"/>
            </a:endParaRPr>
          </a:p>
        </p:txBody>
      </p:sp>
      <p:sp>
        <p:nvSpPr>
          <p:cNvPr id="871" name="Text 17"/>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A high-AUC, poorly-calibrated model is a failing forecast. ECE is the real test.</a:t>
            </a:r>
            <a:endParaRPr lang="en-US" sz="1200" b="0" strike="noStrike" spc="-1">
              <a:solidFill>
                <a:srgbClr val="000000"/>
              </a:solidFill>
              <a:latin typeface="Arial"/>
            </a:endParaRPr>
          </a:p>
        </p:txBody>
      </p:sp>
      <p:sp>
        <p:nvSpPr>
          <p:cNvPr id="872" name="Shape 18"/>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73" name="Shape 19"/>
          <p:cNvSpPr/>
          <p:nvPr/>
        </p:nvSpPr>
        <p:spPr>
          <a:xfrm>
            <a:off x="6949440" y="3785760"/>
            <a:ext cx="292320" cy="29232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74" name="Text 20"/>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5 · α ≈ 0 → decluster</a:t>
            </a:r>
            <a:endParaRPr lang="en-US" sz="1450" b="0" strike="noStrike" spc="-1">
              <a:solidFill>
                <a:srgbClr val="000000"/>
              </a:solidFill>
              <a:latin typeface="Arial"/>
            </a:endParaRPr>
          </a:p>
        </p:txBody>
      </p:sp>
      <p:sp>
        <p:nvSpPr>
          <p:cNvPr id="875" name="Text 21"/>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The ETAS pathology reveals catalog contamination — a real seismological task.</a:t>
            </a:r>
            <a:endParaRPr lang="en-US" sz="1200" b="0" strike="noStrike" spc="-1">
              <a:solidFill>
                <a:srgbClr val="000000"/>
              </a:solidFill>
              <a:latin typeface="Arial"/>
            </a:endParaRPr>
          </a:p>
        </p:txBody>
      </p:sp>
      <p:sp>
        <p:nvSpPr>
          <p:cNvPr id="876" name="Shape 22"/>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77" name="Shape 23"/>
          <p:cNvSpPr/>
          <p:nvPr/>
        </p:nvSpPr>
        <p:spPr>
          <a:xfrm>
            <a:off x="6949440" y="5340240"/>
            <a:ext cx="292320" cy="292320"/>
          </a:xfrm>
          <a:prstGeom prst="ellipse">
            <a:avLst/>
          </a:prstGeom>
          <a:solidFill>
            <a:srgbClr val="5B6B7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78" name="Text 24"/>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The meta-lesson</a:t>
            </a:r>
            <a:endParaRPr lang="en-US" sz="1450" b="0" strike="noStrike" spc="-1">
              <a:solidFill>
                <a:srgbClr val="000000"/>
              </a:solidFill>
              <a:latin typeface="Arial"/>
            </a:endParaRPr>
          </a:p>
        </p:txBody>
      </p:sp>
      <p:sp>
        <p:nvSpPr>
          <p:cNvPr id="879" name="Text 25"/>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Honesty, quantified with confidence intervals, beats an impressive-looking margin every time.</a:t>
            </a:r>
            <a:endParaRPr lang="en-US" sz="1200" b="0" strike="noStrike" spc="-1">
              <a:solidFill>
                <a:srgbClr val="000000"/>
              </a:solidFill>
              <a:latin typeface="Arial"/>
            </a:endParaRPr>
          </a:p>
        </p:txBody>
      </p:sp>
      <p:sp>
        <p:nvSpPr>
          <p:cNvPr id="880" name="Text 2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9 · Deploy &amp; Reflect</a:t>
            </a:r>
            <a:endParaRPr lang="en-US" sz="1000" b="0" strike="noStrike" spc="-1">
              <a:solidFill>
                <a:srgbClr val="000000"/>
              </a:solidFill>
              <a:latin typeface="Arial"/>
            </a:endParaRPr>
          </a:p>
        </p:txBody>
      </p:sp>
      <p:sp>
        <p:nvSpPr>
          <p:cNvPr id="881" name="Text 2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882" name="Text 2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67</a:t>
            </a:r>
            <a:endParaRPr lang="en-US" sz="1000" b="0" strike="noStrike" spc="-1">
              <a:solidFill>
                <a:srgbClr val="000000"/>
              </a:solidFill>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883"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TAKE IT ANYWHERE</a:t>
            </a:r>
            <a:endParaRPr lang="en-US" sz="1300" b="0" strike="noStrike" spc="-1">
              <a:solidFill>
                <a:srgbClr val="000000"/>
              </a:solidFill>
              <a:latin typeface="Arial"/>
            </a:endParaRPr>
          </a:p>
        </p:txBody>
      </p:sp>
      <p:sp>
        <p:nvSpPr>
          <p:cNvPr id="884"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A checklist for any forecasting problem</a:t>
            </a:r>
            <a:endParaRPr lang="en-US" sz="3000" b="0" strike="noStrike" spc="-1">
              <a:solidFill>
                <a:srgbClr val="000000"/>
              </a:solidFill>
              <a:latin typeface="Arial"/>
            </a:endParaRPr>
          </a:p>
        </p:txBody>
      </p:sp>
      <p:sp>
        <p:nvSpPr>
          <p:cNvPr id="885"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16202B"/>
              </a:buClr>
              <a:buFont typeface="Symbol" charset="2"/>
              <a:buChar char=""/>
            </a:pPr>
            <a:r>
              <a:rPr lang="en-US" sz="1450" b="1" strike="noStrike" spc="-1">
                <a:solidFill>
                  <a:srgbClr val="16202B"/>
                </a:solidFill>
                <a:latin typeface="Calibri"/>
                <a:ea typeface="Calibri"/>
              </a:rPr>
              <a:t>Define the target precisely — units, horizon, and what counts as a hit.</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Score on a proper rule (log-loss / information gain), not accuracy.</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Build a strong, simple baseline first — and respect it.</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Train the way you will be scored; match the deployment distribution.</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Separate train, calibration, and evaluation in time. Never shuffle time series.</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Calibrate on held-out data; report ECE, not just AUC.</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Distinguish feature importance from marginal value.</a:t>
            </a:r>
            <a:endParaRPr lang="en-US" sz="1450" b="0" strike="noStrike" spc="-1">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a:solidFill>
                  <a:srgbClr val="16202B"/>
                </a:solidFill>
                <a:latin typeface="Calibri"/>
                <a:ea typeface="Calibri"/>
              </a:rPr>
              <a:t>Quantify uncertainty — and believe it, even when it kills your favorite idea.</a:t>
            </a:r>
            <a:endParaRPr lang="en-US" sz="1450" b="0" strike="noStrike" spc="-1">
              <a:solidFill>
                <a:srgbClr val="000000"/>
              </a:solidFill>
              <a:latin typeface="Arial"/>
            </a:endParaRPr>
          </a:p>
        </p:txBody>
      </p:sp>
      <p:sp>
        <p:nvSpPr>
          <p:cNvPr id="886" name="Shape 3"/>
          <p:cNvSpPr/>
          <p:nvPr/>
        </p:nvSpPr>
        <p:spPr>
          <a:xfrm>
            <a:off x="6766560" y="169164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87" name="Shape 4"/>
          <p:cNvSpPr/>
          <p:nvPr/>
        </p:nvSpPr>
        <p:spPr>
          <a:xfrm>
            <a:off x="6949440" y="223128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88"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If you remember one thing</a:t>
            </a:r>
            <a:endParaRPr lang="en-US" sz="1450" b="0" strike="noStrike" spc="-1">
              <a:solidFill>
                <a:srgbClr val="000000"/>
              </a:solidFill>
              <a:latin typeface="Arial"/>
            </a:endParaRPr>
          </a:p>
        </p:txBody>
      </p:sp>
      <p:sp>
        <p:nvSpPr>
          <p:cNvPr id="889" name="Text 6"/>
          <p:cNvSpPr/>
          <p:nvPr/>
        </p:nvSpPr>
        <p:spPr>
          <a:xfrm>
            <a:off x="7388280" y="209412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A simple, well-understood baseline you can defend beats a complex model you cannot.</a:t>
            </a:r>
            <a:endParaRPr lang="en-US" sz="1200" b="0" strike="noStrike" spc="-1">
              <a:solidFill>
                <a:srgbClr val="000000"/>
              </a:solidFill>
              <a:latin typeface="Arial"/>
            </a:endParaRPr>
          </a:p>
        </p:txBody>
      </p:sp>
      <p:sp>
        <p:nvSpPr>
          <p:cNvPr id="890" name="Shape 7"/>
          <p:cNvSpPr/>
          <p:nvPr/>
        </p:nvSpPr>
        <p:spPr>
          <a:xfrm>
            <a:off x="6766560" y="324612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91" name="Shape 8"/>
          <p:cNvSpPr/>
          <p:nvPr/>
        </p:nvSpPr>
        <p:spPr>
          <a:xfrm>
            <a:off x="6949440" y="378576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92" name="Text 9"/>
          <p:cNvSpPr/>
          <p:nvPr/>
        </p:nvSpPr>
        <p:spPr>
          <a:xfrm>
            <a:off x="7388280" y="33559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If you remember two</a:t>
            </a:r>
            <a:endParaRPr lang="en-US" sz="1450" b="0" strike="noStrike" spc="-1">
              <a:solidFill>
                <a:srgbClr val="000000"/>
              </a:solidFill>
              <a:latin typeface="Arial"/>
            </a:endParaRPr>
          </a:p>
        </p:txBody>
      </p:sp>
      <p:sp>
        <p:nvSpPr>
          <p:cNvPr id="893" name="Text 10"/>
          <p:cNvSpPr/>
          <p:nvPr/>
        </p:nvSpPr>
        <p:spPr>
          <a:xfrm>
            <a:off x="7388280" y="364860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Calibration and leakage control decide real forecasts. Everything else is a rounding error.</a:t>
            </a:r>
            <a:endParaRPr lang="en-US" sz="1200" b="0" strike="noStrike" spc="-1">
              <a:solidFill>
                <a:srgbClr val="000000"/>
              </a:solidFill>
              <a:latin typeface="Arial"/>
            </a:endParaRPr>
          </a:p>
        </p:txBody>
      </p:sp>
      <p:sp>
        <p:nvSpPr>
          <p:cNvPr id="894" name="Shape 11"/>
          <p:cNvSpPr/>
          <p:nvPr/>
        </p:nvSpPr>
        <p:spPr>
          <a:xfrm>
            <a:off x="6766560" y="4800600"/>
            <a:ext cx="487332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95" name="Shape 12"/>
          <p:cNvSpPr/>
          <p:nvPr/>
        </p:nvSpPr>
        <p:spPr>
          <a:xfrm>
            <a:off x="6949440" y="5340240"/>
            <a:ext cx="292320" cy="2923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96" name="Text 13"/>
          <p:cNvSpPr/>
          <p:nvPr/>
        </p:nvSpPr>
        <p:spPr>
          <a:xfrm>
            <a:off x="7388280" y="491040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If you remember three</a:t>
            </a:r>
            <a:endParaRPr lang="en-US" sz="1450" b="0" strike="noStrike" spc="-1">
              <a:solidFill>
                <a:srgbClr val="000000"/>
              </a:solidFill>
              <a:latin typeface="Arial"/>
            </a:endParaRPr>
          </a:p>
        </p:txBody>
      </p:sp>
      <p:sp>
        <p:nvSpPr>
          <p:cNvPr id="897" name="Text 14"/>
          <p:cNvSpPr/>
          <p:nvPr/>
        </p:nvSpPr>
        <p:spPr>
          <a:xfrm>
            <a:off x="7388280" y="5203080"/>
            <a:ext cx="40870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dirty="0">
                <a:solidFill>
                  <a:srgbClr val="5B6B7A"/>
                </a:solidFill>
                <a:latin typeface="Calibri"/>
                <a:ea typeface="Calibri"/>
              </a:rPr>
              <a:t>Report the true result, with its confidence interval — especially </a:t>
            </a:r>
            <a:r>
              <a:rPr lang="en-US" sz="1200" spc="-1" dirty="0">
                <a:solidFill>
                  <a:srgbClr val="5B6B7A"/>
                </a:solidFill>
                <a:latin typeface="Calibri"/>
                <a:ea typeface="Calibri"/>
              </a:rPr>
              <a:t>if</a:t>
            </a:r>
            <a:r>
              <a:rPr lang="en-US" sz="1200" b="0" strike="noStrike" spc="-1" dirty="0">
                <a:solidFill>
                  <a:srgbClr val="5B6B7A"/>
                </a:solidFill>
                <a:latin typeface="Calibri"/>
                <a:ea typeface="Calibri"/>
              </a:rPr>
              <a:t> it is not the result you hoped for; discuss path forwards</a:t>
            </a:r>
            <a:endParaRPr lang="en-US" sz="1200" b="0" strike="noStrike" spc="-1" dirty="0">
              <a:solidFill>
                <a:srgbClr val="000000"/>
              </a:solidFill>
              <a:latin typeface="Arial"/>
            </a:endParaRPr>
          </a:p>
        </p:txBody>
      </p:sp>
      <p:sp>
        <p:nvSpPr>
          <p:cNvPr id="898" name="Text 1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Module 9 · Deploy &amp; Reflect</a:t>
            </a:r>
            <a:endParaRPr lang="en-US" sz="1000" b="0" strike="noStrike" spc="-1">
              <a:solidFill>
                <a:srgbClr val="000000"/>
              </a:solidFill>
              <a:latin typeface="Arial"/>
            </a:endParaRPr>
          </a:p>
        </p:txBody>
      </p:sp>
      <p:sp>
        <p:nvSpPr>
          <p:cNvPr id="899" name="Text 1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900" name="Text 1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68</a:t>
            </a:r>
            <a:endParaRPr lang="en-US" sz="1000" b="0" strike="noStrike" spc="-1">
              <a:solidFill>
                <a:srgbClr val="000000"/>
              </a:solidFill>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901" name="Shape 0"/>
          <p:cNvSpPr/>
          <p:nvPr/>
        </p:nvSpPr>
        <p:spPr>
          <a:xfrm>
            <a:off x="0" y="5257800"/>
            <a:ext cx="1218600" cy="45720"/>
          </a:xfrm>
          <a:prstGeom prst="line">
            <a:avLst/>
          </a:prstGeom>
          <a:ln w="17780">
            <a:solidFill>
              <a:srgbClr val="7B4EA8">
                <a:alpha val="55000"/>
              </a:srgbClr>
            </a:solidFill>
            <a:round/>
          </a:ln>
        </p:spPr>
        <p:style>
          <a:lnRef idx="0">
            <a:scrgbClr r="0" g="0" b="0"/>
          </a:lnRef>
          <a:fillRef idx="0">
            <a:scrgbClr r="0" g="0" b="0"/>
          </a:fillRef>
          <a:effectRef idx="0">
            <a:scrgbClr r="0" g="0" b="0"/>
          </a:effectRef>
          <a:fontRef idx="minor"/>
        </p:style>
        <p:txBody>
          <a:bodyPr lIns="90000" tIns="720" rIns="90000" bIns="720" anchor="t" anchorCtr="1">
            <a:noAutofit/>
          </a:bodyPr>
          <a:lstStyle/>
          <a:p>
            <a:endParaRPr lang="en-US" sz="1800" b="0" strike="noStrike" spc="-1">
              <a:solidFill>
                <a:srgbClr val="FFFFFF"/>
              </a:solidFill>
              <a:latin typeface="Arial"/>
            </a:endParaRPr>
          </a:p>
        </p:txBody>
      </p:sp>
      <p:sp>
        <p:nvSpPr>
          <p:cNvPr id="902" name="Shape 1"/>
          <p:cNvSpPr/>
          <p:nvPr/>
        </p:nvSpPr>
        <p:spPr>
          <a:xfrm>
            <a:off x="1218600" y="5257800"/>
            <a:ext cx="1218960" cy="63720"/>
          </a:xfrm>
          <a:prstGeom prst="line">
            <a:avLst/>
          </a:prstGeom>
          <a:ln w="17780">
            <a:solidFill>
              <a:srgbClr val="7B4EA8">
                <a:alpha val="55000"/>
              </a:srgbClr>
            </a:solidFill>
            <a:round/>
          </a:ln>
        </p:spPr>
        <p:style>
          <a:lnRef idx="0">
            <a:scrgbClr r="0" g="0" b="0"/>
          </a:lnRef>
          <a:fillRef idx="0">
            <a:scrgbClr r="0" g="0" b="0"/>
          </a:fillRef>
          <a:effectRef idx="0">
            <a:scrgbClr r="0" g="0" b="0"/>
          </a:effectRef>
          <a:fontRef idx="minor"/>
        </p:style>
        <p:txBody>
          <a:bodyPr lIns="90000" tIns="18720" rIns="90000" bIns="18720" anchor="t" anchorCtr="1">
            <a:noAutofit/>
          </a:bodyPr>
          <a:lstStyle/>
          <a:p>
            <a:endParaRPr lang="en-US" sz="1800" b="0" strike="noStrike" spc="-1">
              <a:solidFill>
                <a:srgbClr val="FFFFFF"/>
              </a:solidFill>
              <a:latin typeface="Arial"/>
            </a:endParaRPr>
          </a:p>
        </p:txBody>
      </p:sp>
      <p:sp>
        <p:nvSpPr>
          <p:cNvPr id="903" name="Shape 2"/>
          <p:cNvSpPr/>
          <p:nvPr/>
        </p:nvSpPr>
        <p:spPr>
          <a:xfrm>
            <a:off x="2437560" y="5212080"/>
            <a:ext cx="1218960" cy="109440"/>
          </a:xfrm>
          <a:prstGeom prst="line">
            <a:avLst/>
          </a:prstGeom>
          <a:ln w="17780">
            <a:solidFill>
              <a:srgbClr val="7B4EA8">
                <a:alpha val="5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04" name="Shape 3"/>
          <p:cNvSpPr/>
          <p:nvPr/>
        </p:nvSpPr>
        <p:spPr>
          <a:xfrm>
            <a:off x="3656520" y="5212080"/>
            <a:ext cx="1218960" cy="182880"/>
          </a:xfrm>
          <a:prstGeom prst="line">
            <a:avLst/>
          </a:prstGeom>
          <a:ln w="17780">
            <a:solidFill>
              <a:srgbClr val="7B4EA8">
                <a:alpha val="5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05" name="Shape 4"/>
          <p:cNvSpPr/>
          <p:nvPr/>
        </p:nvSpPr>
        <p:spPr>
          <a:xfrm>
            <a:off x="4875480" y="5074920"/>
            <a:ext cx="1218960" cy="320040"/>
          </a:xfrm>
          <a:prstGeom prst="line">
            <a:avLst/>
          </a:prstGeom>
          <a:ln w="17780">
            <a:solidFill>
              <a:srgbClr val="7B4EA8">
                <a:alpha val="5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06" name="Shape 5"/>
          <p:cNvSpPr/>
          <p:nvPr/>
        </p:nvSpPr>
        <p:spPr>
          <a:xfrm>
            <a:off x="6094440" y="5074920"/>
            <a:ext cx="1218600" cy="502920"/>
          </a:xfrm>
          <a:prstGeom prst="line">
            <a:avLst/>
          </a:prstGeom>
          <a:ln w="17780">
            <a:solidFill>
              <a:srgbClr val="7B4EA8">
                <a:alpha val="5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07" name="Shape 6"/>
          <p:cNvSpPr/>
          <p:nvPr/>
        </p:nvSpPr>
        <p:spPr>
          <a:xfrm>
            <a:off x="7313040" y="4892040"/>
            <a:ext cx="1218960" cy="685800"/>
          </a:xfrm>
          <a:prstGeom prst="line">
            <a:avLst/>
          </a:prstGeom>
          <a:ln w="17780">
            <a:solidFill>
              <a:srgbClr val="7B4EA8">
                <a:alpha val="5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08" name="Shape 7"/>
          <p:cNvSpPr/>
          <p:nvPr/>
        </p:nvSpPr>
        <p:spPr>
          <a:xfrm>
            <a:off x="8532000" y="4892040"/>
            <a:ext cx="1218960" cy="411480"/>
          </a:xfrm>
          <a:prstGeom prst="line">
            <a:avLst/>
          </a:prstGeom>
          <a:ln w="17780">
            <a:solidFill>
              <a:srgbClr val="7B4EA8">
                <a:alpha val="5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FFFFFF"/>
              </a:solidFill>
              <a:latin typeface="Arial"/>
            </a:endParaRPr>
          </a:p>
        </p:txBody>
      </p:sp>
      <p:sp>
        <p:nvSpPr>
          <p:cNvPr id="909" name="Shape 8"/>
          <p:cNvSpPr/>
          <p:nvPr/>
        </p:nvSpPr>
        <p:spPr>
          <a:xfrm>
            <a:off x="9750960" y="5257800"/>
            <a:ext cx="1218960" cy="45720"/>
          </a:xfrm>
          <a:prstGeom prst="line">
            <a:avLst/>
          </a:prstGeom>
          <a:ln w="17780">
            <a:solidFill>
              <a:srgbClr val="7B4EA8">
                <a:alpha val="55000"/>
              </a:srgbClr>
            </a:solidFill>
            <a:round/>
          </a:ln>
        </p:spPr>
        <p:style>
          <a:lnRef idx="0">
            <a:scrgbClr r="0" g="0" b="0"/>
          </a:lnRef>
          <a:fillRef idx="0">
            <a:scrgbClr r="0" g="0" b="0"/>
          </a:fillRef>
          <a:effectRef idx="0">
            <a:scrgbClr r="0" g="0" b="0"/>
          </a:effectRef>
          <a:fontRef idx="minor"/>
        </p:style>
        <p:txBody>
          <a:bodyPr lIns="90000" tIns="720" rIns="90000" bIns="720" anchor="t" anchorCtr="1">
            <a:noAutofit/>
          </a:bodyPr>
          <a:lstStyle/>
          <a:p>
            <a:endParaRPr lang="en-US" sz="1800" b="0" strike="noStrike" spc="-1">
              <a:solidFill>
                <a:srgbClr val="FFFFFF"/>
              </a:solidFill>
              <a:latin typeface="Arial"/>
            </a:endParaRPr>
          </a:p>
        </p:txBody>
      </p:sp>
      <p:sp>
        <p:nvSpPr>
          <p:cNvPr id="910" name="Shape 9"/>
          <p:cNvSpPr/>
          <p:nvPr/>
        </p:nvSpPr>
        <p:spPr>
          <a:xfrm>
            <a:off x="10969920" y="5257800"/>
            <a:ext cx="1218960" cy="45720"/>
          </a:xfrm>
          <a:prstGeom prst="line">
            <a:avLst/>
          </a:prstGeom>
          <a:ln w="17780">
            <a:solidFill>
              <a:srgbClr val="7B4EA8">
                <a:alpha val="55000"/>
              </a:srgbClr>
            </a:solidFill>
            <a:round/>
          </a:ln>
        </p:spPr>
        <p:style>
          <a:lnRef idx="0">
            <a:scrgbClr r="0" g="0" b="0"/>
          </a:lnRef>
          <a:fillRef idx="0">
            <a:scrgbClr r="0" g="0" b="0"/>
          </a:fillRef>
          <a:effectRef idx="0">
            <a:scrgbClr r="0" g="0" b="0"/>
          </a:effectRef>
          <a:fontRef idx="minor"/>
        </p:style>
        <p:txBody>
          <a:bodyPr lIns="90000" tIns="720" rIns="90000" bIns="720" anchor="t" anchorCtr="1">
            <a:noAutofit/>
          </a:bodyPr>
          <a:lstStyle/>
          <a:p>
            <a:endParaRPr lang="en-US" sz="1800" b="0" strike="noStrike" spc="-1">
              <a:solidFill>
                <a:srgbClr val="FFFFFF"/>
              </a:solidFill>
              <a:latin typeface="Arial"/>
            </a:endParaRPr>
          </a:p>
        </p:txBody>
      </p:sp>
      <p:sp>
        <p:nvSpPr>
          <p:cNvPr id="911" name="Text 10"/>
          <p:cNvSpPr/>
          <p:nvPr/>
        </p:nvSpPr>
        <p:spPr>
          <a:xfrm>
            <a:off x="731520" y="1188720"/>
            <a:ext cx="1069812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4000" b="1" strike="noStrike" spc="-1">
                <a:solidFill>
                  <a:srgbClr val="FFFFFF"/>
                </a:solidFill>
                <a:latin typeface="Cambria"/>
                <a:ea typeface="Cambria"/>
              </a:rPr>
              <a:t>The point was never the leaderboard</a:t>
            </a:r>
            <a:endParaRPr lang="en-US" sz="4000" b="0" strike="noStrike" spc="-1">
              <a:solidFill>
                <a:srgbClr val="FFFFFF"/>
              </a:solidFill>
              <a:latin typeface="Arial"/>
            </a:endParaRPr>
          </a:p>
        </p:txBody>
      </p:sp>
      <p:sp>
        <p:nvSpPr>
          <p:cNvPr id="912" name="Text 11"/>
          <p:cNvSpPr/>
          <p:nvPr/>
        </p:nvSpPr>
        <p:spPr>
          <a:xfrm>
            <a:off x="749880" y="2788920"/>
            <a:ext cx="10423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5000"/>
              </a:lnSpc>
              <a:tabLst>
                <a:tab pos="0" algn="l"/>
              </a:tabLst>
            </a:pPr>
            <a:r>
              <a:rPr lang="en-US" sz="1700" b="0" strike="noStrike" spc="-1">
                <a:solidFill>
                  <a:srgbClr val="D6DEE6"/>
                </a:solidFill>
                <a:latin typeface="Calibri"/>
                <a:ea typeface="Calibri"/>
              </a:rPr>
              <a:t>You now know how to build an honest forecast: define the target, respect the baseline, control leakage, calibrate, and quantify what you actually know.</a:t>
            </a:r>
            <a:endParaRPr lang="en-US" sz="1700" b="0" strike="noStrike" spc="-1">
              <a:solidFill>
                <a:srgbClr val="FFFFFF"/>
              </a:solidFill>
              <a:latin typeface="Arial"/>
            </a:endParaRPr>
          </a:p>
          <a:p>
            <a:pPr defTabSz="914400">
              <a:lnSpc>
                <a:spcPct val="115000"/>
              </a:lnSpc>
              <a:tabLst>
                <a:tab pos="0" algn="l"/>
              </a:tabLst>
            </a:pPr>
            <a:r>
              <a:rPr lang="en-US" sz="1700" b="0" i="1" strike="noStrike" spc="-1">
                <a:solidFill>
                  <a:srgbClr val="D98C1F"/>
                </a:solidFill>
                <a:latin typeface="Calibri"/>
                <a:ea typeface="Calibri"/>
              </a:rPr>
              <a:t>That skill outlasts any one competition — and any one hardware generation.</a:t>
            </a:r>
            <a:endParaRPr lang="en-US" sz="1700" b="0" strike="noStrike" spc="-1">
              <a:solidFill>
                <a:srgbClr val="FFFFFF"/>
              </a:solidFill>
              <a:latin typeface="Arial"/>
            </a:endParaRPr>
          </a:p>
        </p:txBody>
      </p:sp>
      <p:sp>
        <p:nvSpPr>
          <p:cNvPr id="913" name="Text 12"/>
          <p:cNvSpPr/>
          <p:nvPr/>
        </p:nvSpPr>
        <p:spPr>
          <a:xfrm>
            <a:off x="749880" y="502920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i="1" strike="noStrike" spc="-1">
                <a:solidFill>
                  <a:srgbClr val="9AA7B4"/>
                </a:solidFill>
                <a:latin typeface="Calibri"/>
                <a:ea typeface="Calibri"/>
              </a:rPr>
              <a:t>Everything in this deck — the code, the data, the figures, and every number — is real and reproducible.</a:t>
            </a:r>
            <a:endParaRPr lang="en-US" sz="1350" b="0" strike="noStrike" spc="-1">
              <a:solidFill>
                <a:srgbClr val="FFFFFF"/>
              </a:solidFill>
              <a:latin typeface="Arial"/>
            </a:endParaRPr>
          </a:p>
        </p:txBody>
      </p:sp>
      <p:sp>
        <p:nvSpPr>
          <p:cNvPr id="914" name="Text 13"/>
          <p:cNvSpPr/>
          <p:nvPr/>
        </p:nvSpPr>
        <p:spPr>
          <a:xfrm>
            <a:off x="749880" y="612648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6E7C8A"/>
                </a:solidFill>
                <a:latin typeface="Calibri"/>
                <a:ea typeface="Calibri"/>
              </a:rPr>
              <a:t>EARTHQUAKE-Q  ·  QuantathonV3  ·  Clemson University</a:t>
            </a:r>
            <a:endParaRPr lang="en-US" sz="1200" b="0" strike="noStrike" spc="-1">
              <a:solidFill>
                <a:srgbClr val="FFFFFF"/>
              </a:solidFill>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915" name="Text 0"/>
          <p:cNvSpPr/>
          <p:nvPr/>
        </p:nvSpPr>
        <p:spPr>
          <a:xfrm>
            <a:off x="640080" y="219456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299">
                <a:solidFill>
                  <a:srgbClr val="D98C1F"/>
                </a:solidFill>
                <a:latin typeface="Calibri"/>
                <a:ea typeface="Calibri"/>
              </a:rPr>
              <a:t>DEEP DIVES</a:t>
            </a:r>
            <a:endParaRPr lang="en-US" sz="1600" b="0" strike="noStrike" spc="-1">
              <a:solidFill>
                <a:srgbClr val="FFFFFF"/>
              </a:solidFill>
              <a:latin typeface="Arial"/>
            </a:endParaRPr>
          </a:p>
        </p:txBody>
      </p:sp>
      <p:sp>
        <p:nvSpPr>
          <p:cNvPr id="916" name="Text 1"/>
          <p:cNvSpPr/>
          <p:nvPr/>
        </p:nvSpPr>
        <p:spPr>
          <a:xfrm>
            <a:off x="640080" y="26060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800" b="1" strike="noStrike" spc="-1">
                <a:solidFill>
                  <a:srgbClr val="FFFFFF"/>
                </a:solidFill>
                <a:latin typeface="Cambria"/>
                <a:ea typeface="Cambria"/>
              </a:rPr>
              <a:t>Reference material &amp; worked detail</a:t>
            </a:r>
            <a:endParaRPr lang="en-US" sz="3800" b="0" strike="noStrike" spc="-1">
              <a:solidFill>
                <a:srgbClr val="FFFFFF"/>
              </a:solidFill>
              <a:latin typeface="Arial"/>
            </a:endParaRPr>
          </a:p>
        </p:txBody>
      </p:sp>
      <p:sp>
        <p:nvSpPr>
          <p:cNvPr id="917" name="Text 2"/>
          <p:cNvSpPr/>
          <p:nvPr/>
        </p:nvSpPr>
        <p:spPr>
          <a:xfrm>
            <a:off x="658440" y="3566160"/>
            <a:ext cx="10515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a:solidFill>
                  <a:srgbClr val="C7D0D9"/>
                </a:solidFill>
                <a:latin typeface="Calibri"/>
                <a:ea typeface="Calibri"/>
              </a:rPr>
              <a:t>Extra figures and explanations for a second, deeper pass. Read these once you have the arc.</a:t>
            </a:r>
            <a:endParaRPr lang="en-US" sz="1600" b="0" strike="noStrike" spc="-1">
              <a:solidFill>
                <a:srgbClr val="FFFFFF"/>
              </a:solidFill>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1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DATA · DEEP DIVE</a:t>
            </a:r>
            <a:endParaRPr lang="en-US" sz="1300" b="0" strike="noStrike" spc="-1">
              <a:solidFill>
                <a:srgbClr val="000000"/>
              </a:solidFill>
              <a:latin typeface="Arial"/>
            </a:endParaRPr>
          </a:p>
        </p:txBody>
      </p:sp>
      <p:sp>
        <p:nvSpPr>
          <p:cNvPr id="91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dirty="0">
                <a:solidFill>
                  <a:srgbClr val="16202B"/>
                </a:solidFill>
                <a:latin typeface="Cambria"/>
                <a:ea typeface="Cambria"/>
              </a:rPr>
              <a:t>The seismicity map you're forecasting </a:t>
            </a:r>
          </a:p>
          <a:p>
            <a:pPr defTabSz="914400">
              <a:lnSpc>
                <a:spcPct val="95000"/>
              </a:lnSpc>
              <a:tabLst>
                <a:tab pos="0" algn="l"/>
              </a:tabLst>
            </a:pPr>
            <a:r>
              <a:rPr lang="en-US" sz="3000" b="1" strike="noStrike" spc="-1" dirty="0">
                <a:solidFill>
                  <a:srgbClr val="16202B"/>
                </a:solidFill>
                <a:latin typeface="Cambria"/>
                <a:ea typeface="Cambria"/>
              </a:rPr>
              <a:t>(Blind data set </a:t>
            </a:r>
            <a:r>
              <a:rPr lang="en-US" sz="3000" b="1" spc="-1" dirty="0">
                <a:solidFill>
                  <a:srgbClr val="16202B"/>
                </a:solidFill>
                <a:latin typeface="Cambria"/>
                <a:ea typeface="Cambria"/>
              </a:rPr>
              <a:t>is now </a:t>
            </a:r>
            <a:r>
              <a:rPr lang="en-US" sz="3000" b="1" strike="noStrike" spc="-1" dirty="0">
                <a:solidFill>
                  <a:srgbClr val="16202B"/>
                </a:solidFill>
                <a:latin typeface="Cambria"/>
                <a:ea typeface="Cambria"/>
              </a:rPr>
              <a:t>included in the challenge)</a:t>
            </a:r>
            <a:endParaRPr lang="en-US" sz="3000" b="0" strike="noStrike" spc="-1" dirty="0">
              <a:solidFill>
                <a:srgbClr val="000000"/>
              </a:solidFill>
              <a:latin typeface="Arial"/>
            </a:endParaRPr>
          </a:p>
        </p:txBody>
      </p:sp>
      <p:pic>
        <p:nvPicPr>
          <p:cNvPr id="920" name="Image 0" descr="figs/full_05.png"/>
          <p:cNvPicPr/>
          <p:nvPr/>
        </p:nvPicPr>
        <p:blipFill>
          <a:blip r:embed="rId3"/>
          <a:stretch/>
        </p:blipFill>
        <p:spPr>
          <a:xfrm>
            <a:off x="548640" y="1891440"/>
            <a:ext cx="11063880" cy="3166200"/>
          </a:xfrm>
          <a:prstGeom prst="rect">
            <a:avLst/>
          </a:prstGeom>
          <a:ln w="0">
            <a:noFill/>
          </a:ln>
        </p:spPr>
      </p:pic>
      <p:sp>
        <p:nvSpPr>
          <p:cNvPr id="92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Epicenters across the central &amp; eastern US. The active zones — New Madrid, Eastern Tennessee, the Charlevoix and Charleston areas — are visible by eye, which is exactly why a spatial prior is so powerful.</a:t>
            </a:r>
            <a:endParaRPr lang="en-US" sz="1100" b="0" strike="noStrike" spc="-1">
              <a:solidFill>
                <a:srgbClr val="000000"/>
              </a:solidFill>
              <a:latin typeface="Arial"/>
            </a:endParaRPr>
          </a:p>
        </p:txBody>
      </p:sp>
      <p:sp>
        <p:nvSpPr>
          <p:cNvPr id="92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2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2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Before any model, look at your data. If the structure is obvious to your eye, it will be obvious to a model — and 'obvious' skill is not the same as useful skill.</a:t>
            </a:r>
            <a:endParaRPr lang="en-US" sz="1350" b="0" strike="noStrike" spc="-1">
              <a:solidFill>
                <a:srgbClr val="000000"/>
              </a:solidFill>
              <a:latin typeface="Arial"/>
            </a:endParaRPr>
          </a:p>
        </p:txBody>
      </p:sp>
      <p:sp>
        <p:nvSpPr>
          <p:cNvPr id="92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92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92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71</a:t>
            </a:r>
            <a:endParaRPr lang="en-US" sz="1000" b="0" strike="noStrike" spc="-1">
              <a:solidFill>
                <a:srgbClr val="000000"/>
              </a:solidFill>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2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DATA · DEEP DIVE</a:t>
            </a:r>
            <a:endParaRPr lang="en-US" sz="1300" b="0" strike="noStrike" spc="-1">
              <a:solidFill>
                <a:srgbClr val="000000"/>
              </a:solidFill>
              <a:latin typeface="Arial"/>
            </a:endParaRPr>
          </a:p>
        </p:txBody>
      </p:sp>
      <p:sp>
        <p:nvSpPr>
          <p:cNvPr id="92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Magnitude and depth distributions</a:t>
            </a:r>
            <a:endParaRPr lang="en-US" sz="3000" b="0" strike="noStrike" spc="-1">
              <a:solidFill>
                <a:srgbClr val="000000"/>
              </a:solidFill>
              <a:latin typeface="Arial"/>
            </a:endParaRPr>
          </a:p>
        </p:txBody>
      </p:sp>
      <p:pic>
        <p:nvPicPr>
          <p:cNvPr id="930" name="Image 0" descr="figs/full_07.png"/>
          <p:cNvPicPr/>
          <p:nvPr/>
        </p:nvPicPr>
        <p:blipFill>
          <a:blip r:embed="rId3"/>
          <a:stretch/>
        </p:blipFill>
        <p:spPr>
          <a:xfrm>
            <a:off x="548640" y="2094120"/>
            <a:ext cx="11063880" cy="2761200"/>
          </a:xfrm>
          <a:prstGeom prst="rect">
            <a:avLst/>
          </a:prstGeom>
          <a:ln w="0">
            <a:noFill/>
          </a:ln>
        </p:spPr>
      </p:pic>
      <p:sp>
        <p:nvSpPr>
          <p:cNvPr id="93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Magnitude and depth histograms for the catalog. Most events are shallow and small; the magnitude histogram is the raw material behind the Gutenberg–Richter fit.</a:t>
            </a:r>
            <a:endParaRPr lang="en-US" sz="1100" b="0" strike="noStrike" spc="-1">
              <a:solidFill>
                <a:srgbClr val="000000"/>
              </a:solidFill>
              <a:latin typeface="Arial"/>
            </a:endParaRPr>
          </a:p>
        </p:txBody>
      </p:sp>
      <p:sp>
        <p:nvSpPr>
          <p:cNvPr id="93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3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3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Depth and magnitude distributions are sanity checks. An unexpected spike at a round-number depth, or a bump at a specific magnitude, often signals catalog artifacts worth investigating.</a:t>
            </a:r>
            <a:endParaRPr lang="en-US" sz="1350" b="0" strike="noStrike" spc="-1">
              <a:solidFill>
                <a:srgbClr val="000000"/>
              </a:solidFill>
              <a:latin typeface="Arial"/>
            </a:endParaRPr>
          </a:p>
        </p:txBody>
      </p:sp>
      <p:sp>
        <p:nvSpPr>
          <p:cNvPr id="93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93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93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72</a:t>
            </a:r>
            <a:endParaRPr lang="en-US" sz="1000" b="0" strike="noStrike" spc="-1">
              <a:solidFill>
                <a:srgbClr val="000000"/>
              </a:solidFill>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3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SEISMOLOGY · DEEP DIVE</a:t>
            </a:r>
            <a:endParaRPr lang="en-US" sz="1300" b="0" strike="noStrike" spc="-1">
              <a:solidFill>
                <a:srgbClr val="000000"/>
              </a:solidFill>
              <a:latin typeface="Arial"/>
            </a:endParaRPr>
          </a:p>
        </p:txBody>
      </p:sp>
      <p:sp>
        <p:nvSpPr>
          <p:cNvPr id="93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Why finding the zones isn't enough</a:t>
            </a:r>
            <a:endParaRPr lang="en-US" sz="3000" b="0" strike="noStrike" spc="-1">
              <a:solidFill>
                <a:srgbClr val="000000"/>
              </a:solidFill>
              <a:latin typeface="Arial"/>
            </a:endParaRPr>
          </a:p>
        </p:txBody>
      </p:sp>
      <p:pic>
        <p:nvPicPr>
          <p:cNvPr id="940" name="Image 0" descr="figs/full_11.png"/>
          <p:cNvPicPr/>
          <p:nvPr/>
        </p:nvPicPr>
        <p:blipFill>
          <a:blip r:embed="rId3"/>
          <a:stretch/>
        </p:blipFill>
        <p:spPr>
          <a:xfrm>
            <a:off x="548640" y="2050920"/>
            <a:ext cx="11063880" cy="2847240"/>
          </a:xfrm>
          <a:prstGeom prst="rect">
            <a:avLst/>
          </a:prstGeom>
          <a:ln w="0">
            <a:noFill/>
          </a:ln>
        </p:spPr>
      </p:pic>
      <p:sp>
        <p:nvSpPr>
          <p:cNvPr id="94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Target concentration: even within the active zones, most cell-windows are negative. Knowing where quakes cluster gets you a high AUC but leaves most of the information-gain on the table.</a:t>
            </a:r>
            <a:endParaRPr lang="en-US" sz="1100" b="0" strike="noStrike" spc="-1">
              <a:solidFill>
                <a:srgbClr val="000000"/>
              </a:solidFill>
              <a:latin typeface="Arial"/>
            </a:endParaRPr>
          </a:p>
        </p:txBody>
      </p:sp>
      <p:sp>
        <p:nvSpPr>
          <p:cNvPr id="94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4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4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Beating climatology requires more than a map of the active zones — it requires knowing when a given zone is elevated. That temporal signal is where ETAS and good features earn their keep.</a:t>
            </a:r>
            <a:endParaRPr lang="en-US" sz="1350" b="0" strike="noStrike" spc="-1">
              <a:solidFill>
                <a:srgbClr val="000000"/>
              </a:solidFill>
              <a:latin typeface="Arial"/>
            </a:endParaRPr>
          </a:p>
        </p:txBody>
      </p:sp>
      <p:sp>
        <p:nvSpPr>
          <p:cNvPr id="94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94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94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73</a:t>
            </a:r>
            <a:endParaRPr lang="en-US" sz="1000" b="0" strike="noStrike" spc="-1">
              <a:solidFill>
                <a:srgbClr val="000000"/>
              </a:solidFill>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4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MODELING · DEEP DIVE</a:t>
            </a:r>
            <a:endParaRPr lang="en-US" sz="1300" b="0" strike="noStrike" spc="-1">
              <a:solidFill>
                <a:srgbClr val="000000"/>
              </a:solidFill>
              <a:latin typeface="Arial"/>
            </a:endParaRPr>
          </a:p>
        </p:txBody>
      </p:sp>
      <p:sp>
        <p:nvSpPr>
          <p:cNvPr id="94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Classical models, head to head</a:t>
            </a:r>
            <a:endParaRPr lang="en-US" sz="3000" b="0" strike="noStrike" spc="-1">
              <a:solidFill>
                <a:srgbClr val="000000"/>
              </a:solidFill>
              <a:latin typeface="Arial"/>
            </a:endParaRPr>
          </a:p>
        </p:txBody>
      </p:sp>
      <p:pic>
        <p:nvPicPr>
          <p:cNvPr id="950" name="Image 0" descr="figs/full_13.png"/>
          <p:cNvPicPr/>
          <p:nvPr/>
        </p:nvPicPr>
        <p:blipFill>
          <a:blip r:embed="rId3"/>
          <a:stretch/>
        </p:blipFill>
        <p:spPr>
          <a:xfrm>
            <a:off x="3755880" y="1645920"/>
            <a:ext cx="4649760" cy="3657240"/>
          </a:xfrm>
          <a:prstGeom prst="rect">
            <a:avLst/>
          </a:prstGeom>
          <a:ln w="0">
            <a:noFill/>
          </a:ln>
        </p:spPr>
      </p:pic>
      <p:sp>
        <p:nvSpPr>
          <p:cNvPr id="95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Information gain for each classical model across train, calibration, and test. Gradient-boosted trees (LightGBM, XGBoost) lead; the gap between train and test exposes each model's overfitting.</a:t>
            </a:r>
            <a:endParaRPr lang="en-US" sz="1100" b="0" strike="noStrike" spc="-1">
              <a:solidFill>
                <a:srgbClr val="000000"/>
              </a:solidFill>
              <a:latin typeface="Arial"/>
            </a:endParaRPr>
          </a:p>
        </p:txBody>
      </p:sp>
      <p:sp>
        <p:nvSpPr>
          <p:cNvPr id="95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5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5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Boosted trees are the workhorse for tabular forecasting. But read the train-to-test gap, not just the test number — a model that overfits train is telling you how it will behave on the blind set.</a:t>
            </a:r>
            <a:endParaRPr lang="en-US" sz="1350" b="0" strike="noStrike" spc="-1">
              <a:solidFill>
                <a:srgbClr val="000000"/>
              </a:solidFill>
              <a:latin typeface="Arial"/>
            </a:endParaRPr>
          </a:p>
        </p:txBody>
      </p:sp>
      <p:sp>
        <p:nvSpPr>
          <p:cNvPr id="95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95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95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74</a:t>
            </a:r>
            <a:endParaRPr lang="en-US" sz="1000" b="0" strike="noStrike" spc="-1">
              <a:solidFill>
                <a:srgbClr val="000000"/>
              </a:solidFill>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5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MODELING · DEEP DIVE</a:t>
            </a:r>
            <a:endParaRPr lang="en-US" sz="1300" b="0" strike="noStrike" spc="-1">
              <a:solidFill>
                <a:srgbClr val="000000"/>
              </a:solidFill>
              <a:latin typeface="Arial"/>
            </a:endParaRPr>
          </a:p>
        </p:txBody>
      </p:sp>
      <p:sp>
        <p:nvSpPr>
          <p:cNvPr id="95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Every method on one axis</a:t>
            </a:r>
            <a:endParaRPr lang="en-US" sz="3000" b="0" strike="noStrike" spc="-1">
              <a:solidFill>
                <a:srgbClr val="000000"/>
              </a:solidFill>
              <a:latin typeface="Arial"/>
            </a:endParaRPr>
          </a:p>
        </p:txBody>
      </p:sp>
      <p:pic>
        <p:nvPicPr>
          <p:cNvPr id="960" name="Image 0" descr="figs/full_16.png"/>
          <p:cNvPicPr/>
          <p:nvPr/>
        </p:nvPicPr>
        <p:blipFill>
          <a:blip r:embed="rId3"/>
          <a:stretch/>
        </p:blipFill>
        <p:spPr>
          <a:xfrm>
            <a:off x="2965320" y="1645920"/>
            <a:ext cx="6230160" cy="3657240"/>
          </a:xfrm>
          <a:prstGeom prst="rect">
            <a:avLst/>
          </a:prstGeom>
          <a:ln w="0">
            <a:noFill/>
          </a:ln>
        </p:spPr>
      </p:pic>
      <p:sp>
        <p:nvSpPr>
          <p:cNvPr id="96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All models — classical, quantum, hybrid, and physics — on the test set. Color-coded by family. The physics and best-classical models cluster at the top; quantum-only models trail.</a:t>
            </a:r>
            <a:endParaRPr lang="en-US" sz="1100" b="0" strike="noStrike" spc="-1">
              <a:solidFill>
                <a:srgbClr val="000000"/>
              </a:solidFill>
              <a:latin typeface="Arial"/>
            </a:endParaRPr>
          </a:p>
        </p:txBody>
      </p:sp>
      <p:sp>
        <p:nvSpPr>
          <p:cNvPr id="96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6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6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Put every approach on one honest axis. When the quantum-only models sit visibly below the classical and physics models, that is data, not opinion — and it is the result you should report.</a:t>
            </a:r>
            <a:endParaRPr lang="en-US" sz="1350" b="0" strike="noStrike" spc="-1">
              <a:solidFill>
                <a:srgbClr val="000000"/>
              </a:solidFill>
              <a:latin typeface="Arial"/>
            </a:endParaRPr>
          </a:p>
        </p:txBody>
      </p:sp>
      <p:sp>
        <p:nvSpPr>
          <p:cNvPr id="96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96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96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75</a:t>
            </a:r>
            <a:endParaRPr lang="en-US" sz="1000" b="0" strike="noStrike" spc="-1">
              <a:solidFill>
                <a:srgbClr val="000000"/>
              </a:solidFill>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6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MODELING · DEEP DIVE</a:t>
            </a:r>
            <a:endParaRPr lang="en-US" sz="1300" b="0" strike="noStrike" spc="-1">
              <a:solidFill>
                <a:srgbClr val="000000"/>
              </a:solidFill>
              <a:latin typeface="Arial"/>
            </a:endParaRPr>
          </a:p>
        </p:txBody>
      </p:sp>
      <p:sp>
        <p:nvSpPr>
          <p:cNvPr id="96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The blind-window scorecard</a:t>
            </a:r>
            <a:endParaRPr lang="en-US" sz="3000" b="0" strike="noStrike" spc="-1">
              <a:solidFill>
                <a:srgbClr val="000000"/>
              </a:solidFill>
              <a:latin typeface="Arial"/>
            </a:endParaRPr>
          </a:p>
        </p:txBody>
      </p:sp>
      <p:pic>
        <p:nvPicPr>
          <p:cNvPr id="970" name="Image 0" descr="figs/full_18.png"/>
          <p:cNvPicPr/>
          <p:nvPr/>
        </p:nvPicPr>
        <p:blipFill>
          <a:blip r:embed="rId3"/>
          <a:stretch/>
        </p:blipFill>
        <p:spPr>
          <a:xfrm>
            <a:off x="4059360" y="1645920"/>
            <a:ext cx="4042440" cy="3657240"/>
          </a:xfrm>
          <a:prstGeom prst="rect">
            <a:avLst/>
          </a:prstGeom>
          <a:ln w="0">
            <a:noFill/>
          </a:ln>
        </p:spPr>
      </p:pic>
      <p:sp>
        <p:nvSpPr>
          <p:cNvPr id="97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Heatmap of every model against every metric on the sealed judge window (calibration error inverted so green is always better). The top rows are physics and physics-informed ML; they win on nearly every metric at once.</a:t>
            </a:r>
            <a:endParaRPr lang="en-US" sz="1100" b="0" strike="noStrike" spc="-1">
              <a:solidFill>
                <a:srgbClr val="000000"/>
              </a:solidFill>
              <a:latin typeface="Arial"/>
            </a:endParaRPr>
          </a:p>
        </p:txBody>
      </p:sp>
      <p:sp>
        <p:nvSpPr>
          <p:cNvPr id="97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7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7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A single metric can be gamed; a full scorecard cannot. When one row is green across the board, you can trust it — and here the green rows are built on physics.</a:t>
            </a:r>
            <a:endParaRPr lang="en-US" sz="1350" b="0" strike="noStrike" spc="-1">
              <a:solidFill>
                <a:srgbClr val="000000"/>
              </a:solidFill>
              <a:latin typeface="Arial"/>
            </a:endParaRPr>
          </a:p>
        </p:txBody>
      </p:sp>
      <p:sp>
        <p:nvSpPr>
          <p:cNvPr id="97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97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97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76</a:t>
            </a:r>
            <a:endParaRPr lang="en-US" sz="1000" b="0" strike="noStrike" spc="-1">
              <a:solidFill>
                <a:srgbClr val="000000"/>
              </a:solidFill>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7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VALIDATION · DEEP DIVE</a:t>
            </a:r>
            <a:endParaRPr lang="en-US" sz="1300" b="0" strike="noStrike" spc="-1">
              <a:solidFill>
                <a:srgbClr val="000000"/>
              </a:solidFill>
              <a:latin typeface="Arial"/>
            </a:endParaRPr>
          </a:p>
        </p:txBody>
      </p:sp>
      <p:sp>
        <p:nvSpPr>
          <p:cNvPr id="97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ROC and precision–recall, blind window</a:t>
            </a:r>
            <a:endParaRPr lang="en-US" sz="3000" b="0" strike="noStrike" spc="-1">
              <a:solidFill>
                <a:srgbClr val="000000"/>
              </a:solidFill>
              <a:latin typeface="Arial"/>
            </a:endParaRPr>
          </a:p>
        </p:txBody>
      </p:sp>
      <p:pic>
        <p:nvPicPr>
          <p:cNvPr id="980" name="Image 0" descr="figs/full_20.png"/>
          <p:cNvPicPr/>
          <p:nvPr/>
        </p:nvPicPr>
        <p:blipFill>
          <a:blip r:embed="rId3"/>
          <a:stretch/>
        </p:blipFill>
        <p:spPr>
          <a:xfrm>
            <a:off x="548640" y="1750680"/>
            <a:ext cx="11063880" cy="3447720"/>
          </a:xfrm>
          <a:prstGeom prst="rect">
            <a:avLst/>
          </a:prstGeom>
          <a:ln w="0">
            <a:noFill/>
          </a:ln>
        </p:spPr>
      </p:pic>
      <p:sp>
        <p:nvSpPr>
          <p:cNvPr id="98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ROC and precision–recall curves on the blind window. PR is the more honest view for a rare target: the base rate is ~9.5%, so the precision axis starts low and every gain is hard-won.</a:t>
            </a:r>
            <a:endParaRPr lang="en-US" sz="1100" b="0" strike="noStrike" spc="-1">
              <a:solidFill>
                <a:srgbClr val="000000"/>
              </a:solidFill>
              <a:latin typeface="Arial"/>
            </a:endParaRPr>
          </a:p>
        </p:txBody>
      </p:sp>
      <p:sp>
        <p:nvSpPr>
          <p:cNvPr id="98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8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8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For rare events, precision–recall tells you more than ROC. A model can look great on ROC and still flood an operator with false alarms — PR is where that shows up.</a:t>
            </a:r>
            <a:endParaRPr lang="en-US" sz="1350" b="0" strike="noStrike" spc="-1">
              <a:solidFill>
                <a:srgbClr val="000000"/>
              </a:solidFill>
              <a:latin typeface="Arial"/>
            </a:endParaRPr>
          </a:p>
        </p:txBody>
      </p:sp>
      <p:sp>
        <p:nvSpPr>
          <p:cNvPr id="98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98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98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77</a:t>
            </a:r>
            <a:endParaRPr lang="en-US" sz="1000" b="0" strike="noStrike" spc="-1">
              <a:solidFill>
                <a:srgbClr val="000000"/>
              </a:solidFill>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8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VALIDATION · DEEP DIVE</a:t>
            </a:r>
            <a:endParaRPr lang="en-US" sz="1300" b="0" strike="noStrike" spc="-1">
              <a:solidFill>
                <a:srgbClr val="000000"/>
              </a:solidFill>
              <a:latin typeface="Arial"/>
            </a:endParaRPr>
          </a:p>
        </p:txBody>
      </p:sp>
      <p:sp>
        <p:nvSpPr>
          <p:cNvPr id="98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AUC as an area, overlaid</a:t>
            </a:r>
            <a:endParaRPr lang="en-US" sz="3000" b="0" strike="noStrike" spc="-1">
              <a:solidFill>
                <a:srgbClr val="000000"/>
              </a:solidFill>
              <a:latin typeface="Arial"/>
            </a:endParaRPr>
          </a:p>
        </p:txBody>
      </p:sp>
      <p:pic>
        <p:nvPicPr>
          <p:cNvPr id="990" name="Image 0" descr="figs/full_29.png"/>
          <p:cNvPicPr/>
          <p:nvPr/>
        </p:nvPicPr>
        <p:blipFill>
          <a:blip r:embed="rId3"/>
          <a:stretch/>
        </p:blipFill>
        <p:spPr>
          <a:xfrm>
            <a:off x="1681920" y="1645920"/>
            <a:ext cx="8797320" cy="3657240"/>
          </a:xfrm>
          <a:prstGeom prst="rect">
            <a:avLst/>
          </a:prstGeom>
          <a:ln w="0">
            <a:noFill/>
          </a:ln>
        </p:spPr>
      </p:pic>
      <p:sp>
        <p:nvSpPr>
          <p:cNvPr id="99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Each model's ROC area drawn over the reference's shaded area. The lift a challenger must earn is the sliver of extra area above the reference — and on this problem that sliver is thin.</a:t>
            </a:r>
            <a:endParaRPr lang="en-US" sz="1100" b="0" strike="noStrike" spc="-1">
              <a:solidFill>
                <a:srgbClr val="000000"/>
              </a:solidFill>
              <a:latin typeface="Arial"/>
            </a:endParaRPr>
          </a:p>
        </p:txBody>
      </p:sp>
      <p:sp>
        <p:nvSpPr>
          <p:cNvPr id="99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9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9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This is the single most honest picture in the deck: the 'better' models add only a sliver of area over a five-parameter physics baseline. See it, and the parity result is undeniable.</a:t>
            </a:r>
            <a:endParaRPr lang="en-US" sz="1350" b="0" strike="noStrike" spc="-1">
              <a:solidFill>
                <a:srgbClr val="000000"/>
              </a:solidFill>
              <a:latin typeface="Arial"/>
            </a:endParaRPr>
          </a:p>
        </p:txBody>
      </p:sp>
      <p:sp>
        <p:nvSpPr>
          <p:cNvPr id="99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99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99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78</a:t>
            </a:r>
            <a:endParaRPr lang="en-US" sz="1000" b="0" strike="noStrike" spc="-1">
              <a:solidFill>
                <a:srgbClr val="000000"/>
              </a:solidFill>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9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VALIDATION · DEEP DIVE</a:t>
            </a:r>
            <a:endParaRPr lang="en-US" sz="1300" b="0" strike="noStrike" spc="-1">
              <a:solidFill>
                <a:srgbClr val="000000"/>
              </a:solidFill>
              <a:latin typeface="Arial"/>
            </a:endParaRPr>
          </a:p>
        </p:txBody>
      </p:sp>
      <p:sp>
        <p:nvSpPr>
          <p:cNvPr id="99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Does skill survive to window 15?</a:t>
            </a:r>
            <a:endParaRPr lang="en-US" sz="3000" b="0" strike="noStrike" spc="-1">
              <a:solidFill>
                <a:srgbClr val="000000"/>
              </a:solidFill>
              <a:latin typeface="Arial"/>
            </a:endParaRPr>
          </a:p>
        </p:txBody>
      </p:sp>
      <p:pic>
        <p:nvPicPr>
          <p:cNvPr id="1000" name="Image 0" descr="figs/full_30.png"/>
          <p:cNvPicPr/>
          <p:nvPr/>
        </p:nvPicPr>
        <p:blipFill>
          <a:blip r:embed="rId3"/>
          <a:stretch/>
        </p:blipFill>
        <p:spPr>
          <a:xfrm>
            <a:off x="992160" y="1645920"/>
            <a:ext cx="10176480" cy="3657240"/>
          </a:xfrm>
          <a:prstGeom prst="rect">
            <a:avLst/>
          </a:prstGeom>
          <a:ln w="0">
            <a:noFill/>
          </a:ln>
        </p:spPr>
      </p:pic>
      <p:sp>
        <p:nvSpPr>
          <p:cNvPr id="100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AUC drawn as an area for early, middle, and late lead windows. If the shaded area shrank sharply with lead time, the forecast would be riding only on recent memory; here it holds up reasonably across the horizon.</a:t>
            </a:r>
            <a:endParaRPr lang="en-US" sz="1100" b="0" strike="noStrike" spc="-1">
              <a:solidFill>
                <a:srgbClr val="000000"/>
              </a:solidFill>
              <a:latin typeface="Arial"/>
            </a:endParaRPr>
          </a:p>
        </p:txBody>
      </p:sp>
      <p:sp>
        <p:nvSpPr>
          <p:cNvPr id="100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0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0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Skill that survives 15 months out is a genuinely time-dependent forecast, not a snapshot of last month. Slicing the result by lead window is how you prove it.</a:t>
            </a:r>
            <a:endParaRPr lang="en-US" sz="1350" b="0" strike="noStrike" spc="-1">
              <a:solidFill>
                <a:srgbClr val="000000"/>
              </a:solidFill>
              <a:latin typeface="Arial"/>
            </a:endParaRPr>
          </a:p>
        </p:txBody>
      </p:sp>
      <p:sp>
        <p:nvSpPr>
          <p:cNvPr id="100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00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00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79</a:t>
            </a:r>
            <a:endParaRPr lang="en-US" sz="1000" b="0" strike="noStrike" spc="-1">
              <a:solidFill>
                <a:srgbClr val="000000"/>
              </a:solidFill>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00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INTERPRETATION · DEEP DIVE</a:t>
            </a:r>
            <a:endParaRPr lang="en-US" sz="1300" b="0" strike="noStrike" spc="-1">
              <a:solidFill>
                <a:srgbClr val="000000"/>
              </a:solidFill>
              <a:latin typeface="Arial"/>
            </a:endParaRPr>
          </a:p>
        </p:txBody>
      </p:sp>
      <p:sp>
        <p:nvSpPr>
          <p:cNvPr id="100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Where the predictive signal lives</a:t>
            </a:r>
            <a:endParaRPr lang="en-US" sz="3000" b="0" strike="noStrike" spc="-1">
              <a:solidFill>
                <a:srgbClr val="000000"/>
              </a:solidFill>
              <a:latin typeface="Arial"/>
            </a:endParaRPr>
          </a:p>
        </p:txBody>
      </p:sp>
      <p:pic>
        <p:nvPicPr>
          <p:cNvPr id="1010" name="Image 0" descr="figs/full_24.png"/>
          <p:cNvPicPr/>
          <p:nvPr/>
        </p:nvPicPr>
        <p:blipFill>
          <a:blip r:embed="rId3"/>
          <a:stretch/>
        </p:blipFill>
        <p:spPr>
          <a:xfrm>
            <a:off x="3010680" y="1645920"/>
            <a:ext cx="6140160" cy="3657240"/>
          </a:xfrm>
          <a:prstGeom prst="rect">
            <a:avLst/>
          </a:prstGeom>
          <a:ln w="0">
            <a:noFill/>
          </a:ln>
        </p:spPr>
      </p:pic>
      <p:sp>
        <p:nvSpPr>
          <p:cNvPr id="101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Feature importance grouped by source. The seismic catalog and its derived quantum features dominate; geomagnetic, solar, tidal, and GPS streams contribute little.</a:t>
            </a:r>
            <a:endParaRPr lang="en-US" sz="1100" b="0" strike="noStrike" spc="-1">
              <a:solidFill>
                <a:srgbClr val="000000"/>
              </a:solidFill>
              <a:latin typeface="Arial"/>
            </a:endParaRPr>
          </a:p>
        </p:txBody>
      </p:sp>
      <p:sp>
        <p:nvSpPr>
          <p:cNvPr id="101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1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1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The catalog carries the signal. The other four streams are honest near-nulls — a finding to report, not a failure to hide. Importance here still needs the value audit from Module 4.</a:t>
            </a:r>
            <a:endParaRPr lang="en-US" sz="1350" b="0" strike="noStrike" spc="-1">
              <a:solidFill>
                <a:srgbClr val="000000"/>
              </a:solidFill>
              <a:latin typeface="Arial"/>
            </a:endParaRPr>
          </a:p>
        </p:txBody>
      </p:sp>
      <p:sp>
        <p:nvSpPr>
          <p:cNvPr id="101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01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01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80</a:t>
            </a:r>
            <a:endParaRPr lang="en-US" sz="1000" b="0" strike="noStrike" spc="-1">
              <a:solidFill>
                <a:srgbClr val="000000"/>
              </a:solidFill>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01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INTERPRETATION · DEEP DIVE</a:t>
            </a:r>
            <a:endParaRPr lang="en-US" sz="1300" b="0" strike="noStrike" spc="-1">
              <a:solidFill>
                <a:srgbClr val="000000"/>
              </a:solidFill>
              <a:latin typeface="Arial"/>
            </a:endParaRPr>
          </a:p>
        </p:txBody>
      </p:sp>
      <p:sp>
        <p:nvSpPr>
          <p:cNvPr id="101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The source-ablation ladder</a:t>
            </a:r>
            <a:endParaRPr lang="en-US" sz="3000" b="0" strike="noStrike" spc="-1">
              <a:solidFill>
                <a:srgbClr val="000000"/>
              </a:solidFill>
              <a:latin typeface="Arial"/>
            </a:endParaRPr>
          </a:p>
        </p:txBody>
      </p:sp>
      <p:pic>
        <p:nvPicPr>
          <p:cNvPr id="1020" name="Image 0" descr="figs/full_25.png"/>
          <p:cNvPicPr/>
          <p:nvPr/>
        </p:nvPicPr>
        <p:blipFill>
          <a:blip r:embed="rId3"/>
          <a:stretch/>
        </p:blipFill>
        <p:spPr>
          <a:xfrm>
            <a:off x="1903680" y="1645920"/>
            <a:ext cx="8354160" cy="3657240"/>
          </a:xfrm>
          <a:prstGeom prst="rect">
            <a:avLst/>
          </a:prstGeom>
          <a:ln w="0">
            <a:noFill/>
          </a:ln>
        </p:spPr>
      </p:pic>
      <p:sp>
        <p:nvSpPr>
          <p:cNvPr id="102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Marginal blind-window value of each raw stream, added one at a time to the same learner. Geomagnetic, solar, tidal, and GPS each move the score by hundredths of a bit or less — sometimes negative.</a:t>
            </a:r>
            <a:endParaRPr lang="en-US" sz="1100" b="0" strike="noStrike" spc="-1">
              <a:solidFill>
                <a:srgbClr val="000000"/>
              </a:solidFill>
              <a:latin typeface="Arial"/>
            </a:endParaRPr>
          </a:p>
        </p:txBody>
      </p:sp>
      <p:sp>
        <p:nvSpPr>
          <p:cNvPr id="102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2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2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Ablation is how you separate 'the model used it' from 'it actually helped'. Adding a stream that moves blind IG by −0.004 bits is evidence it should be dropped, not celebrated.</a:t>
            </a:r>
            <a:endParaRPr lang="en-US" sz="1350" b="0" strike="noStrike" spc="-1">
              <a:solidFill>
                <a:srgbClr val="000000"/>
              </a:solidFill>
              <a:latin typeface="Arial"/>
            </a:endParaRPr>
          </a:p>
        </p:txBody>
      </p:sp>
      <p:sp>
        <p:nvSpPr>
          <p:cNvPr id="102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02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02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81</a:t>
            </a:r>
            <a:endParaRPr lang="en-US" sz="1000" b="0" strike="noStrike" spc="-1">
              <a:solidFill>
                <a:srgbClr val="000000"/>
              </a:solidFill>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02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THE CONTROL · DEEP DIVE</a:t>
            </a:r>
            <a:endParaRPr lang="en-US" sz="1300" b="0" strike="noStrike" spc="-1">
              <a:solidFill>
                <a:srgbClr val="000000"/>
              </a:solidFill>
              <a:latin typeface="Arial"/>
            </a:endParaRPr>
          </a:p>
        </p:txBody>
      </p:sp>
      <p:sp>
        <p:nvSpPr>
          <p:cNvPr id="102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The full value table</a:t>
            </a:r>
            <a:endParaRPr lang="en-US" sz="3000" b="0" strike="noStrike" spc="-1">
              <a:solidFill>
                <a:srgbClr val="000000"/>
              </a:solidFill>
              <a:latin typeface="Arial"/>
            </a:endParaRPr>
          </a:p>
        </p:txBody>
      </p:sp>
      <p:pic>
        <p:nvPicPr>
          <p:cNvPr id="1030" name="Image 0" descr="figs/full_46.png"/>
          <p:cNvPicPr/>
          <p:nvPr/>
        </p:nvPicPr>
        <p:blipFill>
          <a:blip r:embed="rId3"/>
          <a:stretch/>
        </p:blipFill>
        <p:spPr>
          <a:xfrm>
            <a:off x="1681200" y="1645920"/>
            <a:ext cx="8799120" cy="3657240"/>
          </a:xfrm>
          <a:prstGeom prst="rect">
            <a:avLst/>
          </a:prstGeom>
          <a:ln w="0">
            <a:noFill/>
          </a:ln>
        </p:spPr>
      </p:pic>
      <p:sp>
        <p:nvSpPr>
          <p:cNvPr id="103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The bottom line, as a table: climatology → naive raw-data model → feature-engineered model → physics → reference. Each step's marginal gain in bits is spelled out.</a:t>
            </a:r>
            <a:endParaRPr lang="en-US" sz="1100" b="0" strike="noStrike" spc="-1">
              <a:solidFill>
                <a:srgbClr val="000000"/>
              </a:solidFill>
              <a:latin typeface="Arial"/>
            </a:endParaRPr>
          </a:p>
        </p:txBody>
      </p:sp>
      <p:sp>
        <p:nvSpPr>
          <p:cNvPr id="103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3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3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This one table is the entire challenge quantified. Print it, tape it above your desk, and remember: the biggest single jump is from nothing to a spatial prior — everything after is the hard-won margin.</a:t>
            </a:r>
            <a:endParaRPr lang="en-US" sz="1350" b="0" strike="noStrike" spc="-1">
              <a:solidFill>
                <a:srgbClr val="000000"/>
              </a:solidFill>
              <a:latin typeface="Arial"/>
            </a:endParaRPr>
          </a:p>
        </p:txBody>
      </p:sp>
      <p:sp>
        <p:nvSpPr>
          <p:cNvPr id="103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03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03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82</a:t>
            </a:r>
            <a:endParaRPr lang="en-US" sz="1000" b="0" strike="noStrike" spc="-1">
              <a:solidFill>
                <a:srgbClr val="000000"/>
              </a:solidFill>
              <a:latin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03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1F6FB2"/>
                </a:solidFill>
                <a:latin typeface="Calibri"/>
                <a:ea typeface="Calibri"/>
              </a:rPr>
              <a:t>THE CONTROL · DEEP DIVE</a:t>
            </a:r>
            <a:endParaRPr lang="en-US" sz="1300" b="0" strike="noStrike" spc="-1">
              <a:solidFill>
                <a:srgbClr val="000000"/>
              </a:solidFill>
              <a:latin typeface="Arial"/>
            </a:endParaRPr>
          </a:p>
        </p:txBody>
      </p:sp>
      <p:sp>
        <p:nvSpPr>
          <p:cNvPr id="103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The naive model suite</a:t>
            </a:r>
            <a:endParaRPr lang="en-US" sz="3000" b="0" strike="noStrike" spc="-1">
              <a:solidFill>
                <a:srgbClr val="000000"/>
              </a:solidFill>
              <a:latin typeface="Arial"/>
            </a:endParaRPr>
          </a:p>
        </p:txBody>
      </p:sp>
      <p:pic>
        <p:nvPicPr>
          <p:cNvPr id="1040" name="Image 0" descr="figs/full_45.png"/>
          <p:cNvPicPr/>
          <p:nvPr/>
        </p:nvPicPr>
        <p:blipFill>
          <a:blip r:embed="rId3"/>
          <a:stretch/>
        </p:blipFill>
        <p:spPr>
          <a:xfrm>
            <a:off x="3403800" y="1645920"/>
            <a:ext cx="5353560" cy="3657240"/>
          </a:xfrm>
          <a:prstGeom prst="rect">
            <a:avLst/>
          </a:prstGeom>
          <a:ln w="0">
            <a:noFill/>
          </a:ln>
        </p:spPr>
      </p:pic>
      <p:sp>
        <p:nvSpPr>
          <p:cNvPr id="104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The full model suite on raw L4 inputs — no feature engineering. Boosted trees still lead; a logistic regression on raw numbers scores catastrophically negative, a reminder that the wrong model on raw data is worse than useless.</a:t>
            </a:r>
            <a:endParaRPr lang="en-US" sz="1100" b="0" strike="noStrike" spc="-1">
              <a:solidFill>
                <a:srgbClr val="000000"/>
              </a:solidFill>
              <a:latin typeface="Arial"/>
            </a:endParaRPr>
          </a:p>
        </p:txBody>
      </p:sp>
      <p:sp>
        <p:nvSpPr>
          <p:cNvPr id="104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4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4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Even in the no-engineering control, model choice matters enormously. The same raw data yields +0.12 bits (boosted trees) or −1.3 bits (naive logistic) depending only on the learner.</a:t>
            </a:r>
            <a:endParaRPr lang="en-US" sz="1350" b="0" strike="noStrike" spc="-1">
              <a:solidFill>
                <a:srgbClr val="000000"/>
              </a:solidFill>
              <a:latin typeface="Arial"/>
            </a:endParaRPr>
          </a:p>
        </p:txBody>
      </p:sp>
      <p:sp>
        <p:nvSpPr>
          <p:cNvPr id="104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04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04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83</a:t>
            </a:r>
            <a:endParaRPr lang="en-US" sz="1000" b="0" strike="noStrike" spc="-1">
              <a:solidFill>
                <a:srgbClr val="000000"/>
              </a:solidFill>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04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DEPLOYMENT · DEEP DIVE</a:t>
            </a:r>
            <a:endParaRPr lang="en-US" sz="1300" b="0" strike="noStrike" spc="-1">
              <a:solidFill>
                <a:srgbClr val="000000"/>
              </a:solidFill>
              <a:latin typeface="Arial"/>
            </a:endParaRPr>
          </a:p>
        </p:txBody>
      </p:sp>
      <p:sp>
        <p:nvSpPr>
          <p:cNvPr id="104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The forecast as a map</a:t>
            </a:r>
            <a:endParaRPr lang="en-US" sz="3000" b="0" strike="noStrike" spc="-1">
              <a:solidFill>
                <a:srgbClr val="000000"/>
              </a:solidFill>
              <a:latin typeface="Arial"/>
            </a:endParaRPr>
          </a:p>
        </p:txBody>
      </p:sp>
      <p:pic>
        <p:nvPicPr>
          <p:cNvPr id="1050" name="Image 0" descr="figs/full_23.png"/>
          <p:cNvPicPr/>
          <p:nvPr/>
        </p:nvPicPr>
        <p:blipFill>
          <a:blip r:embed="rId3"/>
          <a:stretch/>
        </p:blipFill>
        <p:spPr>
          <a:xfrm>
            <a:off x="548640" y="1975680"/>
            <a:ext cx="11063880" cy="2998080"/>
          </a:xfrm>
          <a:prstGeom prst="rect">
            <a:avLst/>
          </a:prstGeom>
          <a:ln w="0">
            <a:noFill/>
          </a:ln>
        </p:spPr>
      </p:pic>
      <p:sp>
        <p:nvSpPr>
          <p:cNvPr id="1051"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The reference forecast rendered as a probability map for the first window. This is the artifact an emergency manager actually consumes — a calibrated risk surface, not a leaderboard row.</a:t>
            </a:r>
            <a:endParaRPr lang="en-US" sz="1100" b="0" strike="noStrike" spc="-1">
              <a:solidFill>
                <a:srgbClr val="000000"/>
              </a:solidFill>
              <a:latin typeface="Arial"/>
            </a:endParaRPr>
          </a:p>
        </p:txBody>
      </p:sp>
      <p:sp>
        <p:nvSpPr>
          <p:cNvPr id="1052"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53"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54"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The end product of all this machinery is a map someone can act on. Never lose sight of that: the metrics serve the forecast, not the other way around.</a:t>
            </a:r>
            <a:endParaRPr lang="en-US" sz="1350" b="0" strike="noStrike" spc="-1">
              <a:solidFill>
                <a:srgbClr val="000000"/>
              </a:solidFill>
              <a:latin typeface="Arial"/>
            </a:endParaRPr>
          </a:p>
        </p:txBody>
      </p:sp>
      <p:sp>
        <p:nvSpPr>
          <p:cNvPr id="1055"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056"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057"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84</a:t>
            </a:r>
            <a:endParaRPr lang="en-US" sz="1000" b="0" strike="noStrike" spc="-1">
              <a:solidFill>
                <a:srgbClr val="000000"/>
              </a:solidFill>
              <a:latin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058" name="Shape 0"/>
          <p:cNvSpPr/>
          <p:nvPr/>
        </p:nvSpPr>
        <p:spPr>
          <a:xfrm>
            <a:off x="548640" y="457200"/>
            <a:ext cx="11091240" cy="822600"/>
          </a:xfrm>
          <a:prstGeom prst="roundRect">
            <a:avLst>
              <a:gd name="adj" fmla="val 6667"/>
            </a:avLst>
          </a:prstGeom>
          <a:solidFill>
            <a:srgbClr val="2A201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59" name="Text 1"/>
          <p:cNvSpPr/>
          <p:nvPr/>
        </p:nvSpPr>
        <p:spPr>
          <a:xfrm>
            <a:off x="822960" y="53028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TRY IT YOURSELF · Capstone</a:t>
            </a:r>
            <a:endParaRPr lang="en-US" sz="1300" b="0" strike="noStrike" spc="-1">
              <a:solidFill>
                <a:srgbClr val="000000"/>
              </a:solidFill>
              <a:latin typeface="Arial"/>
            </a:endParaRPr>
          </a:p>
        </p:txBody>
      </p:sp>
      <p:sp>
        <p:nvSpPr>
          <p:cNvPr id="1060" name="Text 2"/>
          <p:cNvSpPr/>
          <p:nvPr/>
        </p:nvSpPr>
        <p:spPr>
          <a:xfrm>
            <a:off x="822960" y="786240"/>
            <a:ext cx="104238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Put it all together</a:t>
            </a:r>
            <a:endParaRPr lang="en-US" sz="2200" b="0" strike="noStrike" spc="-1">
              <a:solidFill>
                <a:srgbClr val="000000"/>
              </a:solidFill>
              <a:latin typeface="Arial"/>
            </a:endParaRPr>
          </a:p>
        </p:txBody>
      </p:sp>
      <p:sp>
        <p:nvSpPr>
          <p:cNvPr id="1061" name="Shape 3"/>
          <p:cNvSpPr/>
          <p:nvPr/>
        </p:nvSpPr>
        <p:spPr>
          <a:xfrm>
            <a:off x="548640" y="1508760"/>
            <a:ext cx="11091240" cy="2742840"/>
          </a:xfrm>
          <a:prstGeom prst="roundRect">
            <a:avLst>
              <a:gd name="adj" fmla="val 2667"/>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62" name="Text 4"/>
          <p:cNvSpPr/>
          <p:nvPr/>
        </p:nvSpPr>
        <p:spPr>
          <a:xfrm>
            <a:off x="822960" y="16642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0392B"/>
                </a:solidFill>
                <a:latin typeface="Calibri"/>
                <a:ea typeface="Calibri"/>
              </a:rPr>
              <a:t>The task</a:t>
            </a:r>
            <a:endParaRPr lang="en-US" sz="1300" b="0" strike="noStrike" spc="-1">
              <a:solidFill>
                <a:srgbClr val="000000"/>
              </a:solidFill>
              <a:latin typeface="Arial"/>
            </a:endParaRPr>
          </a:p>
        </p:txBody>
      </p:sp>
      <p:sp>
        <p:nvSpPr>
          <p:cNvPr id="1063" name="Text 5"/>
          <p:cNvSpPr/>
          <p:nvPr/>
        </p:nvSpPr>
        <p:spPr>
          <a:xfrm>
            <a:off x="868680" y="1974960"/>
            <a:ext cx="10423800" cy="214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799"/>
              </a:spcAft>
              <a:buClr>
                <a:srgbClr val="16202B"/>
              </a:buClr>
              <a:buFont typeface="Symbol" charset="2"/>
              <a:buChar char=""/>
            </a:pPr>
            <a:r>
              <a:rPr lang="en-US" sz="1450" b="0" strike="noStrike" spc="-1" dirty="0">
                <a:solidFill>
                  <a:srgbClr val="16202B"/>
                </a:solidFill>
                <a:latin typeface="Calibri"/>
                <a:ea typeface="Calibri"/>
              </a:rPr>
              <a:t>You are handed the three CSVs </a:t>
            </a:r>
            <a:r>
              <a:rPr lang="en-US" sz="1450" spc="-1" dirty="0">
                <a:solidFill>
                  <a:srgbClr val="16202B"/>
                </a:solidFill>
                <a:latin typeface="Calibri"/>
                <a:ea typeface="Calibri"/>
              </a:rPr>
              <a:t>with an example solution</a:t>
            </a:r>
            <a:r>
              <a:rPr lang="en-US" sz="1450" b="0" strike="noStrike" spc="-1" dirty="0">
                <a:solidFill>
                  <a:srgbClr val="16202B"/>
                </a:solidFill>
                <a:latin typeface="Calibri"/>
                <a:ea typeface="Calibri"/>
              </a:rPr>
              <a:t>. Write the 8-step pipeline you would build, in order, from raw data to a calibrated, leakage-safe submission — naming the one baseline you must beat and the one metric you must minimize.</a:t>
            </a:r>
            <a:endParaRPr lang="en-US" sz="1450" b="0" strike="noStrike" spc="-1" dirty="0">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dirty="0">
                <a:solidFill>
                  <a:srgbClr val="16202B"/>
                </a:solidFill>
                <a:latin typeface="Calibri"/>
                <a:ea typeface="Calibri"/>
              </a:rPr>
              <a:t>For each of the five headline findings (ETAS parity, no quantum lift, spatial prior ≈ 93%, calibration &gt; accuracy, α ≈ 0), state in one sentence how you would demonstrate it from the data.</a:t>
            </a:r>
            <a:endParaRPr lang="en-US" sz="1450" b="0" strike="noStrike" spc="-1" dirty="0">
              <a:solidFill>
                <a:srgbClr val="000000"/>
              </a:solidFill>
              <a:latin typeface="Arial"/>
            </a:endParaRPr>
          </a:p>
          <a:p>
            <a:pPr marL="177840" indent="-177840" defTabSz="914400">
              <a:lnSpc>
                <a:spcPct val="100000"/>
              </a:lnSpc>
              <a:spcAft>
                <a:spcPts val="799"/>
              </a:spcAft>
              <a:buClr>
                <a:srgbClr val="16202B"/>
              </a:buClr>
              <a:buFont typeface="Symbol" charset="2"/>
              <a:buChar char=""/>
            </a:pPr>
            <a:r>
              <a:rPr lang="en-US" sz="1450" b="0" strike="noStrike" spc="-1" dirty="0">
                <a:solidFill>
                  <a:srgbClr val="16202B"/>
                </a:solidFill>
                <a:latin typeface="Calibri"/>
                <a:ea typeface="Calibri"/>
              </a:rPr>
              <a:t>A rival team reports blind IG +0.28. You reported +0.135. Before conceding, what three things do you ask to see?</a:t>
            </a:r>
            <a:endParaRPr lang="en-US" sz="1450" b="0" strike="noStrike" spc="-1" dirty="0">
              <a:solidFill>
                <a:srgbClr val="000000"/>
              </a:solidFill>
              <a:latin typeface="Arial"/>
            </a:endParaRPr>
          </a:p>
        </p:txBody>
      </p:sp>
      <p:sp>
        <p:nvSpPr>
          <p:cNvPr id="1064" name="Shape 6"/>
          <p:cNvSpPr/>
          <p:nvPr/>
        </p:nvSpPr>
        <p:spPr>
          <a:xfrm>
            <a:off x="548640" y="4434840"/>
            <a:ext cx="11091240" cy="1599840"/>
          </a:xfrm>
          <a:prstGeom prst="roundRect">
            <a:avLst>
              <a:gd name="adj" fmla="val 4571"/>
            </a:avLst>
          </a:prstGeom>
          <a:solidFill>
            <a:srgbClr val="F0EEE8"/>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65" name="Text 7"/>
          <p:cNvSpPr/>
          <p:nvPr/>
        </p:nvSpPr>
        <p:spPr>
          <a:xfrm>
            <a:off x="822960" y="457200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5B6B7A"/>
                </a:solidFill>
                <a:latin typeface="Calibri"/>
                <a:ea typeface="Calibri"/>
              </a:rPr>
              <a:t>Hints</a:t>
            </a:r>
            <a:endParaRPr lang="en-US" sz="1300" b="0" strike="noStrike" spc="-1">
              <a:solidFill>
                <a:srgbClr val="000000"/>
              </a:solidFill>
              <a:latin typeface="Arial"/>
            </a:endParaRPr>
          </a:p>
        </p:txBody>
      </p:sp>
      <p:sp>
        <p:nvSpPr>
          <p:cNvPr id="1066" name="Text 8"/>
          <p:cNvSpPr/>
          <p:nvPr/>
        </p:nvSpPr>
        <p:spPr>
          <a:xfrm>
            <a:off x="868680" y="4864680"/>
            <a:ext cx="104238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The 8 steps mirror the nine modules of this deck. Baseline = ETAS; metric = log-loss / maximize information gain.</a:t>
            </a:r>
            <a:endParaRPr lang="en-US" sz="1300" b="0" strike="noStrike" spc="-1">
              <a:solidFill>
                <a:srgbClr val="000000"/>
              </a:solidFill>
              <a:latin typeface="Arial"/>
            </a:endParaRPr>
          </a:p>
          <a:p>
            <a:pPr marL="177840" indent="-177840" defTabSz="914400">
              <a:lnSpc>
                <a:spcPct val="100000"/>
              </a:lnSpc>
              <a:spcAft>
                <a:spcPts val="601"/>
              </a:spcAft>
              <a:buClr>
                <a:srgbClr val="5B6B7A"/>
              </a:buClr>
              <a:buFont typeface="Symbol" charset="2"/>
              <a:buChar char=""/>
            </a:pPr>
            <a:r>
              <a:rPr lang="en-US" sz="1300" b="0" strike="noStrike" spc="-1">
                <a:solidFill>
                  <a:srgbClr val="5B6B7A"/>
                </a:solidFill>
                <a:latin typeface="Calibri"/>
                <a:ea typeface="Calibri"/>
              </a:rPr>
              <a:t>+0.28 bits is more than half the theoretical entropy ceiling of ~0.45. What would that require?</a:t>
            </a:r>
            <a:endParaRPr lang="en-US" sz="1300" b="0" strike="noStrike" spc="-1">
              <a:solidFill>
                <a:srgbClr val="000000"/>
              </a:solidFill>
              <a:latin typeface="Arial"/>
            </a:endParaRPr>
          </a:p>
        </p:txBody>
      </p:sp>
      <p:sp>
        <p:nvSpPr>
          <p:cNvPr id="1067" name="Text 9"/>
          <p:cNvSpPr/>
          <p:nvPr/>
        </p:nvSpPr>
        <p:spPr>
          <a:xfrm>
            <a:off x="548640" y="614484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i="1" strike="noStrike" spc="-1">
                <a:solidFill>
                  <a:srgbClr val="5B6B7A"/>
                </a:solidFill>
                <a:latin typeface="Calibri"/>
                <a:ea typeface="Calibri"/>
              </a:rPr>
              <a:t>Work this before turning the page. The answer key is at the end of the module.</a:t>
            </a:r>
            <a:endParaRPr lang="en-US" sz="1150" b="0" strike="noStrike" spc="-1">
              <a:solidFill>
                <a:srgbClr val="000000"/>
              </a:solidFill>
              <a:latin typeface="Arial"/>
            </a:endParaRPr>
          </a:p>
        </p:txBody>
      </p:sp>
      <p:sp>
        <p:nvSpPr>
          <p:cNvPr id="1068" name="Text 10"/>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069" name="Text 11"/>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070" name="Text 12"/>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85</a:t>
            </a:r>
            <a:endParaRPr lang="en-US" sz="1000" b="0" strike="noStrike" spc="-1">
              <a:solidFill>
                <a:srgbClr val="000000"/>
              </a:solidFill>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071" name="Shape 0"/>
          <p:cNvSpPr/>
          <p:nvPr/>
        </p:nvSpPr>
        <p:spPr>
          <a:xfrm>
            <a:off x="548640" y="457200"/>
            <a:ext cx="11091240" cy="785880"/>
          </a:xfrm>
          <a:prstGeom prst="roundRect">
            <a:avLst>
              <a:gd name="adj" fmla="val 6977"/>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72" name="Text 1"/>
          <p:cNvSpPr/>
          <p:nvPr/>
        </p:nvSpPr>
        <p:spPr>
          <a:xfrm>
            <a:off x="822960" y="530280"/>
            <a:ext cx="100580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FF3E7"/>
                </a:solidFill>
                <a:latin typeface="Calibri"/>
                <a:ea typeface="Calibri"/>
              </a:rPr>
              <a:t>ANSWER KEY · MODULE Capstone</a:t>
            </a:r>
            <a:endParaRPr lang="en-US" sz="1300" b="0" strike="noStrike" spc="-1">
              <a:solidFill>
                <a:srgbClr val="000000"/>
              </a:solidFill>
              <a:latin typeface="Arial"/>
            </a:endParaRPr>
          </a:p>
        </p:txBody>
      </p:sp>
      <p:sp>
        <p:nvSpPr>
          <p:cNvPr id="1073" name="Text 2"/>
          <p:cNvSpPr/>
          <p:nvPr/>
        </p:nvSpPr>
        <p:spPr>
          <a:xfrm>
            <a:off x="822960" y="786240"/>
            <a:ext cx="100580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FFFFF"/>
                </a:solidFill>
                <a:latin typeface="Cambria"/>
                <a:ea typeface="Cambria"/>
              </a:rPr>
              <a:t>Check your work</a:t>
            </a:r>
            <a:endParaRPr lang="en-US" sz="2200" b="0" strike="noStrike" spc="-1">
              <a:solidFill>
                <a:srgbClr val="000000"/>
              </a:solidFill>
              <a:latin typeface="Arial"/>
            </a:endParaRPr>
          </a:p>
        </p:txBody>
      </p:sp>
      <p:sp>
        <p:nvSpPr>
          <p:cNvPr id="1074" name="Shape 3"/>
          <p:cNvSpPr/>
          <p:nvPr/>
        </p:nvSpPr>
        <p:spPr>
          <a:xfrm>
            <a:off x="548640" y="1481400"/>
            <a:ext cx="11091240" cy="1737000"/>
          </a:xfrm>
          <a:prstGeom prst="roundRect">
            <a:avLst>
              <a:gd name="adj" fmla="val 42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75" name="Text 4"/>
          <p:cNvSpPr/>
          <p:nvPr/>
        </p:nvSpPr>
        <p:spPr>
          <a:xfrm>
            <a:off x="822960" y="15912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Capstone — the 8-step pipeline</a:t>
            </a:r>
            <a:endParaRPr lang="en-US" sz="1400" b="0" strike="noStrike" spc="-1">
              <a:solidFill>
                <a:srgbClr val="000000"/>
              </a:solidFill>
              <a:latin typeface="Arial"/>
            </a:endParaRPr>
          </a:p>
        </p:txBody>
      </p:sp>
      <p:sp>
        <p:nvSpPr>
          <p:cNvPr id="1076" name="Text 5"/>
          <p:cNvSpPr/>
          <p:nvPr/>
        </p:nvSpPr>
        <p:spPr>
          <a:xfrm>
            <a:off x="868680" y="1901880"/>
            <a:ext cx="105152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1) Estimate Mc and b (get completeness right). 2) Fit ETAS by MLE — your baseline. 3) Build grid training rows, features strictly pre-issue. 4) Engineer multi-scale seismicity + ETAS features; feed ETAS as an input. 5) Split train/calibration/test in time. 6) Fit boosted trees; calibrate isotonic on held-out dates. 7) Clip predictions; measure IG and ECE vs climatology AND ETAS. 8) Forecast the blind grid, quantify uncertainty. Beat: ETAS. Minimize: log-loss (maximize information gain).</a:t>
            </a:r>
            <a:endParaRPr lang="en-US" sz="1280" b="0" strike="noStrike" spc="-1">
              <a:solidFill>
                <a:srgbClr val="000000"/>
              </a:solidFill>
              <a:latin typeface="Arial"/>
            </a:endParaRPr>
          </a:p>
        </p:txBody>
      </p:sp>
      <p:sp>
        <p:nvSpPr>
          <p:cNvPr id="1077" name="Shape 6"/>
          <p:cNvSpPr/>
          <p:nvPr/>
        </p:nvSpPr>
        <p:spPr>
          <a:xfrm>
            <a:off x="548640" y="3328560"/>
            <a:ext cx="11091240" cy="1462680"/>
          </a:xfrm>
          <a:prstGeom prst="roundRect">
            <a:avLst>
              <a:gd name="adj" fmla="val 5000"/>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78" name="Text 7"/>
          <p:cNvSpPr/>
          <p:nvPr/>
        </p:nvSpPr>
        <p:spPr>
          <a:xfrm>
            <a:off x="822960" y="343800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Capstone — demonstrating the five findings</a:t>
            </a:r>
            <a:endParaRPr lang="en-US" sz="1400" b="0" strike="noStrike" spc="-1">
              <a:solidFill>
                <a:srgbClr val="000000"/>
              </a:solidFill>
              <a:latin typeface="Arial"/>
            </a:endParaRPr>
          </a:p>
        </p:txBody>
      </p:sp>
      <p:sp>
        <p:nvSpPr>
          <p:cNvPr id="1079" name="Text 8"/>
          <p:cNvSpPr/>
          <p:nvPr/>
        </p:nvSpPr>
        <p:spPr>
          <a:xfrm>
            <a:off x="868680" y="3749040"/>
            <a:ext cx="1051524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52280" indent="-152280" defTabSz="914400">
              <a:lnSpc>
                <a:spcPct val="97000"/>
              </a:lnSpc>
              <a:spcAft>
                <a:spcPts val="400"/>
              </a:spcAft>
              <a:buClr>
                <a:srgbClr val="16202B"/>
              </a:buClr>
              <a:buFont typeface="Symbol" charset="2"/>
              <a:buChar char=""/>
            </a:pPr>
            <a:r>
              <a:rPr lang="en-US" sz="1280" b="0" strike="noStrike" spc="-1">
                <a:solidFill>
                  <a:srgbClr val="16202B"/>
                </a:solidFill>
                <a:latin typeface="Calibri"/>
                <a:ea typeface="Calibri"/>
              </a:rPr>
              <a:t>ETAS parity: report IG-over-ETAS with a CI. No quantum lift: paired classical-vs-hybrid bootstrap, CI spanning 0. Spatial prior: run the 3-input control, compare IG. Calibration&gt;accuracy: show a high-AUC model with high ECE failing on log-loss. α≈0: free ETAS fit plus the declustering diagnostic.</a:t>
            </a:r>
            <a:endParaRPr lang="en-US" sz="1280" b="0" strike="noStrike" spc="-1">
              <a:solidFill>
                <a:srgbClr val="000000"/>
              </a:solidFill>
              <a:latin typeface="Arial"/>
            </a:endParaRPr>
          </a:p>
        </p:txBody>
      </p:sp>
      <p:sp>
        <p:nvSpPr>
          <p:cNvPr id="1080" name="Shape 9"/>
          <p:cNvSpPr/>
          <p:nvPr/>
        </p:nvSpPr>
        <p:spPr>
          <a:xfrm>
            <a:off x="548640" y="4901040"/>
            <a:ext cx="11091240" cy="1371240"/>
          </a:xfrm>
          <a:prstGeom prst="roundRect">
            <a:avLst>
              <a:gd name="adj" fmla="val 5333"/>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81" name="Text 10"/>
          <p:cNvSpPr/>
          <p:nvPr/>
        </p:nvSpPr>
        <p:spPr>
          <a:xfrm>
            <a:off x="822960" y="5010840"/>
            <a:ext cx="10515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C0392B"/>
                </a:solidFill>
                <a:latin typeface="Calibri"/>
                <a:ea typeface="Calibri"/>
              </a:rPr>
              <a:t>Capstone — rival claims +0.28 bits</a:t>
            </a:r>
            <a:endParaRPr lang="en-US" sz="1400" b="0" strike="noStrike" spc="-1">
              <a:solidFill>
                <a:srgbClr val="000000"/>
              </a:solidFill>
              <a:latin typeface="Arial"/>
            </a:endParaRPr>
          </a:p>
        </p:txBody>
      </p:sp>
      <p:sp>
        <p:nvSpPr>
          <p:cNvPr id="1082" name="Text 11"/>
          <p:cNvSpPr/>
          <p:nvPr/>
        </p:nvSpPr>
        <p:spPr>
          <a:xfrm>
            <a:off x="868680" y="5321880"/>
            <a:ext cx="105152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7000"/>
              </a:lnSpc>
              <a:spcAft>
                <a:spcPts val="400"/>
              </a:spcAft>
              <a:tabLst>
                <a:tab pos="0" algn="l"/>
              </a:tabLst>
            </a:pPr>
            <a:r>
              <a:rPr lang="en-US" sz="1280" b="0" strike="noStrike" spc="-1">
                <a:solidFill>
                  <a:srgbClr val="16202B"/>
                </a:solidFill>
                <a:latin typeface="Calibri"/>
                <a:ea typeface="Calibri"/>
              </a:rPr>
              <a:t>Ask for: (1) their feature code, to check for post-issue information; (2) their validation scheme, to check for shuffled CV on spatiotemporal rows; (3) their train-vs-blind gap. +0.28 is &gt;60% of the ~0.45-bit entropy ceiling — near-certainly leakage. The tripwire (blind IG &gt; 0.20) exists for exactly this.</a:t>
            </a:r>
            <a:endParaRPr lang="en-US" sz="1280" b="0" strike="noStrike" spc="-1">
              <a:solidFill>
                <a:srgbClr val="000000"/>
              </a:solidFill>
              <a:latin typeface="Arial"/>
            </a:endParaRPr>
          </a:p>
        </p:txBody>
      </p:sp>
      <p:sp>
        <p:nvSpPr>
          <p:cNvPr id="1083" name="Text 1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084" name="Text 1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085" name="Text 1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86</a:t>
            </a:r>
            <a:endParaRPr lang="en-US" sz="1000" b="0" strike="noStrike" spc="-1">
              <a:solidFill>
                <a:srgbClr val="000000"/>
              </a:solidFill>
              <a:latin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1086" name="Text 0"/>
          <p:cNvSpPr/>
          <p:nvPr/>
        </p:nvSpPr>
        <p:spPr>
          <a:xfrm>
            <a:off x="640080" y="219456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299">
                <a:solidFill>
                  <a:srgbClr val="D98C1F"/>
                </a:solidFill>
                <a:latin typeface="Calibri"/>
                <a:ea typeface="Calibri"/>
              </a:rPr>
              <a:t>WORKED EXAMPLES</a:t>
            </a:r>
            <a:endParaRPr lang="en-US" sz="1600" b="0" strike="noStrike" spc="-1">
              <a:solidFill>
                <a:srgbClr val="FFFFFF"/>
              </a:solidFill>
              <a:latin typeface="Arial"/>
            </a:endParaRPr>
          </a:p>
        </p:txBody>
      </p:sp>
      <p:sp>
        <p:nvSpPr>
          <p:cNvPr id="1087" name="Text 1"/>
          <p:cNvSpPr/>
          <p:nvPr/>
        </p:nvSpPr>
        <p:spPr>
          <a:xfrm>
            <a:off x="640080" y="260604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800" b="1" strike="noStrike" spc="-1">
                <a:solidFill>
                  <a:srgbClr val="FFFFFF"/>
                </a:solidFill>
                <a:latin typeface="Cambria"/>
                <a:ea typeface="Cambria"/>
              </a:rPr>
              <a:t>Three hard ideas, worked by hand</a:t>
            </a:r>
            <a:endParaRPr lang="en-US" sz="3800" b="0" strike="noStrike" spc="-1">
              <a:solidFill>
                <a:srgbClr val="FFFFFF"/>
              </a:solidFill>
              <a:latin typeface="Arial"/>
            </a:endParaRPr>
          </a:p>
        </p:txBody>
      </p:sp>
      <p:sp>
        <p:nvSpPr>
          <p:cNvPr id="1088" name="Text 2"/>
          <p:cNvSpPr/>
          <p:nvPr/>
        </p:nvSpPr>
        <p:spPr>
          <a:xfrm>
            <a:off x="658440" y="3566160"/>
            <a:ext cx="10515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a:solidFill>
                  <a:srgbClr val="C7D0D9"/>
                </a:solidFill>
                <a:latin typeface="Calibri"/>
                <a:ea typeface="Calibri"/>
              </a:rPr>
              <a:t>Follow the arithmetic once and the concept sticks. These mirror the code in the reference notebook.</a:t>
            </a:r>
            <a:endParaRPr lang="en-US" sz="1600" b="0" strike="noStrike" spc="-1">
              <a:solidFill>
                <a:srgbClr val="FFFFFF"/>
              </a:solidFill>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089"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WORKED EXAMPLE 1</a:t>
            </a:r>
            <a:endParaRPr lang="en-US" sz="1300" b="0" strike="noStrike" spc="-1">
              <a:solidFill>
                <a:srgbClr val="000000"/>
              </a:solidFill>
              <a:latin typeface="Arial"/>
            </a:endParaRPr>
          </a:p>
        </p:txBody>
      </p:sp>
      <p:sp>
        <p:nvSpPr>
          <p:cNvPr id="1090"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Estimating the b-value from a catalog</a:t>
            </a:r>
            <a:endParaRPr lang="en-US" sz="3000" b="0" strike="noStrike" spc="-1">
              <a:solidFill>
                <a:srgbClr val="000000"/>
              </a:solidFill>
              <a:latin typeface="Arial"/>
            </a:endParaRPr>
          </a:p>
        </p:txBody>
      </p:sp>
      <p:sp>
        <p:nvSpPr>
          <p:cNvPr id="1091" name="Shape 2"/>
          <p:cNvSpPr/>
          <p:nvPr/>
        </p:nvSpPr>
        <p:spPr>
          <a:xfrm>
            <a:off x="548640" y="169164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92" name="Shape 3"/>
          <p:cNvSpPr/>
          <p:nvPr/>
        </p:nvSpPr>
        <p:spPr>
          <a:xfrm>
            <a:off x="749880" y="1920240"/>
            <a:ext cx="402120" cy="4021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93" name="Text 4"/>
          <p:cNvSpPr/>
          <p:nvPr/>
        </p:nvSpPr>
        <p:spPr>
          <a:xfrm>
            <a:off x="749880" y="192024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1</a:t>
            </a:r>
            <a:endParaRPr lang="en-US" sz="2000" b="0" strike="noStrike" spc="-1">
              <a:solidFill>
                <a:srgbClr val="000000"/>
              </a:solidFill>
              <a:latin typeface="Arial"/>
            </a:endParaRPr>
          </a:p>
        </p:txBody>
      </p:sp>
      <p:sp>
        <p:nvSpPr>
          <p:cNvPr id="1094" name="Text 5"/>
          <p:cNvSpPr/>
          <p:nvPr/>
        </p:nvSpPr>
        <p:spPr>
          <a:xfrm>
            <a:off x="1325880" y="180144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Choose the completeness magnitude Mc so you only fit complete data.</a:t>
            </a:r>
            <a:endParaRPr lang="en-US" sz="1400" b="0" strike="noStrike" spc="-1">
              <a:solidFill>
                <a:srgbClr val="000000"/>
              </a:solidFill>
              <a:latin typeface="Arial"/>
            </a:endParaRPr>
          </a:p>
        </p:txBody>
      </p:sp>
      <p:sp>
        <p:nvSpPr>
          <p:cNvPr id="1095" name="Text 6"/>
          <p:cNvSpPr/>
          <p:nvPr/>
        </p:nvSpPr>
        <p:spPr>
          <a:xfrm>
            <a:off x="6858000" y="180144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Mc = 1.75</a:t>
            </a:r>
            <a:endParaRPr lang="en-US" sz="1250" b="0" strike="noStrike" spc="-1">
              <a:solidFill>
                <a:srgbClr val="000000"/>
              </a:solidFill>
              <a:latin typeface="Arial"/>
            </a:endParaRPr>
          </a:p>
        </p:txBody>
      </p:sp>
      <p:sp>
        <p:nvSpPr>
          <p:cNvPr id="1096" name="Shape 7"/>
          <p:cNvSpPr/>
          <p:nvPr/>
        </p:nvSpPr>
        <p:spPr>
          <a:xfrm>
            <a:off x="548640" y="271584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97" name="Shape 8"/>
          <p:cNvSpPr/>
          <p:nvPr/>
        </p:nvSpPr>
        <p:spPr>
          <a:xfrm>
            <a:off x="749880" y="2944440"/>
            <a:ext cx="402120" cy="4021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98" name="Text 9"/>
          <p:cNvSpPr/>
          <p:nvPr/>
        </p:nvSpPr>
        <p:spPr>
          <a:xfrm>
            <a:off x="749880" y="294444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2</a:t>
            </a:r>
            <a:endParaRPr lang="en-US" sz="2000" b="0" strike="noStrike" spc="-1">
              <a:solidFill>
                <a:srgbClr val="000000"/>
              </a:solidFill>
              <a:latin typeface="Arial"/>
            </a:endParaRPr>
          </a:p>
        </p:txBody>
      </p:sp>
      <p:sp>
        <p:nvSpPr>
          <p:cNvPr id="1099" name="Text 10"/>
          <p:cNvSpPr/>
          <p:nvPr/>
        </p:nvSpPr>
        <p:spPr>
          <a:xfrm>
            <a:off x="1325880" y="282564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Keep only events with magnitude ≥ Mc, and compute their mean magnitude.</a:t>
            </a:r>
            <a:endParaRPr lang="en-US" sz="1400" b="0" strike="noStrike" spc="-1">
              <a:solidFill>
                <a:srgbClr val="000000"/>
              </a:solidFill>
              <a:latin typeface="Arial"/>
            </a:endParaRPr>
          </a:p>
        </p:txBody>
      </p:sp>
      <p:sp>
        <p:nvSpPr>
          <p:cNvPr id="1100" name="Text 11"/>
          <p:cNvSpPr/>
          <p:nvPr/>
        </p:nvSpPr>
        <p:spPr>
          <a:xfrm>
            <a:off x="6858000" y="282564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mean(m | m≥Mc) = 2.263</a:t>
            </a:r>
            <a:endParaRPr lang="en-US" sz="1250" b="0" strike="noStrike" spc="-1">
              <a:solidFill>
                <a:srgbClr val="000000"/>
              </a:solidFill>
              <a:latin typeface="Arial"/>
            </a:endParaRPr>
          </a:p>
        </p:txBody>
      </p:sp>
      <p:sp>
        <p:nvSpPr>
          <p:cNvPr id="1101" name="Shape 12"/>
          <p:cNvSpPr/>
          <p:nvPr/>
        </p:nvSpPr>
        <p:spPr>
          <a:xfrm>
            <a:off x="548640" y="374004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02" name="Shape 13"/>
          <p:cNvSpPr/>
          <p:nvPr/>
        </p:nvSpPr>
        <p:spPr>
          <a:xfrm>
            <a:off x="749880" y="3968640"/>
            <a:ext cx="402120" cy="4021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03" name="Text 14"/>
          <p:cNvSpPr/>
          <p:nvPr/>
        </p:nvSpPr>
        <p:spPr>
          <a:xfrm>
            <a:off x="749880" y="396864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3</a:t>
            </a:r>
            <a:endParaRPr lang="en-US" sz="2000" b="0" strike="noStrike" spc="-1">
              <a:solidFill>
                <a:srgbClr val="000000"/>
              </a:solidFill>
              <a:latin typeface="Arial"/>
            </a:endParaRPr>
          </a:p>
        </p:txBody>
      </p:sp>
      <p:sp>
        <p:nvSpPr>
          <p:cNvPr id="1104" name="Text 15"/>
          <p:cNvSpPr/>
          <p:nvPr/>
        </p:nvSpPr>
        <p:spPr>
          <a:xfrm>
            <a:off x="1325880" y="384948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Apply the Aki maximum-likelihood estimator for the slope b.</a:t>
            </a:r>
            <a:endParaRPr lang="en-US" sz="1400" b="0" strike="noStrike" spc="-1">
              <a:solidFill>
                <a:srgbClr val="000000"/>
              </a:solidFill>
              <a:latin typeface="Arial"/>
            </a:endParaRPr>
          </a:p>
        </p:txBody>
      </p:sp>
      <p:sp>
        <p:nvSpPr>
          <p:cNvPr id="1105" name="Text 16"/>
          <p:cNvSpPr/>
          <p:nvPr/>
        </p:nvSpPr>
        <p:spPr>
          <a:xfrm>
            <a:off x="6858000" y="384948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b = log₁₀(e) / (m̄ − Mc)</a:t>
            </a:r>
            <a:endParaRPr lang="en-US" sz="1250" b="0" strike="noStrike" spc="-1">
              <a:solidFill>
                <a:srgbClr val="000000"/>
              </a:solidFill>
              <a:latin typeface="Arial"/>
            </a:endParaRPr>
          </a:p>
          <a:p>
            <a:pPr defTabSz="914400">
              <a:lnSpc>
                <a:spcPct val="100000"/>
              </a:lnSpc>
              <a:tabLst>
                <a:tab pos="0" algn="l"/>
              </a:tabLst>
            </a:pPr>
            <a:r>
              <a:rPr lang="en-US" sz="1250" b="0" strike="noStrike" spc="-1">
                <a:solidFill>
                  <a:srgbClr val="8E2A20"/>
                </a:solidFill>
                <a:latin typeface="Courier New"/>
                <a:ea typeface="Courier New"/>
              </a:rPr>
              <a:t>  = 0.4343 / (2.263 − 1.75)</a:t>
            </a:r>
            <a:endParaRPr lang="en-US" sz="1250" b="0" strike="noStrike" spc="-1">
              <a:solidFill>
                <a:srgbClr val="000000"/>
              </a:solidFill>
              <a:latin typeface="Arial"/>
            </a:endParaRPr>
          </a:p>
        </p:txBody>
      </p:sp>
      <p:sp>
        <p:nvSpPr>
          <p:cNvPr id="1106" name="Shape 17"/>
          <p:cNvSpPr/>
          <p:nvPr/>
        </p:nvSpPr>
        <p:spPr>
          <a:xfrm>
            <a:off x="548640" y="476388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07" name="Shape 18"/>
          <p:cNvSpPr/>
          <p:nvPr/>
        </p:nvSpPr>
        <p:spPr>
          <a:xfrm>
            <a:off x="749880" y="4992480"/>
            <a:ext cx="402120" cy="4021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08" name="Text 19"/>
          <p:cNvSpPr/>
          <p:nvPr/>
        </p:nvSpPr>
        <p:spPr>
          <a:xfrm>
            <a:off x="749880" y="499248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4</a:t>
            </a:r>
            <a:endParaRPr lang="en-US" sz="2000" b="0" strike="noStrike" spc="-1">
              <a:solidFill>
                <a:srgbClr val="000000"/>
              </a:solidFill>
              <a:latin typeface="Arial"/>
            </a:endParaRPr>
          </a:p>
        </p:txBody>
      </p:sp>
      <p:sp>
        <p:nvSpPr>
          <p:cNvPr id="1109" name="Text 20"/>
          <p:cNvSpPr/>
          <p:nvPr/>
        </p:nvSpPr>
        <p:spPr>
          <a:xfrm>
            <a:off x="1325880" y="487368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Read the result and sanity-check it against the regional expectation (~0.8–1.0).</a:t>
            </a:r>
            <a:endParaRPr lang="en-US" sz="1400" b="0" strike="noStrike" spc="-1">
              <a:solidFill>
                <a:srgbClr val="000000"/>
              </a:solidFill>
              <a:latin typeface="Arial"/>
            </a:endParaRPr>
          </a:p>
        </p:txBody>
      </p:sp>
      <p:sp>
        <p:nvSpPr>
          <p:cNvPr id="1110" name="Text 21"/>
          <p:cNvSpPr/>
          <p:nvPr/>
        </p:nvSpPr>
        <p:spPr>
          <a:xfrm>
            <a:off x="6858000" y="487368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b = 0.4343 / 0.513 ≈ 0.846 ✓</a:t>
            </a:r>
            <a:endParaRPr lang="en-US" sz="1250" b="0" strike="noStrike" spc="-1">
              <a:solidFill>
                <a:srgbClr val="000000"/>
              </a:solidFill>
              <a:latin typeface="Arial"/>
            </a:endParaRPr>
          </a:p>
        </p:txBody>
      </p:sp>
      <p:sp>
        <p:nvSpPr>
          <p:cNvPr id="1111" name="Shape 22"/>
          <p:cNvSpPr/>
          <p:nvPr/>
        </p:nvSpPr>
        <p:spPr>
          <a:xfrm>
            <a:off x="548640" y="5623560"/>
            <a:ext cx="11091240" cy="658080"/>
          </a:xfrm>
          <a:prstGeom prst="roundRect">
            <a:avLst>
              <a:gd name="adj" fmla="val 11111"/>
            </a:avLst>
          </a:prstGeom>
          <a:solidFill>
            <a:srgbClr val="E7F1EA"/>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12" name="Shape 23"/>
          <p:cNvSpPr/>
          <p:nvPr/>
        </p:nvSpPr>
        <p:spPr>
          <a:xfrm>
            <a:off x="749880" y="5797440"/>
            <a:ext cx="145800" cy="14580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13" name="Text 24"/>
          <p:cNvSpPr/>
          <p:nvPr/>
        </p:nvSpPr>
        <p:spPr>
          <a:xfrm>
            <a:off x="987480" y="5669280"/>
            <a:ext cx="104238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2E7D53"/>
                </a:solidFill>
                <a:latin typeface="Calibri"/>
                <a:ea typeface="Calibri"/>
              </a:rPr>
              <a:t>Result   </a:t>
            </a:r>
            <a:r>
              <a:rPr lang="en-US" sz="1350" b="0" strike="noStrike" spc="-1">
                <a:solidFill>
                  <a:srgbClr val="16202B"/>
                </a:solidFill>
                <a:latin typeface="Calibri"/>
                <a:ea typeface="Calibri"/>
              </a:rPr>
              <a:t>b = 0.846 — physically sensible for the eastern US. Now imagine Mc were set too low at 1.45: the incomplete small events pull m̄ down toward Mc, the denominator shrinks, and b balloons past 1.1. That is why completeness comes first — b is exquisitely sensitive to it.</a:t>
            </a:r>
            <a:endParaRPr lang="en-US" sz="1350" b="0" strike="noStrike" spc="-1">
              <a:solidFill>
                <a:srgbClr val="000000"/>
              </a:solidFill>
              <a:latin typeface="Arial"/>
            </a:endParaRPr>
          </a:p>
        </p:txBody>
      </p:sp>
      <p:sp>
        <p:nvSpPr>
          <p:cNvPr id="1114" name="Text 2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Worked examples</a:t>
            </a:r>
            <a:endParaRPr lang="en-US" sz="1000" b="0" strike="noStrike" spc="-1">
              <a:solidFill>
                <a:srgbClr val="000000"/>
              </a:solidFill>
              <a:latin typeface="Arial"/>
            </a:endParaRPr>
          </a:p>
        </p:txBody>
      </p:sp>
      <p:sp>
        <p:nvSpPr>
          <p:cNvPr id="1115" name="Text 2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116" name="Text 2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88</a:t>
            </a:r>
            <a:endParaRPr lang="en-US" sz="1000" b="0" strike="noStrike" spc="-1">
              <a:solidFill>
                <a:srgbClr val="000000"/>
              </a:solidFill>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117"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WORKED EXAMPLE 2</a:t>
            </a:r>
            <a:endParaRPr lang="en-US" sz="1300" b="0" strike="noStrike" spc="-1">
              <a:solidFill>
                <a:srgbClr val="000000"/>
              </a:solidFill>
              <a:latin typeface="Arial"/>
            </a:endParaRPr>
          </a:p>
        </p:txBody>
      </p:sp>
      <p:sp>
        <p:nvSpPr>
          <p:cNvPr id="1118"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One ETAS forecast, by hand</a:t>
            </a:r>
            <a:endParaRPr lang="en-US" sz="3000" b="0" strike="noStrike" spc="-1">
              <a:solidFill>
                <a:srgbClr val="000000"/>
              </a:solidFill>
              <a:latin typeface="Arial"/>
            </a:endParaRPr>
          </a:p>
        </p:txBody>
      </p:sp>
      <p:sp>
        <p:nvSpPr>
          <p:cNvPr id="1119" name="Shape 2"/>
          <p:cNvSpPr/>
          <p:nvPr/>
        </p:nvSpPr>
        <p:spPr>
          <a:xfrm>
            <a:off x="548640" y="169164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20" name="Shape 3"/>
          <p:cNvSpPr/>
          <p:nvPr/>
        </p:nvSpPr>
        <p:spPr>
          <a:xfrm>
            <a:off x="749880" y="1920240"/>
            <a:ext cx="402120" cy="4021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21" name="Text 4"/>
          <p:cNvSpPr/>
          <p:nvPr/>
        </p:nvSpPr>
        <p:spPr>
          <a:xfrm>
            <a:off x="749880" y="192024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1</a:t>
            </a:r>
            <a:endParaRPr lang="en-US" sz="2000" b="0" strike="noStrike" spc="-1">
              <a:solidFill>
                <a:srgbClr val="000000"/>
              </a:solidFill>
              <a:latin typeface="Arial"/>
            </a:endParaRPr>
          </a:p>
        </p:txBody>
      </p:sp>
      <p:sp>
        <p:nvSpPr>
          <p:cNvPr id="1122" name="Text 5"/>
          <p:cNvSpPr/>
          <p:nvPr/>
        </p:nvSpPr>
        <p:spPr>
          <a:xfrm>
            <a:off x="1325880" y="180144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Start from the fitted parameters (the reference's free-α MLE fit).</a:t>
            </a:r>
            <a:endParaRPr lang="en-US" sz="1400" b="0" strike="noStrike" spc="-1">
              <a:solidFill>
                <a:srgbClr val="000000"/>
              </a:solidFill>
              <a:latin typeface="Arial"/>
            </a:endParaRPr>
          </a:p>
        </p:txBody>
      </p:sp>
      <p:sp>
        <p:nvSpPr>
          <p:cNvPr id="1123" name="Text 6"/>
          <p:cNvSpPr/>
          <p:nvPr/>
        </p:nvSpPr>
        <p:spPr>
          <a:xfrm>
            <a:off x="6858000" y="180144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μ=0.109/day  K=0.104</a:t>
            </a:r>
            <a:endParaRPr lang="en-US" sz="1250" b="0" strike="noStrike" spc="-1">
              <a:solidFill>
                <a:srgbClr val="000000"/>
              </a:solidFill>
              <a:latin typeface="Arial"/>
            </a:endParaRPr>
          </a:p>
          <a:p>
            <a:pPr defTabSz="914400">
              <a:lnSpc>
                <a:spcPct val="100000"/>
              </a:lnSpc>
              <a:tabLst>
                <a:tab pos="0" algn="l"/>
              </a:tabLst>
            </a:pPr>
            <a:r>
              <a:rPr lang="en-US" sz="1250" b="0" strike="noStrike" spc="-1">
                <a:solidFill>
                  <a:srgbClr val="8E2A20"/>
                </a:solidFill>
                <a:latin typeface="Courier New"/>
                <a:ea typeface="Courier New"/>
              </a:rPr>
              <a:t>α=0.061  c=0.188d  p=1.001</a:t>
            </a:r>
            <a:endParaRPr lang="en-US" sz="1250" b="0" strike="noStrike" spc="-1">
              <a:solidFill>
                <a:srgbClr val="000000"/>
              </a:solidFill>
              <a:latin typeface="Arial"/>
            </a:endParaRPr>
          </a:p>
        </p:txBody>
      </p:sp>
      <p:sp>
        <p:nvSpPr>
          <p:cNvPr id="1124" name="Shape 7"/>
          <p:cNvSpPr/>
          <p:nvPr/>
        </p:nvSpPr>
        <p:spPr>
          <a:xfrm>
            <a:off x="548640" y="271584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25" name="Shape 8"/>
          <p:cNvSpPr/>
          <p:nvPr/>
        </p:nvSpPr>
        <p:spPr>
          <a:xfrm>
            <a:off x="749880" y="2944440"/>
            <a:ext cx="402120" cy="4021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26" name="Text 9"/>
          <p:cNvSpPr/>
          <p:nvPr/>
        </p:nvSpPr>
        <p:spPr>
          <a:xfrm>
            <a:off x="749880" y="294444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2</a:t>
            </a:r>
            <a:endParaRPr lang="en-US" sz="2000" b="0" strike="noStrike" spc="-1">
              <a:solidFill>
                <a:srgbClr val="000000"/>
              </a:solidFill>
              <a:latin typeface="Arial"/>
            </a:endParaRPr>
          </a:p>
        </p:txBody>
      </p:sp>
      <p:sp>
        <p:nvSpPr>
          <p:cNvPr id="1127" name="Text 10"/>
          <p:cNvSpPr/>
          <p:nvPr/>
        </p:nvSpPr>
        <p:spPr>
          <a:xfrm>
            <a:off x="1325880" y="282564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For a target cell-window, gather past events within range and their times/magnitudes.</a:t>
            </a:r>
            <a:endParaRPr lang="en-US" sz="1400" b="0" strike="noStrike" spc="-1">
              <a:solidFill>
                <a:srgbClr val="000000"/>
              </a:solidFill>
              <a:latin typeface="Arial"/>
            </a:endParaRPr>
          </a:p>
        </p:txBody>
      </p:sp>
      <p:sp>
        <p:nvSpPr>
          <p:cNvPr id="1128" name="Text 11"/>
          <p:cNvSpPr/>
          <p:nvPr/>
        </p:nvSpPr>
        <p:spPr>
          <a:xfrm>
            <a:off x="6858000" y="282564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events j: (tⱼ, mⱼ)</a:t>
            </a:r>
            <a:endParaRPr lang="en-US" sz="1250" b="0" strike="noStrike" spc="-1">
              <a:solidFill>
                <a:srgbClr val="000000"/>
              </a:solidFill>
              <a:latin typeface="Arial"/>
            </a:endParaRPr>
          </a:p>
        </p:txBody>
      </p:sp>
      <p:sp>
        <p:nvSpPr>
          <p:cNvPr id="1129" name="Shape 12"/>
          <p:cNvSpPr/>
          <p:nvPr/>
        </p:nvSpPr>
        <p:spPr>
          <a:xfrm>
            <a:off x="548640" y="374004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30" name="Shape 13"/>
          <p:cNvSpPr/>
          <p:nvPr/>
        </p:nvSpPr>
        <p:spPr>
          <a:xfrm>
            <a:off x="749880" y="3968640"/>
            <a:ext cx="402120" cy="4021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31" name="Text 14"/>
          <p:cNvSpPr/>
          <p:nvPr/>
        </p:nvSpPr>
        <p:spPr>
          <a:xfrm>
            <a:off x="749880" y="396864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3</a:t>
            </a:r>
            <a:endParaRPr lang="en-US" sz="2000" b="0" strike="noStrike" spc="-1">
              <a:solidFill>
                <a:srgbClr val="000000"/>
              </a:solidFill>
              <a:latin typeface="Arial"/>
            </a:endParaRPr>
          </a:p>
        </p:txBody>
      </p:sp>
      <p:sp>
        <p:nvSpPr>
          <p:cNvPr id="1132" name="Text 15"/>
          <p:cNvSpPr/>
          <p:nvPr/>
        </p:nvSpPr>
        <p:spPr>
          <a:xfrm>
            <a:off x="1325880" y="384948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Sum each event's Omori-decayed, magnitude-weighted contribution over the 30-day window.</a:t>
            </a:r>
            <a:endParaRPr lang="en-US" sz="1400" b="0" strike="noStrike" spc="-1">
              <a:solidFill>
                <a:srgbClr val="000000"/>
              </a:solidFill>
              <a:latin typeface="Arial"/>
            </a:endParaRPr>
          </a:p>
        </p:txBody>
      </p:sp>
      <p:sp>
        <p:nvSpPr>
          <p:cNvPr id="1133" name="Text 16"/>
          <p:cNvSpPr/>
          <p:nvPr/>
        </p:nvSpPr>
        <p:spPr>
          <a:xfrm>
            <a:off x="6858000" y="384948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Λ_trig = Σⱼ K·e^{α(mⱼ−Mc)}·∫(t−tⱼ+c)^{−p}dt</a:t>
            </a:r>
            <a:endParaRPr lang="en-US" sz="1250" b="0" strike="noStrike" spc="-1">
              <a:solidFill>
                <a:srgbClr val="000000"/>
              </a:solidFill>
              <a:latin typeface="Arial"/>
            </a:endParaRPr>
          </a:p>
        </p:txBody>
      </p:sp>
      <p:sp>
        <p:nvSpPr>
          <p:cNvPr id="1134" name="Shape 17"/>
          <p:cNvSpPr/>
          <p:nvPr/>
        </p:nvSpPr>
        <p:spPr>
          <a:xfrm>
            <a:off x="548640" y="476388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35" name="Shape 18"/>
          <p:cNvSpPr/>
          <p:nvPr/>
        </p:nvSpPr>
        <p:spPr>
          <a:xfrm>
            <a:off x="749880" y="4992480"/>
            <a:ext cx="402120" cy="4021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36" name="Text 19"/>
          <p:cNvSpPr/>
          <p:nvPr/>
        </p:nvSpPr>
        <p:spPr>
          <a:xfrm>
            <a:off x="749880" y="499248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4</a:t>
            </a:r>
            <a:endParaRPr lang="en-US" sz="2000" b="0" strike="noStrike" spc="-1">
              <a:solidFill>
                <a:srgbClr val="000000"/>
              </a:solidFill>
              <a:latin typeface="Arial"/>
            </a:endParaRPr>
          </a:p>
        </p:txBody>
      </p:sp>
      <p:sp>
        <p:nvSpPr>
          <p:cNvPr id="1137" name="Text 20"/>
          <p:cNvSpPr/>
          <p:nvPr/>
        </p:nvSpPr>
        <p:spPr>
          <a:xfrm>
            <a:off x="1325880" y="487368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Add the background and convert the expected count Λ to a probability.</a:t>
            </a:r>
            <a:endParaRPr lang="en-US" sz="1400" b="0" strike="noStrike" spc="-1">
              <a:solidFill>
                <a:srgbClr val="000000"/>
              </a:solidFill>
              <a:latin typeface="Arial"/>
            </a:endParaRPr>
          </a:p>
        </p:txBody>
      </p:sp>
      <p:sp>
        <p:nvSpPr>
          <p:cNvPr id="1138" name="Text 21"/>
          <p:cNvSpPr/>
          <p:nvPr/>
        </p:nvSpPr>
        <p:spPr>
          <a:xfrm>
            <a:off x="6858000" y="487368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P = 1 − e^{−(μ·30 + Λ_trig)}</a:t>
            </a:r>
            <a:endParaRPr lang="en-US" sz="1250" b="0" strike="noStrike" spc="-1">
              <a:solidFill>
                <a:srgbClr val="000000"/>
              </a:solidFill>
              <a:latin typeface="Arial"/>
            </a:endParaRPr>
          </a:p>
        </p:txBody>
      </p:sp>
      <p:sp>
        <p:nvSpPr>
          <p:cNvPr id="1139" name="Shape 22"/>
          <p:cNvSpPr/>
          <p:nvPr/>
        </p:nvSpPr>
        <p:spPr>
          <a:xfrm>
            <a:off x="548640" y="5623560"/>
            <a:ext cx="11091240" cy="658080"/>
          </a:xfrm>
          <a:prstGeom prst="roundRect">
            <a:avLst>
              <a:gd name="adj" fmla="val 11111"/>
            </a:avLst>
          </a:prstGeom>
          <a:solidFill>
            <a:srgbClr val="E7F1EA"/>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40" name="Shape 23"/>
          <p:cNvSpPr/>
          <p:nvPr/>
        </p:nvSpPr>
        <p:spPr>
          <a:xfrm>
            <a:off x="749880" y="5797440"/>
            <a:ext cx="145800" cy="14580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41" name="Text 24"/>
          <p:cNvSpPr/>
          <p:nvPr/>
        </p:nvSpPr>
        <p:spPr>
          <a:xfrm>
            <a:off x="987480" y="5669280"/>
            <a:ext cx="104238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2E7D53"/>
                </a:solidFill>
                <a:latin typeface="Calibri"/>
                <a:ea typeface="Calibri"/>
              </a:rPr>
              <a:t>Result   </a:t>
            </a:r>
            <a:r>
              <a:rPr lang="en-US" sz="1350" b="0" strike="noStrike" spc="-1">
                <a:solidFill>
                  <a:srgbClr val="16202B"/>
                </a:solidFill>
                <a:latin typeface="Calibri"/>
                <a:ea typeface="Calibri"/>
              </a:rPr>
              <a:t>P is a genuine, physics-based probability for that cell-window — no labels, no training. Do this for every cell and window and you have the ETAS baseline the whole tournament is measured against.</a:t>
            </a:r>
            <a:endParaRPr lang="en-US" sz="1350" b="0" strike="noStrike" spc="-1">
              <a:solidFill>
                <a:srgbClr val="000000"/>
              </a:solidFill>
              <a:latin typeface="Arial"/>
            </a:endParaRPr>
          </a:p>
        </p:txBody>
      </p:sp>
      <p:sp>
        <p:nvSpPr>
          <p:cNvPr id="1142" name="Text 2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Worked examples</a:t>
            </a:r>
            <a:endParaRPr lang="en-US" sz="1000" b="0" strike="noStrike" spc="-1">
              <a:solidFill>
                <a:srgbClr val="000000"/>
              </a:solidFill>
              <a:latin typeface="Arial"/>
            </a:endParaRPr>
          </a:p>
        </p:txBody>
      </p:sp>
      <p:sp>
        <p:nvSpPr>
          <p:cNvPr id="1143" name="Text 2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144" name="Text 2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89</a:t>
            </a:r>
            <a:endParaRPr lang="en-US" sz="1000" b="0" strike="noStrike" spc="-1">
              <a:solidFill>
                <a:srgbClr val="000000"/>
              </a:solidFill>
              <a:latin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145"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WORKED EXAMPLE 3</a:t>
            </a:r>
            <a:endParaRPr lang="en-US" sz="1300" b="0" strike="noStrike" spc="-1">
              <a:solidFill>
                <a:srgbClr val="000000"/>
              </a:solidFill>
              <a:latin typeface="Arial"/>
            </a:endParaRPr>
          </a:p>
        </p:txBody>
      </p:sp>
      <p:sp>
        <p:nvSpPr>
          <p:cNvPr id="1146"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Computing information gain</a:t>
            </a:r>
            <a:endParaRPr lang="en-US" sz="3000" b="0" strike="noStrike" spc="-1">
              <a:solidFill>
                <a:srgbClr val="000000"/>
              </a:solidFill>
              <a:latin typeface="Arial"/>
            </a:endParaRPr>
          </a:p>
        </p:txBody>
      </p:sp>
      <p:sp>
        <p:nvSpPr>
          <p:cNvPr id="1147" name="Shape 2"/>
          <p:cNvSpPr/>
          <p:nvPr/>
        </p:nvSpPr>
        <p:spPr>
          <a:xfrm>
            <a:off x="548640" y="169164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48" name="Shape 3"/>
          <p:cNvSpPr/>
          <p:nvPr/>
        </p:nvSpPr>
        <p:spPr>
          <a:xfrm>
            <a:off x="749880" y="1920240"/>
            <a:ext cx="402120" cy="4021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49" name="Text 4"/>
          <p:cNvSpPr/>
          <p:nvPr/>
        </p:nvSpPr>
        <p:spPr>
          <a:xfrm>
            <a:off x="749880" y="192024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1</a:t>
            </a:r>
            <a:endParaRPr lang="en-US" sz="2000" b="0" strike="noStrike" spc="-1">
              <a:solidFill>
                <a:srgbClr val="000000"/>
              </a:solidFill>
              <a:latin typeface="Arial"/>
            </a:endParaRPr>
          </a:p>
        </p:txBody>
      </p:sp>
      <p:sp>
        <p:nvSpPr>
          <p:cNvPr id="1150" name="Text 5"/>
          <p:cNvSpPr/>
          <p:nvPr/>
        </p:nvSpPr>
        <p:spPr>
          <a:xfrm>
            <a:off x="1325880" y="180144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Take a handful of cell-windows with your forecast p and the truth y (1=quake).</a:t>
            </a:r>
            <a:endParaRPr lang="en-US" sz="1400" b="0" strike="noStrike" spc="-1">
              <a:solidFill>
                <a:srgbClr val="000000"/>
              </a:solidFill>
              <a:latin typeface="Arial"/>
            </a:endParaRPr>
          </a:p>
        </p:txBody>
      </p:sp>
      <p:sp>
        <p:nvSpPr>
          <p:cNvPr id="1151" name="Text 6"/>
          <p:cNvSpPr/>
          <p:nvPr/>
        </p:nvSpPr>
        <p:spPr>
          <a:xfrm>
            <a:off x="6858000" y="180144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e.g. p=[.30,.05,.20], y=[1,0,0]</a:t>
            </a:r>
            <a:endParaRPr lang="en-US" sz="1250" b="0" strike="noStrike" spc="-1">
              <a:solidFill>
                <a:srgbClr val="000000"/>
              </a:solidFill>
              <a:latin typeface="Arial"/>
            </a:endParaRPr>
          </a:p>
        </p:txBody>
      </p:sp>
      <p:sp>
        <p:nvSpPr>
          <p:cNvPr id="1152" name="Shape 7"/>
          <p:cNvSpPr/>
          <p:nvPr/>
        </p:nvSpPr>
        <p:spPr>
          <a:xfrm>
            <a:off x="548640" y="271584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53" name="Shape 8"/>
          <p:cNvSpPr/>
          <p:nvPr/>
        </p:nvSpPr>
        <p:spPr>
          <a:xfrm>
            <a:off x="749880" y="2944440"/>
            <a:ext cx="402120" cy="4021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54" name="Text 9"/>
          <p:cNvSpPr/>
          <p:nvPr/>
        </p:nvSpPr>
        <p:spPr>
          <a:xfrm>
            <a:off x="749880" y="294444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2</a:t>
            </a:r>
            <a:endParaRPr lang="en-US" sz="2000" b="0" strike="noStrike" spc="-1">
              <a:solidFill>
                <a:srgbClr val="000000"/>
              </a:solidFill>
              <a:latin typeface="Arial"/>
            </a:endParaRPr>
          </a:p>
        </p:txBody>
      </p:sp>
      <p:sp>
        <p:nvSpPr>
          <p:cNvPr id="1155" name="Text 10"/>
          <p:cNvSpPr/>
          <p:nvPr/>
        </p:nvSpPr>
        <p:spPr>
          <a:xfrm>
            <a:off x="1325880" y="282564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Compute your model's mean log-loss (lower is better).</a:t>
            </a:r>
            <a:endParaRPr lang="en-US" sz="1400" b="0" strike="noStrike" spc="-1">
              <a:solidFill>
                <a:srgbClr val="000000"/>
              </a:solidFill>
              <a:latin typeface="Arial"/>
            </a:endParaRPr>
          </a:p>
        </p:txBody>
      </p:sp>
      <p:sp>
        <p:nvSpPr>
          <p:cNvPr id="1156" name="Text 11"/>
          <p:cNvSpPr/>
          <p:nvPr/>
        </p:nvSpPr>
        <p:spPr>
          <a:xfrm>
            <a:off x="6858000" y="282564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L_model = −mean(y·ln p + (1−y)·ln(1−p))</a:t>
            </a:r>
            <a:endParaRPr lang="en-US" sz="1250" b="0" strike="noStrike" spc="-1">
              <a:solidFill>
                <a:srgbClr val="000000"/>
              </a:solidFill>
              <a:latin typeface="Arial"/>
            </a:endParaRPr>
          </a:p>
        </p:txBody>
      </p:sp>
      <p:sp>
        <p:nvSpPr>
          <p:cNvPr id="1157" name="Shape 12"/>
          <p:cNvSpPr/>
          <p:nvPr/>
        </p:nvSpPr>
        <p:spPr>
          <a:xfrm>
            <a:off x="548640" y="374004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58" name="Shape 13"/>
          <p:cNvSpPr/>
          <p:nvPr/>
        </p:nvSpPr>
        <p:spPr>
          <a:xfrm>
            <a:off x="749880" y="3968640"/>
            <a:ext cx="402120" cy="4021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59" name="Text 14"/>
          <p:cNvSpPr/>
          <p:nvPr/>
        </p:nvSpPr>
        <p:spPr>
          <a:xfrm>
            <a:off x="749880" y="396864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3</a:t>
            </a:r>
            <a:endParaRPr lang="en-US" sz="2000" b="0" strike="noStrike" spc="-1">
              <a:solidFill>
                <a:srgbClr val="000000"/>
              </a:solidFill>
              <a:latin typeface="Arial"/>
            </a:endParaRPr>
          </a:p>
        </p:txBody>
      </p:sp>
      <p:sp>
        <p:nvSpPr>
          <p:cNvPr id="1160" name="Text 15"/>
          <p:cNvSpPr/>
          <p:nvPr/>
        </p:nvSpPr>
        <p:spPr>
          <a:xfrm>
            <a:off x="1325880" y="384948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Compute climatology's log-loss using the constant base rate for every p.</a:t>
            </a:r>
            <a:endParaRPr lang="en-US" sz="1400" b="0" strike="noStrike" spc="-1">
              <a:solidFill>
                <a:srgbClr val="000000"/>
              </a:solidFill>
              <a:latin typeface="Arial"/>
            </a:endParaRPr>
          </a:p>
        </p:txBody>
      </p:sp>
      <p:sp>
        <p:nvSpPr>
          <p:cNvPr id="1161" name="Text 16"/>
          <p:cNvSpPr/>
          <p:nvPr/>
        </p:nvSpPr>
        <p:spPr>
          <a:xfrm>
            <a:off x="6858000" y="384948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L_clim with p = 0.095 everywhere</a:t>
            </a:r>
            <a:endParaRPr lang="en-US" sz="1250" b="0" strike="noStrike" spc="-1">
              <a:solidFill>
                <a:srgbClr val="000000"/>
              </a:solidFill>
              <a:latin typeface="Arial"/>
            </a:endParaRPr>
          </a:p>
        </p:txBody>
      </p:sp>
      <p:sp>
        <p:nvSpPr>
          <p:cNvPr id="1162" name="Shape 17"/>
          <p:cNvSpPr/>
          <p:nvPr/>
        </p:nvSpPr>
        <p:spPr>
          <a:xfrm>
            <a:off x="548640" y="4763880"/>
            <a:ext cx="11091240" cy="859320"/>
          </a:xfrm>
          <a:prstGeom prst="roundRect">
            <a:avLst>
              <a:gd name="adj" fmla="val 8511"/>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63" name="Shape 18"/>
          <p:cNvSpPr/>
          <p:nvPr/>
        </p:nvSpPr>
        <p:spPr>
          <a:xfrm>
            <a:off x="749880" y="4992480"/>
            <a:ext cx="402120" cy="4021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64" name="Text 19"/>
          <p:cNvSpPr/>
          <p:nvPr/>
        </p:nvSpPr>
        <p:spPr>
          <a:xfrm>
            <a:off x="749880" y="4992480"/>
            <a:ext cx="40212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Cambria"/>
                <a:ea typeface="Cambria"/>
              </a:rPr>
              <a:t>4</a:t>
            </a:r>
            <a:endParaRPr lang="en-US" sz="2000" b="0" strike="noStrike" spc="-1">
              <a:solidFill>
                <a:srgbClr val="000000"/>
              </a:solidFill>
              <a:latin typeface="Arial"/>
            </a:endParaRPr>
          </a:p>
        </p:txBody>
      </p:sp>
      <p:sp>
        <p:nvSpPr>
          <p:cNvPr id="1165" name="Text 20"/>
          <p:cNvSpPr/>
          <p:nvPr/>
        </p:nvSpPr>
        <p:spPr>
          <a:xfrm>
            <a:off x="1325880" y="4873680"/>
            <a:ext cx="548604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400" b="1" strike="noStrike" spc="-1">
                <a:solidFill>
                  <a:srgbClr val="16202B"/>
                </a:solidFill>
                <a:latin typeface="Calibri"/>
                <a:ea typeface="Calibri"/>
              </a:rPr>
              <a:t>Information gain is the reduction in log-loss, converted to bits.</a:t>
            </a:r>
            <a:endParaRPr lang="en-US" sz="1400" b="0" strike="noStrike" spc="-1">
              <a:solidFill>
                <a:srgbClr val="000000"/>
              </a:solidFill>
              <a:latin typeface="Arial"/>
            </a:endParaRPr>
          </a:p>
        </p:txBody>
      </p:sp>
      <p:sp>
        <p:nvSpPr>
          <p:cNvPr id="1166" name="Text 21"/>
          <p:cNvSpPr/>
          <p:nvPr/>
        </p:nvSpPr>
        <p:spPr>
          <a:xfrm>
            <a:off x="6858000" y="4873680"/>
            <a:ext cx="461736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8E2A20"/>
                </a:solidFill>
                <a:latin typeface="Courier New"/>
                <a:ea typeface="Courier New"/>
              </a:rPr>
              <a:t>IG = (L_clim − L_model) / ln(2)</a:t>
            </a:r>
            <a:endParaRPr lang="en-US" sz="1250" b="0" strike="noStrike" spc="-1">
              <a:solidFill>
                <a:srgbClr val="000000"/>
              </a:solidFill>
              <a:latin typeface="Arial"/>
            </a:endParaRPr>
          </a:p>
        </p:txBody>
      </p:sp>
      <p:sp>
        <p:nvSpPr>
          <p:cNvPr id="1167" name="Shape 22"/>
          <p:cNvSpPr/>
          <p:nvPr/>
        </p:nvSpPr>
        <p:spPr>
          <a:xfrm>
            <a:off x="548640" y="5623560"/>
            <a:ext cx="11091240" cy="658080"/>
          </a:xfrm>
          <a:prstGeom prst="roundRect">
            <a:avLst>
              <a:gd name="adj" fmla="val 11111"/>
            </a:avLst>
          </a:prstGeom>
          <a:solidFill>
            <a:srgbClr val="E7F1EA"/>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68" name="Shape 23"/>
          <p:cNvSpPr/>
          <p:nvPr/>
        </p:nvSpPr>
        <p:spPr>
          <a:xfrm>
            <a:off x="749880" y="5797440"/>
            <a:ext cx="145800" cy="14580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69" name="Text 24"/>
          <p:cNvSpPr/>
          <p:nvPr/>
        </p:nvSpPr>
        <p:spPr>
          <a:xfrm>
            <a:off x="987480" y="5669280"/>
            <a:ext cx="104238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2E7D53"/>
                </a:solidFill>
                <a:latin typeface="Calibri"/>
                <a:ea typeface="Calibri"/>
              </a:rPr>
              <a:t>Result   </a:t>
            </a:r>
            <a:r>
              <a:rPr lang="en-US" sz="1350" b="0" strike="noStrike" spc="-1">
                <a:solidFill>
                  <a:srgbClr val="16202B"/>
                </a:solidFill>
                <a:latin typeface="Calibri"/>
                <a:ea typeface="Calibri"/>
              </a:rPr>
              <a:t>A positive IG means your forecast carries real information beyond the base rate. The reference scores +0.136 bits vs climatology and +0.002 vs ETAS on the blind window — the numbers this whole deck has been building toward.</a:t>
            </a:r>
            <a:endParaRPr lang="en-US" sz="1350" b="0" strike="noStrike" spc="-1">
              <a:solidFill>
                <a:srgbClr val="000000"/>
              </a:solidFill>
              <a:latin typeface="Arial"/>
            </a:endParaRPr>
          </a:p>
        </p:txBody>
      </p:sp>
      <p:sp>
        <p:nvSpPr>
          <p:cNvPr id="1170" name="Text 25"/>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Worked examples</a:t>
            </a:r>
            <a:endParaRPr lang="en-US" sz="1000" b="0" strike="noStrike" spc="-1">
              <a:solidFill>
                <a:srgbClr val="000000"/>
              </a:solidFill>
              <a:latin typeface="Arial"/>
            </a:endParaRPr>
          </a:p>
        </p:txBody>
      </p:sp>
      <p:sp>
        <p:nvSpPr>
          <p:cNvPr id="1171" name="Text 26"/>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172" name="Text 27"/>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90</a:t>
            </a:r>
            <a:endParaRPr lang="en-US" sz="1000" b="0" strike="noStrike" spc="-1">
              <a:solidFill>
                <a:srgbClr val="000000"/>
              </a:solidFill>
              <a:latin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173"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REFERENCE</a:t>
            </a:r>
            <a:endParaRPr lang="en-US" sz="1300" b="0" strike="noStrike" spc="-1">
              <a:solidFill>
                <a:srgbClr val="000000"/>
              </a:solidFill>
              <a:latin typeface="Arial"/>
            </a:endParaRPr>
          </a:p>
        </p:txBody>
      </p:sp>
      <p:sp>
        <p:nvSpPr>
          <p:cNvPr id="1174"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Ten ways strong teams lose</a:t>
            </a:r>
            <a:endParaRPr lang="en-US" sz="3000" b="0" strike="noStrike" spc="-1">
              <a:solidFill>
                <a:srgbClr val="000000"/>
              </a:solidFill>
              <a:latin typeface="Arial"/>
            </a:endParaRPr>
          </a:p>
        </p:txBody>
      </p:sp>
      <p:sp>
        <p:nvSpPr>
          <p:cNvPr id="1175" name="Shape 2"/>
          <p:cNvSpPr/>
          <p:nvPr/>
        </p:nvSpPr>
        <p:spPr>
          <a:xfrm>
            <a:off x="548640" y="1691640"/>
            <a:ext cx="5440320" cy="785880"/>
          </a:xfrm>
          <a:prstGeom prst="roundRect">
            <a:avLst>
              <a:gd name="adj" fmla="val 930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76" name="Shape 3"/>
          <p:cNvSpPr/>
          <p:nvPr/>
        </p:nvSpPr>
        <p:spPr>
          <a:xfrm>
            <a:off x="713160" y="193860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77" name="Text 4"/>
          <p:cNvSpPr/>
          <p:nvPr/>
        </p:nvSpPr>
        <p:spPr>
          <a:xfrm>
            <a:off x="713160" y="1920240"/>
            <a:ext cx="2923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mbria"/>
                <a:ea typeface="Cambria"/>
              </a:rPr>
              <a:t>✗</a:t>
            </a:r>
            <a:endParaRPr lang="en-US" sz="1500" b="0" strike="noStrike" spc="-1">
              <a:solidFill>
                <a:srgbClr val="000000"/>
              </a:solidFill>
              <a:latin typeface="Arial"/>
            </a:endParaRPr>
          </a:p>
        </p:txBody>
      </p:sp>
      <p:sp>
        <p:nvSpPr>
          <p:cNvPr id="1178" name="Text 5"/>
          <p:cNvSpPr/>
          <p:nvPr/>
        </p:nvSpPr>
        <p:spPr>
          <a:xfrm>
            <a:off x="1115640" y="1783080"/>
            <a:ext cx="47545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6202B"/>
                </a:solidFill>
                <a:latin typeface="Calibri"/>
                <a:ea typeface="Calibri"/>
              </a:rPr>
              <a:t>Optimizing AUC</a:t>
            </a:r>
            <a:endParaRPr lang="en-US" sz="1350" b="0" strike="noStrike" spc="-1">
              <a:solidFill>
                <a:srgbClr val="000000"/>
              </a:solidFill>
              <a:latin typeface="Arial"/>
            </a:endParaRPr>
          </a:p>
        </p:txBody>
      </p:sp>
      <p:sp>
        <p:nvSpPr>
          <p:cNvPr id="1179" name="Text 6"/>
          <p:cNvSpPr/>
          <p:nvPr/>
        </p:nvSpPr>
        <p:spPr>
          <a:xfrm>
            <a:off x="1115640" y="2075760"/>
            <a:ext cx="4800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5B6B7A"/>
                </a:solidFill>
                <a:latin typeface="Calibri"/>
                <a:ea typeface="Calibri"/>
              </a:rPr>
              <a:t>Ranking ≠ calibration. High AUC, useless forecast.</a:t>
            </a:r>
            <a:endParaRPr lang="en-US" sz="1100" b="0" strike="noStrike" spc="-1">
              <a:solidFill>
                <a:srgbClr val="000000"/>
              </a:solidFill>
              <a:latin typeface="Arial"/>
            </a:endParaRPr>
          </a:p>
        </p:txBody>
      </p:sp>
      <p:sp>
        <p:nvSpPr>
          <p:cNvPr id="1180" name="Shape 7"/>
          <p:cNvSpPr/>
          <p:nvPr/>
        </p:nvSpPr>
        <p:spPr>
          <a:xfrm>
            <a:off x="6172200" y="1691640"/>
            <a:ext cx="5440320" cy="785880"/>
          </a:xfrm>
          <a:prstGeom prst="roundRect">
            <a:avLst>
              <a:gd name="adj" fmla="val 930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81" name="Shape 8"/>
          <p:cNvSpPr/>
          <p:nvPr/>
        </p:nvSpPr>
        <p:spPr>
          <a:xfrm>
            <a:off x="6336720" y="193860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82" name="Text 9"/>
          <p:cNvSpPr/>
          <p:nvPr/>
        </p:nvSpPr>
        <p:spPr>
          <a:xfrm>
            <a:off x="6336720" y="1920240"/>
            <a:ext cx="2923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mbria"/>
                <a:ea typeface="Cambria"/>
              </a:rPr>
              <a:t>✗</a:t>
            </a:r>
            <a:endParaRPr lang="en-US" sz="1500" b="0" strike="noStrike" spc="-1">
              <a:solidFill>
                <a:srgbClr val="000000"/>
              </a:solidFill>
              <a:latin typeface="Arial"/>
            </a:endParaRPr>
          </a:p>
        </p:txBody>
      </p:sp>
      <p:sp>
        <p:nvSpPr>
          <p:cNvPr id="1183" name="Text 10"/>
          <p:cNvSpPr/>
          <p:nvPr/>
        </p:nvSpPr>
        <p:spPr>
          <a:xfrm>
            <a:off x="6739200" y="1783080"/>
            <a:ext cx="47545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6202B"/>
                </a:solidFill>
                <a:latin typeface="Calibri"/>
                <a:ea typeface="Calibri"/>
              </a:rPr>
              <a:t>Under-estimating Mc</a:t>
            </a:r>
            <a:endParaRPr lang="en-US" sz="1350" b="0" strike="noStrike" spc="-1">
              <a:solidFill>
                <a:srgbClr val="000000"/>
              </a:solidFill>
              <a:latin typeface="Arial"/>
            </a:endParaRPr>
          </a:p>
        </p:txBody>
      </p:sp>
      <p:sp>
        <p:nvSpPr>
          <p:cNvPr id="1184" name="Text 11"/>
          <p:cNvSpPr/>
          <p:nvPr/>
        </p:nvSpPr>
        <p:spPr>
          <a:xfrm>
            <a:off x="6739200" y="2075760"/>
            <a:ext cx="4800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5B6B7A"/>
                </a:solidFill>
                <a:latin typeface="Calibri"/>
                <a:ea typeface="Calibri"/>
              </a:rPr>
              <a:t>Biases b low; corrupts every physics feature.</a:t>
            </a:r>
            <a:endParaRPr lang="en-US" sz="1100" b="0" strike="noStrike" spc="-1">
              <a:solidFill>
                <a:srgbClr val="000000"/>
              </a:solidFill>
              <a:latin typeface="Arial"/>
            </a:endParaRPr>
          </a:p>
        </p:txBody>
      </p:sp>
      <p:sp>
        <p:nvSpPr>
          <p:cNvPr id="1185" name="Shape 12"/>
          <p:cNvSpPr/>
          <p:nvPr/>
        </p:nvSpPr>
        <p:spPr>
          <a:xfrm>
            <a:off x="548640" y="2587680"/>
            <a:ext cx="5440320" cy="785880"/>
          </a:xfrm>
          <a:prstGeom prst="roundRect">
            <a:avLst>
              <a:gd name="adj" fmla="val 930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86" name="Shape 13"/>
          <p:cNvSpPr/>
          <p:nvPr/>
        </p:nvSpPr>
        <p:spPr>
          <a:xfrm>
            <a:off x="713160" y="283464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87" name="Text 14"/>
          <p:cNvSpPr/>
          <p:nvPr/>
        </p:nvSpPr>
        <p:spPr>
          <a:xfrm>
            <a:off x="713160" y="2816280"/>
            <a:ext cx="2923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mbria"/>
                <a:ea typeface="Cambria"/>
              </a:rPr>
              <a:t>✗</a:t>
            </a:r>
            <a:endParaRPr lang="en-US" sz="1500" b="0" strike="noStrike" spc="-1">
              <a:solidFill>
                <a:srgbClr val="000000"/>
              </a:solidFill>
              <a:latin typeface="Arial"/>
            </a:endParaRPr>
          </a:p>
        </p:txBody>
      </p:sp>
      <p:sp>
        <p:nvSpPr>
          <p:cNvPr id="1188" name="Text 15"/>
          <p:cNvSpPr/>
          <p:nvPr/>
        </p:nvSpPr>
        <p:spPr>
          <a:xfrm>
            <a:off x="1115640" y="2679120"/>
            <a:ext cx="47545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6202B"/>
                </a:solidFill>
                <a:latin typeface="Calibri"/>
                <a:ea typeface="Calibri"/>
              </a:rPr>
              <a:t>Shuffled cross-validation</a:t>
            </a:r>
            <a:endParaRPr lang="en-US" sz="1350" b="0" strike="noStrike" spc="-1">
              <a:solidFill>
                <a:srgbClr val="000000"/>
              </a:solidFill>
              <a:latin typeface="Arial"/>
            </a:endParaRPr>
          </a:p>
        </p:txBody>
      </p:sp>
      <p:sp>
        <p:nvSpPr>
          <p:cNvPr id="1189" name="Text 16"/>
          <p:cNvSpPr/>
          <p:nvPr/>
        </p:nvSpPr>
        <p:spPr>
          <a:xfrm>
            <a:off x="1115640" y="2971800"/>
            <a:ext cx="4800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5B6B7A"/>
                </a:solidFill>
                <a:latin typeface="Calibri"/>
                <a:ea typeface="Calibri"/>
              </a:rPr>
              <a:t>Scatters neighbors across folds; CV ≫ blind.</a:t>
            </a:r>
            <a:endParaRPr lang="en-US" sz="1100" b="0" strike="noStrike" spc="-1">
              <a:solidFill>
                <a:srgbClr val="000000"/>
              </a:solidFill>
              <a:latin typeface="Arial"/>
            </a:endParaRPr>
          </a:p>
        </p:txBody>
      </p:sp>
      <p:sp>
        <p:nvSpPr>
          <p:cNvPr id="1190" name="Shape 17"/>
          <p:cNvSpPr/>
          <p:nvPr/>
        </p:nvSpPr>
        <p:spPr>
          <a:xfrm>
            <a:off x="6172200" y="2587680"/>
            <a:ext cx="5440320" cy="785880"/>
          </a:xfrm>
          <a:prstGeom prst="roundRect">
            <a:avLst>
              <a:gd name="adj" fmla="val 930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91" name="Shape 18"/>
          <p:cNvSpPr/>
          <p:nvPr/>
        </p:nvSpPr>
        <p:spPr>
          <a:xfrm>
            <a:off x="6336720" y="283464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92" name="Text 19"/>
          <p:cNvSpPr/>
          <p:nvPr/>
        </p:nvSpPr>
        <p:spPr>
          <a:xfrm>
            <a:off x="6336720" y="2816280"/>
            <a:ext cx="2923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mbria"/>
                <a:ea typeface="Cambria"/>
              </a:rPr>
              <a:t>✗</a:t>
            </a:r>
            <a:endParaRPr lang="en-US" sz="1500" b="0" strike="noStrike" spc="-1">
              <a:solidFill>
                <a:srgbClr val="000000"/>
              </a:solidFill>
              <a:latin typeface="Arial"/>
            </a:endParaRPr>
          </a:p>
        </p:txBody>
      </p:sp>
      <p:sp>
        <p:nvSpPr>
          <p:cNvPr id="1193" name="Text 20"/>
          <p:cNvSpPr/>
          <p:nvPr/>
        </p:nvSpPr>
        <p:spPr>
          <a:xfrm>
            <a:off x="6739200" y="2679120"/>
            <a:ext cx="47545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6202B"/>
                </a:solidFill>
                <a:latin typeface="Calibri"/>
                <a:ea typeface="Calibri"/>
              </a:rPr>
              <a:t>Event-centered training</a:t>
            </a:r>
            <a:endParaRPr lang="en-US" sz="1350" b="0" strike="noStrike" spc="-1">
              <a:solidFill>
                <a:srgbClr val="000000"/>
              </a:solidFill>
              <a:latin typeface="Arial"/>
            </a:endParaRPr>
          </a:p>
        </p:txBody>
      </p:sp>
      <p:sp>
        <p:nvSpPr>
          <p:cNvPr id="1194" name="Text 21"/>
          <p:cNvSpPr/>
          <p:nvPr/>
        </p:nvSpPr>
        <p:spPr>
          <a:xfrm>
            <a:off x="6739200" y="2971800"/>
            <a:ext cx="4800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5B6B7A"/>
                </a:solidFill>
                <a:latin typeface="Calibri"/>
                <a:ea typeface="Calibri"/>
              </a:rPr>
              <a:t>Train/deploy mismatch vs the grid you're scored on.</a:t>
            </a:r>
            <a:endParaRPr lang="en-US" sz="1100" b="0" strike="noStrike" spc="-1">
              <a:solidFill>
                <a:srgbClr val="000000"/>
              </a:solidFill>
              <a:latin typeface="Arial"/>
            </a:endParaRPr>
          </a:p>
        </p:txBody>
      </p:sp>
      <p:sp>
        <p:nvSpPr>
          <p:cNvPr id="1195" name="Shape 22"/>
          <p:cNvSpPr/>
          <p:nvPr/>
        </p:nvSpPr>
        <p:spPr>
          <a:xfrm>
            <a:off x="548640" y="3483720"/>
            <a:ext cx="5440320" cy="785880"/>
          </a:xfrm>
          <a:prstGeom prst="roundRect">
            <a:avLst>
              <a:gd name="adj" fmla="val 930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96" name="Shape 23"/>
          <p:cNvSpPr/>
          <p:nvPr/>
        </p:nvSpPr>
        <p:spPr>
          <a:xfrm>
            <a:off x="713160" y="373068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97" name="Text 24"/>
          <p:cNvSpPr/>
          <p:nvPr/>
        </p:nvSpPr>
        <p:spPr>
          <a:xfrm>
            <a:off x="713160" y="3712320"/>
            <a:ext cx="2923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mbria"/>
                <a:ea typeface="Cambria"/>
              </a:rPr>
              <a:t>✗</a:t>
            </a:r>
            <a:endParaRPr lang="en-US" sz="1500" b="0" strike="noStrike" spc="-1">
              <a:solidFill>
                <a:srgbClr val="000000"/>
              </a:solidFill>
              <a:latin typeface="Arial"/>
            </a:endParaRPr>
          </a:p>
        </p:txBody>
      </p:sp>
      <p:sp>
        <p:nvSpPr>
          <p:cNvPr id="1198" name="Text 25"/>
          <p:cNvSpPr/>
          <p:nvPr/>
        </p:nvSpPr>
        <p:spPr>
          <a:xfrm>
            <a:off x="1115640" y="3575160"/>
            <a:ext cx="47545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6202B"/>
                </a:solidFill>
                <a:latin typeface="Calibri"/>
                <a:ea typeface="Calibri"/>
              </a:rPr>
              <a:t>Skipping the ETAS baseline</a:t>
            </a:r>
            <a:endParaRPr lang="en-US" sz="1350" b="0" strike="noStrike" spc="-1">
              <a:solidFill>
                <a:srgbClr val="000000"/>
              </a:solidFill>
              <a:latin typeface="Arial"/>
            </a:endParaRPr>
          </a:p>
        </p:txBody>
      </p:sp>
      <p:sp>
        <p:nvSpPr>
          <p:cNvPr id="1199" name="Text 26"/>
          <p:cNvSpPr/>
          <p:nvPr/>
        </p:nvSpPr>
        <p:spPr>
          <a:xfrm>
            <a:off x="1115640" y="3867840"/>
            <a:ext cx="4800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5B6B7A"/>
                </a:solidFill>
                <a:latin typeface="Calibri"/>
                <a:ea typeface="Calibri"/>
              </a:rPr>
              <a:t>You can't claim a win over a bar you never measured.</a:t>
            </a:r>
            <a:endParaRPr lang="en-US" sz="1100" b="0" strike="noStrike" spc="-1">
              <a:solidFill>
                <a:srgbClr val="000000"/>
              </a:solidFill>
              <a:latin typeface="Arial"/>
            </a:endParaRPr>
          </a:p>
        </p:txBody>
      </p:sp>
      <p:sp>
        <p:nvSpPr>
          <p:cNvPr id="1200" name="Shape 27"/>
          <p:cNvSpPr/>
          <p:nvPr/>
        </p:nvSpPr>
        <p:spPr>
          <a:xfrm>
            <a:off x="6172200" y="3483720"/>
            <a:ext cx="5440320" cy="785880"/>
          </a:xfrm>
          <a:prstGeom prst="roundRect">
            <a:avLst>
              <a:gd name="adj" fmla="val 930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01" name="Shape 28"/>
          <p:cNvSpPr/>
          <p:nvPr/>
        </p:nvSpPr>
        <p:spPr>
          <a:xfrm>
            <a:off x="6336720" y="373068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02" name="Text 29"/>
          <p:cNvSpPr/>
          <p:nvPr/>
        </p:nvSpPr>
        <p:spPr>
          <a:xfrm>
            <a:off x="6336720" y="3712320"/>
            <a:ext cx="2923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mbria"/>
                <a:ea typeface="Cambria"/>
              </a:rPr>
              <a:t>✗</a:t>
            </a:r>
            <a:endParaRPr lang="en-US" sz="1500" b="0" strike="noStrike" spc="-1">
              <a:solidFill>
                <a:srgbClr val="000000"/>
              </a:solidFill>
              <a:latin typeface="Arial"/>
            </a:endParaRPr>
          </a:p>
        </p:txBody>
      </p:sp>
      <p:sp>
        <p:nvSpPr>
          <p:cNvPr id="1203" name="Text 30"/>
          <p:cNvSpPr/>
          <p:nvPr/>
        </p:nvSpPr>
        <p:spPr>
          <a:xfrm>
            <a:off x="6739200" y="3575160"/>
            <a:ext cx="47545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6202B"/>
                </a:solidFill>
                <a:latin typeface="Calibri"/>
                <a:ea typeface="Calibri"/>
              </a:rPr>
              <a:t>Calibrating on training data</a:t>
            </a:r>
            <a:endParaRPr lang="en-US" sz="1350" b="0" strike="noStrike" spc="-1">
              <a:solidFill>
                <a:srgbClr val="000000"/>
              </a:solidFill>
              <a:latin typeface="Arial"/>
            </a:endParaRPr>
          </a:p>
        </p:txBody>
      </p:sp>
      <p:sp>
        <p:nvSpPr>
          <p:cNvPr id="1204" name="Text 31"/>
          <p:cNvSpPr/>
          <p:nvPr/>
        </p:nvSpPr>
        <p:spPr>
          <a:xfrm>
            <a:off x="6739200" y="3867840"/>
            <a:ext cx="4800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5B6B7A"/>
                </a:solidFill>
                <a:latin typeface="Calibri"/>
                <a:ea typeface="Calibri"/>
              </a:rPr>
              <a:t>Looks perfect in-sample, fails in the field.</a:t>
            </a:r>
            <a:endParaRPr lang="en-US" sz="1100" b="0" strike="noStrike" spc="-1">
              <a:solidFill>
                <a:srgbClr val="000000"/>
              </a:solidFill>
              <a:latin typeface="Arial"/>
            </a:endParaRPr>
          </a:p>
        </p:txBody>
      </p:sp>
      <p:sp>
        <p:nvSpPr>
          <p:cNvPr id="1205" name="Shape 32"/>
          <p:cNvSpPr/>
          <p:nvPr/>
        </p:nvSpPr>
        <p:spPr>
          <a:xfrm>
            <a:off x="548640" y="4380120"/>
            <a:ext cx="5440320" cy="785880"/>
          </a:xfrm>
          <a:prstGeom prst="roundRect">
            <a:avLst>
              <a:gd name="adj" fmla="val 930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06" name="Shape 33"/>
          <p:cNvSpPr/>
          <p:nvPr/>
        </p:nvSpPr>
        <p:spPr>
          <a:xfrm>
            <a:off x="713160" y="462672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07" name="Text 34"/>
          <p:cNvSpPr/>
          <p:nvPr/>
        </p:nvSpPr>
        <p:spPr>
          <a:xfrm>
            <a:off x="713160" y="4608720"/>
            <a:ext cx="2923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mbria"/>
                <a:ea typeface="Cambria"/>
              </a:rPr>
              <a:t>✗</a:t>
            </a:r>
            <a:endParaRPr lang="en-US" sz="1500" b="0" strike="noStrike" spc="-1">
              <a:solidFill>
                <a:srgbClr val="000000"/>
              </a:solidFill>
              <a:latin typeface="Arial"/>
            </a:endParaRPr>
          </a:p>
        </p:txBody>
      </p:sp>
      <p:sp>
        <p:nvSpPr>
          <p:cNvPr id="1208" name="Text 35"/>
          <p:cNvSpPr/>
          <p:nvPr/>
        </p:nvSpPr>
        <p:spPr>
          <a:xfrm>
            <a:off x="1115640" y="4471560"/>
            <a:ext cx="47545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6202B"/>
                </a:solidFill>
                <a:latin typeface="Calibri"/>
                <a:ea typeface="Calibri"/>
              </a:rPr>
              <a:t>Confusing importance with value</a:t>
            </a:r>
            <a:endParaRPr lang="en-US" sz="1350" b="0" strike="noStrike" spc="-1">
              <a:solidFill>
                <a:srgbClr val="000000"/>
              </a:solidFill>
              <a:latin typeface="Arial"/>
            </a:endParaRPr>
          </a:p>
        </p:txBody>
      </p:sp>
      <p:sp>
        <p:nvSpPr>
          <p:cNvPr id="1209" name="Text 36"/>
          <p:cNvSpPr/>
          <p:nvPr/>
        </p:nvSpPr>
        <p:spPr>
          <a:xfrm>
            <a:off x="1115640" y="4763880"/>
            <a:ext cx="4800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5B6B7A"/>
                </a:solidFill>
                <a:latin typeface="Calibri"/>
                <a:ea typeface="Calibri"/>
              </a:rPr>
              <a:t>Rewards spatial fingerprints, not skill.</a:t>
            </a:r>
            <a:endParaRPr lang="en-US" sz="1100" b="0" strike="noStrike" spc="-1">
              <a:solidFill>
                <a:srgbClr val="000000"/>
              </a:solidFill>
              <a:latin typeface="Arial"/>
            </a:endParaRPr>
          </a:p>
        </p:txBody>
      </p:sp>
      <p:sp>
        <p:nvSpPr>
          <p:cNvPr id="1210" name="Shape 37"/>
          <p:cNvSpPr/>
          <p:nvPr/>
        </p:nvSpPr>
        <p:spPr>
          <a:xfrm>
            <a:off x="6172200" y="4380120"/>
            <a:ext cx="5440320" cy="785880"/>
          </a:xfrm>
          <a:prstGeom prst="roundRect">
            <a:avLst>
              <a:gd name="adj" fmla="val 930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11" name="Shape 38"/>
          <p:cNvSpPr/>
          <p:nvPr/>
        </p:nvSpPr>
        <p:spPr>
          <a:xfrm>
            <a:off x="6336720" y="462672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12" name="Text 39"/>
          <p:cNvSpPr/>
          <p:nvPr/>
        </p:nvSpPr>
        <p:spPr>
          <a:xfrm>
            <a:off x="6336720" y="4608720"/>
            <a:ext cx="2923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mbria"/>
                <a:ea typeface="Cambria"/>
              </a:rPr>
              <a:t>✗</a:t>
            </a:r>
            <a:endParaRPr lang="en-US" sz="1500" b="0" strike="noStrike" spc="-1">
              <a:solidFill>
                <a:srgbClr val="000000"/>
              </a:solidFill>
              <a:latin typeface="Arial"/>
            </a:endParaRPr>
          </a:p>
        </p:txBody>
      </p:sp>
      <p:sp>
        <p:nvSpPr>
          <p:cNvPr id="1213" name="Text 40"/>
          <p:cNvSpPr/>
          <p:nvPr/>
        </p:nvSpPr>
        <p:spPr>
          <a:xfrm>
            <a:off x="6739200" y="4471560"/>
            <a:ext cx="47545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6202B"/>
                </a:solidFill>
                <a:latin typeface="Calibri"/>
                <a:ea typeface="Calibri"/>
              </a:rPr>
              <a:t>Asserting 0% or 100%</a:t>
            </a:r>
            <a:endParaRPr lang="en-US" sz="1350" b="0" strike="noStrike" spc="-1">
              <a:solidFill>
                <a:srgbClr val="000000"/>
              </a:solidFill>
              <a:latin typeface="Arial"/>
            </a:endParaRPr>
          </a:p>
        </p:txBody>
      </p:sp>
      <p:sp>
        <p:nvSpPr>
          <p:cNvPr id="1214" name="Text 41"/>
          <p:cNvSpPr/>
          <p:nvPr/>
        </p:nvSpPr>
        <p:spPr>
          <a:xfrm>
            <a:off x="6739200" y="4763880"/>
            <a:ext cx="4800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5B6B7A"/>
                </a:solidFill>
                <a:latin typeface="Calibri"/>
                <a:ea typeface="Calibri"/>
              </a:rPr>
              <a:t>One confident error and log-loss buries you.</a:t>
            </a:r>
            <a:endParaRPr lang="en-US" sz="1100" b="0" strike="noStrike" spc="-1">
              <a:solidFill>
                <a:srgbClr val="000000"/>
              </a:solidFill>
              <a:latin typeface="Arial"/>
            </a:endParaRPr>
          </a:p>
        </p:txBody>
      </p:sp>
      <p:sp>
        <p:nvSpPr>
          <p:cNvPr id="1215" name="Shape 42"/>
          <p:cNvSpPr/>
          <p:nvPr/>
        </p:nvSpPr>
        <p:spPr>
          <a:xfrm>
            <a:off x="548640" y="5276160"/>
            <a:ext cx="5440320" cy="785880"/>
          </a:xfrm>
          <a:prstGeom prst="roundRect">
            <a:avLst>
              <a:gd name="adj" fmla="val 930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16" name="Shape 43"/>
          <p:cNvSpPr/>
          <p:nvPr/>
        </p:nvSpPr>
        <p:spPr>
          <a:xfrm>
            <a:off x="713160" y="552312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17" name="Text 44"/>
          <p:cNvSpPr/>
          <p:nvPr/>
        </p:nvSpPr>
        <p:spPr>
          <a:xfrm>
            <a:off x="713160" y="5504760"/>
            <a:ext cx="2923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mbria"/>
                <a:ea typeface="Cambria"/>
              </a:rPr>
              <a:t>✗</a:t>
            </a:r>
            <a:endParaRPr lang="en-US" sz="1500" b="0" strike="noStrike" spc="-1">
              <a:solidFill>
                <a:srgbClr val="000000"/>
              </a:solidFill>
              <a:latin typeface="Arial"/>
            </a:endParaRPr>
          </a:p>
        </p:txBody>
      </p:sp>
      <p:sp>
        <p:nvSpPr>
          <p:cNvPr id="1218" name="Text 45"/>
          <p:cNvSpPr/>
          <p:nvPr/>
        </p:nvSpPr>
        <p:spPr>
          <a:xfrm>
            <a:off x="1115640" y="5367600"/>
            <a:ext cx="47545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6202B"/>
                </a:solidFill>
                <a:latin typeface="Calibri"/>
                <a:ea typeface="Calibri"/>
              </a:rPr>
              <a:t>Chasing a big margin</a:t>
            </a:r>
            <a:endParaRPr lang="en-US" sz="1350" b="0" strike="noStrike" spc="-1">
              <a:solidFill>
                <a:srgbClr val="000000"/>
              </a:solidFill>
              <a:latin typeface="Arial"/>
            </a:endParaRPr>
          </a:p>
        </p:txBody>
      </p:sp>
      <p:sp>
        <p:nvSpPr>
          <p:cNvPr id="1219" name="Text 46"/>
          <p:cNvSpPr/>
          <p:nvPr/>
        </p:nvSpPr>
        <p:spPr>
          <a:xfrm>
            <a:off x="1115640" y="5660280"/>
            <a:ext cx="4800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5B6B7A"/>
                </a:solidFill>
                <a:latin typeface="Calibri"/>
                <a:ea typeface="Calibri"/>
              </a:rPr>
              <a:t>A large win over ETAS almost always means leakage.</a:t>
            </a:r>
            <a:endParaRPr lang="en-US" sz="1100" b="0" strike="noStrike" spc="-1">
              <a:solidFill>
                <a:srgbClr val="000000"/>
              </a:solidFill>
              <a:latin typeface="Arial"/>
            </a:endParaRPr>
          </a:p>
        </p:txBody>
      </p:sp>
      <p:sp>
        <p:nvSpPr>
          <p:cNvPr id="1220" name="Shape 47"/>
          <p:cNvSpPr/>
          <p:nvPr/>
        </p:nvSpPr>
        <p:spPr>
          <a:xfrm>
            <a:off x="6172200" y="5276160"/>
            <a:ext cx="5440320" cy="785880"/>
          </a:xfrm>
          <a:prstGeom prst="roundRect">
            <a:avLst>
              <a:gd name="adj" fmla="val 930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21" name="Shape 48"/>
          <p:cNvSpPr/>
          <p:nvPr/>
        </p:nvSpPr>
        <p:spPr>
          <a:xfrm>
            <a:off x="6336720" y="552312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22" name="Text 49"/>
          <p:cNvSpPr/>
          <p:nvPr/>
        </p:nvSpPr>
        <p:spPr>
          <a:xfrm>
            <a:off x="6336720" y="5504760"/>
            <a:ext cx="2923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FFFFFF"/>
                </a:solidFill>
                <a:latin typeface="Cambria"/>
                <a:ea typeface="Cambria"/>
              </a:rPr>
              <a:t>✗</a:t>
            </a:r>
            <a:endParaRPr lang="en-US" sz="1500" b="0" strike="noStrike" spc="-1">
              <a:solidFill>
                <a:srgbClr val="000000"/>
              </a:solidFill>
              <a:latin typeface="Arial"/>
            </a:endParaRPr>
          </a:p>
        </p:txBody>
      </p:sp>
      <p:sp>
        <p:nvSpPr>
          <p:cNvPr id="1223" name="Text 50"/>
          <p:cNvSpPr/>
          <p:nvPr/>
        </p:nvSpPr>
        <p:spPr>
          <a:xfrm>
            <a:off x="6739200" y="5367600"/>
            <a:ext cx="47545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6202B"/>
                </a:solidFill>
                <a:latin typeface="Calibri"/>
                <a:ea typeface="Calibri"/>
              </a:rPr>
              <a:t>Reporting no uncertainty</a:t>
            </a:r>
            <a:endParaRPr lang="en-US" sz="1350" b="0" strike="noStrike" spc="-1">
              <a:solidFill>
                <a:srgbClr val="000000"/>
              </a:solidFill>
              <a:latin typeface="Arial"/>
            </a:endParaRPr>
          </a:p>
        </p:txBody>
      </p:sp>
      <p:sp>
        <p:nvSpPr>
          <p:cNvPr id="1224" name="Text 51"/>
          <p:cNvSpPr/>
          <p:nvPr/>
        </p:nvSpPr>
        <p:spPr>
          <a:xfrm>
            <a:off x="6739200" y="5660280"/>
            <a:ext cx="4800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100" b="0" strike="noStrike" spc="-1">
                <a:solidFill>
                  <a:srgbClr val="5B6B7A"/>
                </a:solidFill>
                <a:latin typeface="Calibri"/>
                <a:ea typeface="Calibri"/>
              </a:rPr>
              <a:t>A number without a CI is not a scientific claim.</a:t>
            </a:r>
            <a:endParaRPr lang="en-US" sz="1100" b="0" strike="noStrike" spc="-1">
              <a:solidFill>
                <a:srgbClr val="000000"/>
              </a:solidFill>
              <a:latin typeface="Arial"/>
            </a:endParaRPr>
          </a:p>
        </p:txBody>
      </p:sp>
      <p:sp>
        <p:nvSpPr>
          <p:cNvPr id="1225" name="Text 52"/>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Reference</a:t>
            </a:r>
            <a:endParaRPr lang="en-US" sz="1000" b="0" strike="noStrike" spc="-1">
              <a:solidFill>
                <a:srgbClr val="000000"/>
              </a:solidFill>
              <a:latin typeface="Arial"/>
            </a:endParaRPr>
          </a:p>
        </p:txBody>
      </p:sp>
      <p:sp>
        <p:nvSpPr>
          <p:cNvPr id="1226" name="Text 53"/>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227" name="Text 54"/>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91</a:t>
            </a:r>
            <a:endParaRPr lang="en-US" sz="1000" b="0" strike="noStrike" spc="-1">
              <a:solidFill>
                <a:srgbClr val="000000"/>
              </a:solidFill>
              <a:latin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22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5B6B7A"/>
                </a:solidFill>
                <a:latin typeface="Calibri"/>
                <a:ea typeface="Calibri"/>
              </a:rPr>
              <a:t>REFERENCE</a:t>
            </a:r>
            <a:endParaRPr lang="en-US" sz="1300" b="0" strike="noStrike" spc="-1">
              <a:solidFill>
                <a:srgbClr val="000000"/>
              </a:solidFill>
              <a:latin typeface="Arial"/>
            </a:endParaRPr>
          </a:p>
        </p:txBody>
      </p:sp>
      <p:sp>
        <p:nvSpPr>
          <p:cNvPr id="122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Glossary — the terms you'll meet (1/2)</a:t>
            </a:r>
            <a:endParaRPr lang="en-US" sz="3000" b="0" strike="noStrike" spc="-1">
              <a:solidFill>
                <a:srgbClr val="000000"/>
              </a:solidFill>
              <a:latin typeface="Arial"/>
            </a:endParaRPr>
          </a:p>
        </p:txBody>
      </p:sp>
      <p:sp>
        <p:nvSpPr>
          <p:cNvPr id="1230" name="Shape 2"/>
          <p:cNvSpPr/>
          <p:nvPr/>
        </p:nvSpPr>
        <p:spPr>
          <a:xfrm>
            <a:off x="548640" y="169164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31" name="Text 3"/>
          <p:cNvSpPr/>
          <p:nvPr/>
        </p:nvSpPr>
        <p:spPr>
          <a:xfrm>
            <a:off x="777240" y="178308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Information Gain</a:t>
            </a:r>
            <a:endParaRPr lang="en-US" sz="1500" b="0" strike="noStrike" spc="-1">
              <a:solidFill>
                <a:srgbClr val="000000"/>
              </a:solidFill>
              <a:latin typeface="Arial"/>
            </a:endParaRPr>
          </a:p>
        </p:txBody>
      </p:sp>
      <p:sp>
        <p:nvSpPr>
          <p:cNvPr id="1232" name="Text 4"/>
          <p:cNvSpPr/>
          <p:nvPr/>
        </p:nvSpPr>
        <p:spPr>
          <a:xfrm>
            <a:off x="3611880" y="178308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Reduction in log-loss versus a reference, in bits. The core scoring metric.</a:t>
            </a:r>
            <a:endParaRPr lang="en-US" sz="1250" b="0" strike="noStrike" spc="-1">
              <a:solidFill>
                <a:srgbClr val="000000"/>
              </a:solidFill>
              <a:latin typeface="Arial"/>
            </a:endParaRPr>
          </a:p>
        </p:txBody>
      </p:sp>
      <p:sp>
        <p:nvSpPr>
          <p:cNvPr id="1233" name="Shape 5"/>
          <p:cNvSpPr/>
          <p:nvPr/>
        </p:nvSpPr>
        <p:spPr>
          <a:xfrm>
            <a:off x="548640" y="255132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34" name="Text 6"/>
          <p:cNvSpPr/>
          <p:nvPr/>
        </p:nvSpPr>
        <p:spPr>
          <a:xfrm>
            <a:off x="777240" y="264276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Climatology</a:t>
            </a:r>
            <a:endParaRPr lang="en-US" sz="1500" b="0" strike="noStrike" spc="-1">
              <a:solidFill>
                <a:srgbClr val="000000"/>
              </a:solidFill>
              <a:latin typeface="Arial"/>
            </a:endParaRPr>
          </a:p>
        </p:txBody>
      </p:sp>
      <p:sp>
        <p:nvSpPr>
          <p:cNvPr id="1235" name="Text 7"/>
          <p:cNvSpPr/>
          <p:nvPr/>
        </p:nvSpPr>
        <p:spPr>
          <a:xfrm>
            <a:off x="3611880" y="264276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The historical base rate — the easy baseline every forecast must beat.</a:t>
            </a:r>
            <a:endParaRPr lang="en-US" sz="1250" b="0" strike="noStrike" spc="-1">
              <a:solidFill>
                <a:srgbClr val="000000"/>
              </a:solidFill>
              <a:latin typeface="Arial"/>
            </a:endParaRPr>
          </a:p>
        </p:txBody>
      </p:sp>
      <p:sp>
        <p:nvSpPr>
          <p:cNvPr id="1236" name="Shape 8"/>
          <p:cNvSpPr/>
          <p:nvPr/>
        </p:nvSpPr>
        <p:spPr>
          <a:xfrm>
            <a:off x="548640" y="341064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37" name="Text 9"/>
          <p:cNvSpPr/>
          <p:nvPr/>
        </p:nvSpPr>
        <p:spPr>
          <a:xfrm>
            <a:off x="777240" y="350208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ETAS</a:t>
            </a:r>
            <a:endParaRPr lang="en-US" sz="1500" b="0" strike="noStrike" spc="-1">
              <a:solidFill>
                <a:srgbClr val="000000"/>
              </a:solidFill>
              <a:latin typeface="Arial"/>
            </a:endParaRPr>
          </a:p>
        </p:txBody>
      </p:sp>
      <p:sp>
        <p:nvSpPr>
          <p:cNvPr id="1238" name="Text 10"/>
          <p:cNvSpPr/>
          <p:nvPr/>
        </p:nvSpPr>
        <p:spPr>
          <a:xfrm>
            <a:off x="3611880" y="350208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Epidemic-Type Aftershock Sequence: a 5-parameter physics model of earthquake triggering.</a:t>
            </a:r>
            <a:endParaRPr lang="en-US" sz="1250" b="0" strike="noStrike" spc="-1">
              <a:solidFill>
                <a:srgbClr val="000000"/>
              </a:solidFill>
              <a:latin typeface="Arial"/>
            </a:endParaRPr>
          </a:p>
        </p:txBody>
      </p:sp>
      <p:sp>
        <p:nvSpPr>
          <p:cNvPr id="1239" name="Shape 11"/>
          <p:cNvSpPr/>
          <p:nvPr/>
        </p:nvSpPr>
        <p:spPr>
          <a:xfrm>
            <a:off x="548640" y="427032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40" name="Text 12"/>
          <p:cNvSpPr/>
          <p:nvPr/>
        </p:nvSpPr>
        <p:spPr>
          <a:xfrm>
            <a:off x="777240" y="436176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Magnitude of completeness (Mc)</a:t>
            </a:r>
            <a:endParaRPr lang="en-US" sz="1500" b="0" strike="noStrike" spc="-1">
              <a:solidFill>
                <a:srgbClr val="000000"/>
              </a:solidFill>
              <a:latin typeface="Arial"/>
            </a:endParaRPr>
          </a:p>
        </p:txBody>
      </p:sp>
      <p:sp>
        <p:nvSpPr>
          <p:cNvPr id="1241" name="Text 13"/>
          <p:cNvSpPr/>
          <p:nvPr/>
        </p:nvSpPr>
        <p:spPr>
          <a:xfrm>
            <a:off x="3611880" y="436176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The magnitude above which a catalog records essentially all events.</a:t>
            </a:r>
            <a:endParaRPr lang="en-US" sz="1250" b="0" strike="noStrike" spc="-1">
              <a:solidFill>
                <a:srgbClr val="000000"/>
              </a:solidFill>
              <a:latin typeface="Arial"/>
            </a:endParaRPr>
          </a:p>
        </p:txBody>
      </p:sp>
      <p:sp>
        <p:nvSpPr>
          <p:cNvPr id="1242" name="Shape 14"/>
          <p:cNvSpPr/>
          <p:nvPr/>
        </p:nvSpPr>
        <p:spPr>
          <a:xfrm>
            <a:off x="548640" y="512964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43" name="Text 15"/>
          <p:cNvSpPr/>
          <p:nvPr/>
        </p:nvSpPr>
        <p:spPr>
          <a:xfrm>
            <a:off x="777240" y="522108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b-value</a:t>
            </a:r>
            <a:endParaRPr lang="en-US" sz="1500" b="0" strike="noStrike" spc="-1">
              <a:solidFill>
                <a:srgbClr val="000000"/>
              </a:solidFill>
              <a:latin typeface="Arial"/>
            </a:endParaRPr>
          </a:p>
        </p:txBody>
      </p:sp>
      <p:sp>
        <p:nvSpPr>
          <p:cNvPr id="1244" name="Text 16"/>
          <p:cNvSpPr/>
          <p:nvPr/>
        </p:nvSpPr>
        <p:spPr>
          <a:xfrm>
            <a:off x="3611880" y="522108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Slope of the Gutenberg–Richter law; ~1.0 means small quakes greatly outnumber large.</a:t>
            </a:r>
            <a:endParaRPr lang="en-US" sz="1250" b="0" strike="noStrike" spc="-1">
              <a:solidFill>
                <a:srgbClr val="000000"/>
              </a:solidFill>
              <a:latin typeface="Arial"/>
            </a:endParaRPr>
          </a:p>
        </p:txBody>
      </p:sp>
      <p:sp>
        <p:nvSpPr>
          <p:cNvPr id="1245" name="Shape 17"/>
          <p:cNvSpPr/>
          <p:nvPr/>
        </p:nvSpPr>
        <p:spPr>
          <a:xfrm>
            <a:off x="548640" y="598932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46" name="Text 18"/>
          <p:cNvSpPr/>
          <p:nvPr/>
        </p:nvSpPr>
        <p:spPr>
          <a:xfrm>
            <a:off x="777240" y="608076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Calibration (ECE)</a:t>
            </a:r>
            <a:endParaRPr lang="en-US" sz="1500" b="0" strike="noStrike" spc="-1">
              <a:solidFill>
                <a:srgbClr val="000000"/>
              </a:solidFill>
              <a:latin typeface="Arial"/>
            </a:endParaRPr>
          </a:p>
        </p:txBody>
      </p:sp>
      <p:sp>
        <p:nvSpPr>
          <p:cNvPr id="1247" name="Text 19"/>
          <p:cNvSpPr/>
          <p:nvPr/>
        </p:nvSpPr>
        <p:spPr>
          <a:xfrm>
            <a:off x="3611880" y="608076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Whether stated probabilities match observed frequencies; Expected Calibration Error measures the gap.</a:t>
            </a:r>
            <a:endParaRPr lang="en-US" sz="1250" b="0" strike="noStrike" spc="-1">
              <a:solidFill>
                <a:srgbClr val="000000"/>
              </a:solidFill>
              <a:latin typeface="Arial"/>
            </a:endParaRPr>
          </a:p>
        </p:txBody>
      </p:sp>
      <p:sp>
        <p:nvSpPr>
          <p:cNvPr id="1248" name="Text 20"/>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Reference</a:t>
            </a:r>
            <a:endParaRPr lang="en-US" sz="1000" b="0" strike="noStrike" spc="-1">
              <a:solidFill>
                <a:srgbClr val="000000"/>
              </a:solidFill>
              <a:latin typeface="Arial"/>
            </a:endParaRPr>
          </a:p>
        </p:txBody>
      </p:sp>
      <p:sp>
        <p:nvSpPr>
          <p:cNvPr id="1249" name="Text 21"/>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250" name="Text 22"/>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92</a:t>
            </a:r>
            <a:endParaRPr lang="en-US" sz="1000" b="0" strike="noStrike" spc="-1">
              <a:solidFill>
                <a:srgbClr val="000000"/>
              </a:solidFill>
              <a:latin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251"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5B6B7A"/>
                </a:solidFill>
                <a:latin typeface="Calibri"/>
                <a:ea typeface="Calibri"/>
              </a:rPr>
              <a:t>REFERENCE</a:t>
            </a:r>
            <a:endParaRPr lang="en-US" sz="1300" b="0" strike="noStrike" spc="-1">
              <a:solidFill>
                <a:srgbClr val="000000"/>
              </a:solidFill>
              <a:latin typeface="Arial"/>
            </a:endParaRPr>
          </a:p>
        </p:txBody>
      </p:sp>
      <p:sp>
        <p:nvSpPr>
          <p:cNvPr id="1252"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Glossary — the terms you'll meet (2/2)</a:t>
            </a:r>
            <a:endParaRPr lang="en-US" sz="3000" b="0" strike="noStrike" spc="-1">
              <a:solidFill>
                <a:srgbClr val="000000"/>
              </a:solidFill>
              <a:latin typeface="Arial"/>
            </a:endParaRPr>
          </a:p>
        </p:txBody>
      </p:sp>
      <p:sp>
        <p:nvSpPr>
          <p:cNvPr id="1253" name="Shape 2"/>
          <p:cNvSpPr/>
          <p:nvPr/>
        </p:nvSpPr>
        <p:spPr>
          <a:xfrm>
            <a:off x="548640" y="169164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54" name="Text 3"/>
          <p:cNvSpPr/>
          <p:nvPr/>
        </p:nvSpPr>
        <p:spPr>
          <a:xfrm>
            <a:off x="777240" y="178308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Isotonic regression</a:t>
            </a:r>
            <a:endParaRPr lang="en-US" sz="1500" b="0" strike="noStrike" spc="-1">
              <a:solidFill>
                <a:srgbClr val="000000"/>
              </a:solidFill>
              <a:latin typeface="Arial"/>
            </a:endParaRPr>
          </a:p>
        </p:txBody>
      </p:sp>
      <p:sp>
        <p:nvSpPr>
          <p:cNvPr id="1255" name="Text 4"/>
          <p:cNvSpPr/>
          <p:nvPr/>
        </p:nvSpPr>
        <p:spPr>
          <a:xfrm>
            <a:off x="3611880" y="178308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A monotone mapping that recalibrates raw model scores to true frequencies.</a:t>
            </a:r>
            <a:endParaRPr lang="en-US" sz="1250" b="0" strike="noStrike" spc="-1">
              <a:solidFill>
                <a:srgbClr val="000000"/>
              </a:solidFill>
              <a:latin typeface="Arial"/>
            </a:endParaRPr>
          </a:p>
        </p:txBody>
      </p:sp>
      <p:sp>
        <p:nvSpPr>
          <p:cNvPr id="1256" name="Shape 5"/>
          <p:cNvSpPr/>
          <p:nvPr/>
        </p:nvSpPr>
        <p:spPr>
          <a:xfrm>
            <a:off x="548640" y="255132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57" name="Text 6"/>
          <p:cNvSpPr/>
          <p:nvPr/>
        </p:nvSpPr>
        <p:spPr>
          <a:xfrm>
            <a:off x="777240" y="264276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Leakage</a:t>
            </a:r>
            <a:endParaRPr lang="en-US" sz="1500" b="0" strike="noStrike" spc="-1">
              <a:solidFill>
                <a:srgbClr val="000000"/>
              </a:solidFill>
              <a:latin typeface="Arial"/>
            </a:endParaRPr>
          </a:p>
        </p:txBody>
      </p:sp>
      <p:sp>
        <p:nvSpPr>
          <p:cNvPr id="1258" name="Text 7"/>
          <p:cNvSpPr/>
          <p:nvPr/>
        </p:nvSpPr>
        <p:spPr>
          <a:xfrm>
            <a:off x="3611880" y="264276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Future or held-out information contaminating features or validation. The silent killer.</a:t>
            </a:r>
            <a:endParaRPr lang="en-US" sz="1250" b="0" strike="noStrike" spc="-1">
              <a:solidFill>
                <a:srgbClr val="000000"/>
              </a:solidFill>
              <a:latin typeface="Arial"/>
            </a:endParaRPr>
          </a:p>
        </p:txBody>
      </p:sp>
      <p:sp>
        <p:nvSpPr>
          <p:cNvPr id="1259" name="Shape 8"/>
          <p:cNvSpPr/>
          <p:nvPr/>
        </p:nvSpPr>
        <p:spPr>
          <a:xfrm>
            <a:off x="548640" y="341064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60" name="Text 9"/>
          <p:cNvSpPr/>
          <p:nvPr/>
        </p:nvSpPr>
        <p:spPr>
          <a:xfrm>
            <a:off x="777240" y="350208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Angle encoding</a:t>
            </a:r>
            <a:endParaRPr lang="en-US" sz="1500" b="0" strike="noStrike" spc="-1">
              <a:solidFill>
                <a:srgbClr val="000000"/>
              </a:solidFill>
              <a:latin typeface="Arial"/>
            </a:endParaRPr>
          </a:p>
        </p:txBody>
      </p:sp>
      <p:sp>
        <p:nvSpPr>
          <p:cNvPr id="1261" name="Text 10"/>
          <p:cNvSpPr/>
          <p:nvPr/>
        </p:nvSpPr>
        <p:spPr>
          <a:xfrm>
            <a:off x="3611880" y="350208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Loading a feature onto a qubit as a rotation angle — the basic quantum data-loading step.</a:t>
            </a:r>
            <a:endParaRPr lang="en-US" sz="1250" b="0" strike="noStrike" spc="-1">
              <a:solidFill>
                <a:srgbClr val="000000"/>
              </a:solidFill>
              <a:latin typeface="Arial"/>
            </a:endParaRPr>
          </a:p>
        </p:txBody>
      </p:sp>
      <p:sp>
        <p:nvSpPr>
          <p:cNvPr id="1262" name="Shape 11"/>
          <p:cNvSpPr/>
          <p:nvPr/>
        </p:nvSpPr>
        <p:spPr>
          <a:xfrm>
            <a:off x="548640" y="427032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63" name="Text 12"/>
          <p:cNvSpPr/>
          <p:nvPr/>
        </p:nvSpPr>
        <p:spPr>
          <a:xfrm>
            <a:off x="777240" y="436176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Quantum kernel</a:t>
            </a:r>
            <a:endParaRPr lang="en-US" sz="1500" b="0" strike="noStrike" spc="-1">
              <a:solidFill>
                <a:srgbClr val="000000"/>
              </a:solidFill>
              <a:latin typeface="Arial"/>
            </a:endParaRPr>
          </a:p>
        </p:txBody>
      </p:sp>
      <p:sp>
        <p:nvSpPr>
          <p:cNvPr id="1264" name="Text 13"/>
          <p:cNvSpPr/>
          <p:nvPr/>
        </p:nvSpPr>
        <p:spPr>
          <a:xfrm>
            <a:off x="3611880" y="436176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Similarity between points measured by quantum-state overlap, fed to a classical SVM.</a:t>
            </a:r>
            <a:endParaRPr lang="en-US" sz="1250" b="0" strike="noStrike" spc="-1">
              <a:solidFill>
                <a:srgbClr val="000000"/>
              </a:solidFill>
              <a:latin typeface="Arial"/>
            </a:endParaRPr>
          </a:p>
        </p:txBody>
      </p:sp>
      <p:sp>
        <p:nvSpPr>
          <p:cNvPr id="1265" name="Shape 14"/>
          <p:cNvSpPr/>
          <p:nvPr/>
        </p:nvSpPr>
        <p:spPr>
          <a:xfrm>
            <a:off x="548640" y="512964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66" name="Text 15"/>
          <p:cNvSpPr/>
          <p:nvPr/>
        </p:nvSpPr>
        <p:spPr>
          <a:xfrm>
            <a:off x="777240" y="522108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Barren plateau</a:t>
            </a:r>
            <a:endParaRPr lang="en-US" sz="1500" b="0" strike="noStrike" spc="-1">
              <a:solidFill>
                <a:srgbClr val="000000"/>
              </a:solidFill>
              <a:latin typeface="Arial"/>
            </a:endParaRPr>
          </a:p>
        </p:txBody>
      </p:sp>
      <p:sp>
        <p:nvSpPr>
          <p:cNvPr id="1267" name="Text 16"/>
          <p:cNvSpPr/>
          <p:nvPr/>
        </p:nvSpPr>
        <p:spPr>
          <a:xfrm>
            <a:off x="3611880" y="522108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Exponentially vanishing gradients that make large variational quantum circuits untrainable.</a:t>
            </a:r>
            <a:endParaRPr lang="en-US" sz="1250" b="0" strike="noStrike" spc="-1">
              <a:solidFill>
                <a:srgbClr val="000000"/>
              </a:solidFill>
              <a:latin typeface="Arial"/>
            </a:endParaRPr>
          </a:p>
        </p:txBody>
      </p:sp>
      <p:sp>
        <p:nvSpPr>
          <p:cNvPr id="1268" name="Shape 17"/>
          <p:cNvSpPr/>
          <p:nvPr/>
        </p:nvSpPr>
        <p:spPr>
          <a:xfrm>
            <a:off x="548640" y="5989320"/>
            <a:ext cx="11091240" cy="749520"/>
          </a:xfrm>
          <a:prstGeom prst="roundRect">
            <a:avLst>
              <a:gd name="adj" fmla="val 9756"/>
            </a:avLst>
          </a:prstGeom>
          <a:solidFill>
            <a:srgbClr val="FFFFFF"/>
          </a:solidFill>
          <a:ln w="12700">
            <a:solidFill>
              <a:srgbClr val="D9D4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69" name="Text 18"/>
          <p:cNvSpPr/>
          <p:nvPr/>
        </p:nvSpPr>
        <p:spPr>
          <a:xfrm>
            <a:off x="777240" y="6080760"/>
            <a:ext cx="27428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6202B"/>
                </a:solidFill>
                <a:latin typeface="Cambria"/>
                <a:ea typeface="Cambria"/>
              </a:rPr>
              <a:t>Permutation importance</a:t>
            </a:r>
            <a:endParaRPr lang="en-US" sz="1500" b="0" strike="noStrike" spc="-1">
              <a:solidFill>
                <a:srgbClr val="000000"/>
              </a:solidFill>
              <a:latin typeface="Arial"/>
            </a:endParaRPr>
          </a:p>
        </p:txBody>
      </p:sp>
      <p:sp>
        <p:nvSpPr>
          <p:cNvPr id="1270" name="Text 19"/>
          <p:cNvSpPr/>
          <p:nvPr/>
        </p:nvSpPr>
        <p:spPr>
          <a:xfrm>
            <a:off x="3611880" y="6080760"/>
            <a:ext cx="7863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1250" b="0" strike="noStrike" spc="-1">
                <a:solidFill>
                  <a:srgbClr val="5B6B7A"/>
                </a:solidFill>
                <a:latin typeface="Calibri"/>
                <a:ea typeface="Calibri"/>
              </a:rPr>
              <a:t>Held-out feature value measured by shuffling; the honest counterpart to tree gain.</a:t>
            </a:r>
            <a:endParaRPr lang="en-US" sz="1250" b="0" strike="noStrike" spc="-1">
              <a:solidFill>
                <a:srgbClr val="000000"/>
              </a:solidFill>
              <a:latin typeface="Arial"/>
            </a:endParaRPr>
          </a:p>
        </p:txBody>
      </p:sp>
      <p:sp>
        <p:nvSpPr>
          <p:cNvPr id="1271" name="Text 20"/>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Reference</a:t>
            </a:r>
            <a:endParaRPr lang="en-US" sz="1000" b="0" strike="noStrike" spc="-1">
              <a:solidFill>
                <a:srgbClr val="000000"/>
              </a:solidFill>
              <a:latin typeface="Arial"/>
            </a:endParaRPr>
          </a:p>
        </p:txBody>
      </p:sp>
      <p:sp>
        <p:nvSpPr>
          <p:cNvPr id="1272" name="Text 21"/>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273" name="Text 22"/>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93</a:t>
            </a:r>
            <a:endParaRPr lang="en-US" sz="1000" b="0" strike="noStrike" spc="-1">
              <a:solidFill>
                <a:srgbClr val="000000"/>
              </a:solidFill>
              <a:latin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274"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C0392B"/>
                </a:solidFill>
                <a:latin typeface="Calibri"/>
                <a:ea typeface="Calibri"/>
              </a:rPr>
              <a:t>VALIDATION · DEEP DIVE</a:t>
            </a:r>
            <a:endParaRPr lang="en-US" sz="1300" b="0" strike="noStrike" spc="-1">
              <a:solidFill>
                <a:srgbClr val="000000"/>
              </a:solidFill>
              <a:latin typeface="Arial"/>
            </a:endParaRPr>
          </a:p>
        </p:txBody>
      </p:sp>
      <p:sp>
        <p:nvSpPr>
          <p:cNvPr id="1275"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The leakage self-check, visualized</a:t>
            </a:r>
            <a:endParaRPr lang="en-US" sz="3000" b="0" strike="noStrike" spc="-1">
              <a:solidFill>
                <a:srgbClr val="000000"/>
              </a:solidFill>
              <a:latin typeface="Arial"/>
            </a:endParaRPr>
          </a:p>
        </p:txBody>
      </p:sp>
      <p:pic>
        <p:nvPicPr>
          <p:cNvPr id="1276" name="Image 0" descr="figs/full_31.png"/>
          <p:cNvPicPr/>
          <p:nvPr/>
        </p:nvPicPr>
        <p:blipFill>
          <a:blip r:embed="rId3"/>
          <a:stretch/>
        </p:blipFill>
        <p:spPr>
          <a:xfrm>
            <a:off x="598680" y="1645920"/>
            <a:ext cx="10963440" cy="3657240"/>
          </a:xfrm>
          <a:prstGeom prst="rect">
            <a:avLst/>
          </a:prstGeom>
          <a:ln w="0">
            <a:noFill/>
          </a:ln>
        </p:spPr>
      </p:pic>
      <p:sp>
        <p:nvSpPr>
          <p:cNvPr id="1277"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Two guards against fooling yourself: the test-vs-blind agreement (left) and the reliability of the final probabilities (right). When blind performance meets or exceeds the self-reported number, you have evidence you did not leak.</a:t>
            </a:r>
            <a:endParaRPr lang="en-US" sz="1100" b="0" strike="noStrike" spc="-1">
              <a:solidFill>
                <a:srgbClr val="000000"/>
              </a:solidFill>
              <a:latin typeface="Arial"/>
            </a:endParaRPr>
          </a:p>
        </p:txBody>
      </p:sp>
      <p:sp>
        <p:nvSpPr>
          <p:cNvPr id="1278"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79"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80"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The reference's self-reported test IG was +0.110 and its blind IG was +0.134 — the blind score went UP. A model that improves out of sample is the opposite of a leaking one.</a:t>
            </a:r>
            <a:endParaRPr lang="en-US" sz="1350" b="0" strike="noStrike" spc="-1">
              <a:solidFill>
                <a:srgbClr val="000000"/>
              </a:solidFill>
              <a:latin typeface="Arial"/>
            </a:endParaRPr>
          </a:p>
        </p:txBody>
      </p:sp>
      <p:sp>
        <p:nvSpPr>
          <p:cNvPr id="1281"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282"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283"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94</a:t>
            </a:r>
            <a:endParaRPr lang="en-US" sz="1000" b="0" strike="noStrike" spc="-1">
              <a:solidFill>
                <a:srgbClr val="000000"/>
              </a:solidFill>
              <a:latin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284"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2E7D53"/>
                </a:solidFill>
                <a:latin typeface="Calibri"/>
                <a:ea typeface="Calibri"/>
              </a:rPr>
              <a:t>VALIDATION · DEEP DIVE</a:t>
            </a:r>
            <a:endParaRPr lang="en-US" sz="1300" b="0" strike="noStrike" spc="-1">
              <a:solidFill>
                <a:srgbClr val="000000"/>
              </a:solidFill>
              <a:latin typeface="Arial"/>
            </a:endParaRPr>
          </a:p>
        </p:txBody>
      </p:sp>
      <p:sp>
        <p:nvSpPr>
          <p:cNvPr id="1285"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Skill, window by window</a:t>
            </a:r>
            <a:endParaRPr lang="en-US" sz="3000" b="0" strike="noStrike" spc="-1">
              <a:solidFill>
                <a:srgbClr val="000000"/>
              </a:solidFill>
              <a:latin typeface="Arial"/>
            </a:endParaRPr>
          </a:p>
        </p:txBody>
      </p:sp>
      <p:pic>
        <p:nvPicPr>
          <p:cNvPr id="1286" name="Image 0" descr="figs/full_32.png"/>
          <p:cNvPicPr/>
          <p:nvPr/>
        </p:nvPicPr>
        <p:blipFill>
          <a:blip r:embed="rId3"/>
          <a:stretch/>
        </p:blipFill>
        <p:spPr>
          <a:xfrm>
            <a:off x="3616560" y="1645920"/>
            <a:ext cx="4928040" cy="3657240"/>
          </a:xfrm>
          <a:prstGeom prst="rect">
            <a:avLst/>
          </a:prstGeom>
          <a:ln w="0">
            <a:noFill/>
          </a:ln>
        </p:spPr>
      </p:pic>
      <p:sp>
        <p:nvSpPr>
          <p:cNvPr id="1287"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Information gain and event counts for each of the 15 lead windows. Windows with more activity carry more information; the forecast tracks the real variation rather than emitting a flat prior.</a:t>
            </a:r>
            <a:endParaRPr lang="en-US" sz="1100" b="0" strike="noStrike" spc="-1">
              <a:solidFill>
                <a:srgbClr val="000000"/>
              </a:solidFill>
              <a:latin typeface="Arial"/>
            </a:endParaRPr>
          </a:p>
        </p:txBody>
      </p:sp>
      <p:sp>
        <p:nvSpPr>
          <p:cNvPr id="1288"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89"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90"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A forecast that varies sensibly with the actual activity level — more confident when there is more to say — is behaving like a forecast, not a lookup table.</a:t>
            </a:r>
            <a:endParaRPr lang="en-US" sz="1350" b="0" strike="noStrike" spc="-1">
              <a:solidFill>
                <a:srgbClr val="000000"/>
              </a:solidFill>
              <a:latin typeface="Arial"/>
            </a:endParaRPr>
          </a:p>
        </p:txBody>
      </p:sp>
      <p:sp>
        <p:nvSpPr>
          <p:cNvPr id="1291"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292"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293"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95</a:t>
            </a:r>
            <a:endParaRPr lang="en-US" sz="1000" b="0" strike="noStrike" spc="-1">
              <a:solidFill>
                <a:srgbClr val="000000"/>
              </a:solidFill>
              <a:latin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294"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DEPLOYMENT · DEEP DIVE</a:t>
            </a:r>
            <a:endParaRPr lang="en-US" sz="1300" b="0" strike="noStrike" spc="-1">
              <a:solidFill>
                <a:srgbClr val="000000"/>
              </a:solidFill>
              <a:latin typeface="Arial"/>
            </a:endParaRPr>
          </a:p>
        </p:txBody>
      </p:sp>
      <p:sp>
        <p:nvSpPr>
          <p:cNvPr id="1295"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Forecast vs. what actually happened</a:t>
            </a:r>
            <a:endParaRPr lang="en-US" sz="3000" b="0" strike="noStrike" spc="-1">
              <a:solidFill>
                <a:srgbClr val="000000"/>
              </a:solidFill>
              <a:latin typeface="Arial"/>
            </a:endParaRPr>
          </a:p>
        </p:txBody>
      </p:sp>
      <p:pic>
        <p:nvPicPr>
          <p:cNvPr id="1296" name="Image 0" descr="figs/full_34.png"/>
          <p:cNvPicPr/>
          <p:nvPr/>
        </p:nvPicPr>
        <p:blipFill>
          <a:blip r:embed="rId3"/>
          <a:stretch/>
        </p:blipFill>
        <p:spPr>
          <a:xfrm>
            <a:off x="1653840" y="1645920"/>
            <a:ext cx="8853480" cy="3657240"/>
          </a:xfrm>
          <a:prstGeom prst="rect">
            <a:avLst/>
          </a:prstGeom>
          <a:ln w="0">
            <a:noFill/>
          </a:ln>
        </p:spPr>
      </p:pic>
      <p:sp>
        <p:nvSpPr>
          <p:cNvPr id="1297" name="Text 2"/>
          <p:cNvSpPr/>
          <p:nvPr/>
        </p:nvSpPr>
        <p:spPr>
          <a:xfrm>
            <a:off x="548640" y="53402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95000"/>
              </a:lnSpc>
              <a:tabLst>
                <a:tab pos="0" algn="l"/>
              </a:tabLst>
            </a:pPr>
            <a:r>
              <a:rPr lang="en-US" sz="1100" b="0" i="1" strike="noStrike" spc="-1">
                <a:solidFill>
                  <a:srgbClr val="5B6B7A"/>
                </a:solidFill>
                <a:latin typeface="Calibri"/>
                <a:ea typeface="Calibri"/>
              </a:rPr>
              <a:t>Side by side: the predicted probability surface and the observed events for a window. The forecast concentrates probability where events actually cluster — without ever having seen this window.</a:t>
            </a:r>
            <a:endParaRPr lang="en-US" sz="1100" b="0" strike="noStrike" spc="-1">
              <a:solidFill>
                <a:srgbClr val="000000"/>
              </a:solidFill>
              <a:latin typeface="Arial"/>
            </a:endParaRPr>
          </a:p>
        </p:txBody>
      </p:sp>
      <p:sp>
        <p:nvSpPr>
          <p:cNvPr id="1298" name="Shape 3"/>
          <p:cNvSpPr/>
          <p:nvPr/>
        </p:nvSpPr>
        <p:spPr>
          <a:xfrm>
            <a:off x="548640" y="5532120"/>
            <a:ext cx="11063880" cy="749520"/>
          </a:xfrm>
          <a:prstGeom prst="roundRect">
            <a:avLst>
              <a:gd name="adj" fmla="val 9756"/>
            </a:avLst>
          </a:prstGeom>
          <a:solidFill>
            <a:srgbClr val="FBF3E4"/>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99" name="Shape 4"/>
          <p:cNvSpPr/>
          <p:nvPr/>
        </p:nvSpPr>
        <p:spPr>
          <a:xfrm>
            <a:off x="749880" y="57060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00" name="Text 5"/>
          <p:cNvSpPr/>
          <p:nvPr/>
        </p:nvSpPr>
        <p:spPr>
          <a:xfrm>
            <a:off x="987480" y="5596200"/>
            <a:ext cx="104238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8000"/>
              </a:lnSpc>
              <a:tabLst>
                <a:tab pos="0" algn="l"/>
              </a:tabLst>
            </a:pPr>
            <a:r>
              <a:rPr lang="en-US" sz="1350" b="1" strike="noStrike" spc="-1">
                <a:solidFill>
                  <a:srgbClr val="8E2A20"/>
                </a:solidFill>
                <a:latin typeface="Calibri"/>
                <a:ea typeface="Calibri"/>
              </a:rPr>
              <a:t>Takeaway   </a:t>
            </a:r>
            <a:r>
              <a:rPr lang="en-US" sz="1350" b="0" strike="noStrike" spc="-1">
                <a:solidFill>
                  <a:srgbClr val="16202B"/>
                </a:solidFill>
                <a:latin typeface="Calibri"/>
                <a:ea typeface="Calibri"/>
              </a:rPr>
              <a:t>Overlaying prediction and truth is the most honest self-assessment there is. If your high-probability cells and the real events don't visually coincide, no metric will save you.</a:t>
            </a:r>
            <a:endParaRPr lang="en-US" sz="1350" b="0" strike="noStrike" spc="-1">
              <a:solidFill>
                <a:srgbClr val="000000"/>
              </a:solidFill>
              <a:latin typeface="Arial"/>
            </a:endParaRPr>
          </a:p>
        </p:txBody>
      </p:sp>
      <p:sp>
        <p:nvSpPr>
          <p:cNvPr id="1301" name="Text 6"/>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302" name="Text 7"/>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303" name="Text 8"/>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96</a:t>
            </a:r>
            <a:endParaRPr lang="en-US" sz="1000" b="0" strike="noStrike" spc="-1">
              <a:solidFill>
                <a:srgbClr val="000000"/>
              </a:solidFill>
              <a:latin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304"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5B6B7A"/>
                </a:solidFill>
                <a:latin typeface="Calibri"/>
                <a:ea typeface="Calibri"/>
              </a:rPr>
              <a:t>TWO WAYS IN</a:t>
            </a:r>
            <a:endParaRPr lang="en-US" sz="1300" b="0" strike="noStrike" spc="-1">
              <a:solidFill>
                <a:srgbClr val="000000"/>
              </a:solidFill>
              <a:latin typeface="Arial"/>
            </a:endParaRPr>
          </a:p>
        </p:txBody>
      </p:sp>
      <p:sp>
        <p:nvSpPr>
          <p:cNvPr id="1305"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Wherever you're starting from</a:t>
            </a:r>
            <a:endParaRPr lang="en-US" sz="3000" b="0" strike="noStrike" spc="-1">
              <a:solidFill>
                <a:srgbClr val="000000"/>
              </a:solidFill>
              <a:latin typeface="Arial"/>
            </a:endParaRPr>
          </a:p>
        </p:txBody>
      </p:sp>
      <p:sp>
        <p:nvSpPr>
          <p:cNvPr id="1306" name="Shape 2"/>
          <p:cNvSpPr/>
          <p:nvPr/>
        </p:nvSpPr>
        <p:spPr>
          <a:xfrm>
            <a:off x="548640" y="1691640"/>
            <a:ext cx="5851800" cy="2148480"/>
          </a:xfrm>
          <a:prstGeom prst="roundRect">
            <a:avLst>
              <a:gd name="adj" fmla="val 3404"/>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07" name="Shape 3"/>
          <p:cNvSpPr/>
          <p:nvPr/>
        </p:nvSpPr>
        <p:spPr>
          <a:xfrm>
            <a:off x="731520" y="2619720"/>
            <a:ext cx="292320" cy="2923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08" name="Text 4"/>
          <p:cNvSpPr/>
          <p:nvPr/>
        </p:nvSpPr>
        <p:spPr>
          <a:xfrm>
            <a:off x="1170360" y="1801440"/>
            <a:ext cx="5120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If you're a quantum / CS person</a:t>
            </a:r>
            <a:endParaRPr lang="en-US" sz="1450" b="0" strike="noStrike" spc="-1">
              <a:solidFill>
                <a:srgbClr val="000000"/>
              </a:solidFill>
              <a:latin typeface="Arial"/>
            </a:endParaRPr>
          </a:p>
        </p:txBody>
      </p:sp>
      <p:sp>
        <p:nvSpPr>
          <p:cNvPr id="1309" name="Text 5"/>
          <p:cNvSpPr/>
          <p:nvPr/>
        </p:nvSpPr>
        <p:spPr>
          <a:xfrm>
            <a:off x="1170360" y="2094120"/>
            <a:ext cx="506556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dirty="0">
                <a:solidFill>
                  <a:srgbClr val="5B6B7A"/>
                </a:solidFill>
                <a:latin typeface="Calibri"/>
                <a:ea typeface="Calibri"/>
              </a:rPr>
              <a:t>Your instinct is to reach for the most powerful model. Resist it. Spend your first </a:t>
            </a:r>
            <a:r>
              <a:rPr lang="en-US" sz="1200" spc="-1" dirty="0">
                <a:solidFill>
                  <a:srgbClr val="5B6B7A"/>
                </a:solidFill>
                <a:latin typeface="Calibri"/>
                <a:ea typeface="Calibri"/>
              </a:rPr>
              <a:t>time</a:t>
            </a:r>
            <a:r>
              <a:rPr lang="en-US" sz="1200" b="0" strike="noStrike" spc="-1" dirty="0">
                <a:solidFill>
                  <a:srgbClr val="5B6B7A"/>
                </a:solidFill>
                <a:latin typeface="Calibri"/>
                <a:ea typeface="Calibri"/>
              </a:rPr>
              <a:t> on Modules 3 and 5 — the physics baseline and calibration. The quantum content in Module 6 only matters once you can beat climatology honestly.</a:t>
            </a:r>
            <a:endParaRPr lang="en-US" sz="1200" b="0" strike="noStrike" spc="-1" dirty="0">
              <a:solidFill>
                <a:srgbClr val="000000"/>
              </a:solidFill>
              <a:latin typeface="Arial"/>
            </a:endParaRPr>
          </a:p>
        </p:txBody>
      </p:sp>
      <p:sp>
        <p:nvSpPr>
          <p:cNvPr id="1310" name="Shape 6"/>
          <p:cNvSpPr/>
          <p:nvPr/>
        </p:nvSpPr>
        <p:spPr>
          <a:xfrm>
            <a:off x="548640" y="4023360"/>
            <a:ext cx="5851800" cy="2148480"/>
          </a:xfrm>
          <a:prstGeom prst="roundRect">
            <a:avLst>
              <a:gd name="adj" fmla="val 3404"/>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11" name="Shape 7"/>
          <p:cNvSpPr/>
          <p:nvPr/>
        </p:nvSpPr>
        <p:spPr>
          <a:xfrm>
            <a:off x="731520" y="495144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12" name="Text 8"/>
          <p:cNvSpPr/>
          <p:nvPr/>
        </p:nvSpPr>
        <p:spPr>
          <a:xfrm>
            <a:off x="1170360" y="4133160"/>
            <a:ext cx="5120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If you're a geoscientist</a:t>
            </a:r>
            <a:endParaRPr lang="en-US" sz="1450" b="0" strike="noStrike" spc="-1">
              <a:solidFill>
                <a:srgbClr val="000000"/>
              </a:solidFill>
              <a:latin typeface="Arial"/>
            </a:endParaRPr>
          </a:p>
        </p:txBody>
      </p:sp>
      <p:sp>
        <p:nvSpPr>
          <p:cNvPr id="1313" name="Text 9"/>
          <p:cNvSpPr/>
          <p:nvPr/>
        </p:nvSpPr>
        <p:spPr>
          <a:xfrm>
            <a:off x="1170360" y="4425840"/>
            <a:ext cx="506556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You already own the physics. Your growth edge is Modules 5 and 6 — rigorous validation and the quantum toolbox. Your ETAS baseline is your superpower; the challenge is proving ML adds anything to it.</a:t>
            </a:r>
            <a:endParaRPr lang="en-US" sz="1200" b="0" strike="noStrike" spc="-1">
              <a:solidFill>
                <a:srgbClr val="000000"/>
              </a:solidFill>
              <a:latin typeface="Arial"/>
            </a:endParaRPr>
          </a:p>
        </p:txBody>
      </p:sp>
      <p:sp>
        <p:nvSpPr>
          <p:cNvPr id="1314" name="Text 10"/>
          <p:cNvSpPr/>
          <p:nvPr/>
        </p:nvSpPr>
        <p:spPr>
          <a:xfrm>
            <a:off x="6766560" y="1691640"/>
            <a:ext cx="487332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dirty="0">
                <a:solidFill>
                  <a:srgbClr val="16202B"/>
                </a:solidFill>
                <a:latin typeface="Calibri"/>
                <a:ea typeface="Calibri"/>
              </a:rPr>
              <a:t>This challenge was built to be humbling from every direction.</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0" strike="noStrike" spc="-1" dirty="0">
                <a:solidFill>
                  <a:srgbClr val="16202B"/>
                </a:solidFill>
                <a:latin typeface="Calibri"/>
                <a:ea typeface="Calibri"/>
              </a:rPr>
              <a:t>The pure ML team can learn that a five-parameter physics model matches their 373-feature pipeline. The pure physics team learns that rigorous calibration and honest uncertainty are their own discipline. The quantum enthusiast learns that measuring a null result is harder — and more valuable — than claiming a win.</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0" i="1" strike="noStrike" spc="-1" dirty="0">
                <a:solidFill>
                  <a:srgbClr val="5B6B7A"/>
                </a:solidFill>
                <a:latin typeface="Calibri"/>
                <a:ea typeface="Calibri"/>
              </a:rPr>
              <a:t>Nobody walks in with all four skills. That is the point.</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0" strike="noStrike" spc="-1" dirty="0">
                <a:solidFill>
                  <a:srgbClr val="16202B"/>
                </a:solidFill>
                <a:latin typeface="Calibri"/>
                <a:ea typeface="Calibri"/>
              </a:rPr>
              <a:t>Read the whole deck once, then return to the two modules furthest from your comfort zone. That is where the learning is.</a:t>
            </a:r>
            <a:endParaRPr lang="en-US" sz="1500" b="0" strike="noStrike" spc="-1" dirty="0">
              <a:solidFill>
                <a:srgbClr val="000000"/>
              </a:solidFill>
              <a:latin typeface="Arial"/>
            </a:endParaRPr>
          </a:p>
        </p:txBody>
      </p:sp>
      <p:sp>
        <p:nvSpPr>
          <p:cNvPr id="1315" name="Text 11"/>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316" name="Text 12"/>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317" name="Text 13"/>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97</a:t>
            </a:r>
            <a:endParaRPr lang="en-US" sz="1000" b="0" strike="noStrike" spc="-1">
              <a:solidFill>
                <a:srgbClr val="000000"/>
              </a:solidFill>
              <a:latin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318"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5B6B7A"/>
                </a:solidFill>
                <a:latin typeface="Calibri"/>
                <a:ea typeface="Calibri"/>
              </a:rPr>
              <a:t>ORIENTATION</a:t>
            </a:r>
            <a:endParaRPr lang="en-US" sz="1300" b="0" strike="noStrike" spc="-1">
              <a:solidFill>
                <a:srgbClr val="000000"/>
              </a:solidFill>
              <a:latin typeface="Arial"/>
            </a:endParaRPr>
          </a:p>
        </p:txBody>
      </p:sp>
      <p:sp>
        <p:nvSpPr>
          <p:cNvPr id="1319"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a:solidFill>
                  <a:srgbClr val="16202B"/>
                </a:solidFill>
                <a:latin typeface="Cambria"/>
                <a:ea typeface="Cambria"/>
              </a:rPr>
              <a:t>How the reference notebook is built</a:t>
            </a:r>
            <a:endParaRPr lang="en-US" sz="3000" b="0" strike="noStrike" spc="-1">
              <a:solidFill>
                <a:srgbClr val="000000"/>
              </a:solidFill>
              <a:latin typeface="Arial"/>
            </a:endParaRPr>
          </a:p>
        </p:txBody>
      </p:sp>
      <p:sp>
        <p:nvSpPr>
          <p:cNvPr id="1320"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spcAft>
                <a:spcPts val="1001"/>
              </a:spcAft>
              <a:tabLst>
                <a:tab pos="0" algn="l"/>
              </a:tabLst>
            </a:pPr>
            <a:r>
              <a:rPr lang="en-US" sz="1500" b="1" strike="noStrike" spc="-1" dirty="0">
                <a:solidFill>
                  <a:srgbClr val="16202B"/>
                </a:solidFill>
                <a:latin typeface="Calibri"/>
                <a:ea typeface="Calibri"/>
              </a:rPr>
              <a:t>Everything in this deck is implemented in one reference notebook, in two parts:</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1" strike="noStrike" spc="-1" dirty="0">
                <a:solidFill>
                  <a:srgbClr val="1F6FB2"/>
                </a:solidFill>
                <a:latin typeface="Calibri"/>
                <a:ea typeface="Calibri"/>
              </a:rPr>
              <a:t>Part I — Data build (these are provided with the package; you do not need to </a:t>
            </a:r>
            <a:r>
              <a:rPr lang="en-US" sz="1500" b="1" strike="noStrike" spc="-1" dirty="0" err="1">
                <a:solidFill>
                  <a:srgbClr val="1F6FB2"/>
                </a:solidFill>
                <a:latin typeface="Calibri"/>
                <a:ea typeface="Calibri"/>
              </a:rPr>
              <a:t>refetch</a:t>
            </a:r>
            <a:r>
              <a:rPr lang="en-US" sz="1500" b="1" strike="noStrike" spc="-1" dirty="0">
                <a:solidFill>
                  <a:srgbClr val="1F6FB2"/>
                </a:solidFill>
                <a:latin typeface="Calibri"/>
                <a:ea typeface="Calibri"/>
              </a:rPr>
              <a:t> them).</a:t>
            </a:r>
            <a:endParaRPr lang="en-US" sz="1500" b="0" strike="noStrike" spc="-1" dirty="0">
              <a:solidFill>
                <a:srgbClr val="000000"/>
              </a:solidFill>
              <a:latin typeface="Arial"/>
            </a:endParaRPr>
          </a:p>
          <a:p>
            <a:pPr>
              <a:lnSpc>
                <a:spcPct val="110000"/>
              </a:lnSpc>
              <a:spcAft>
                <a:spcPts val="1001"/>
              </a:spcAft>
              <a:tabLst>
                <a:tab pos="0" algn="l"/>
              </a:tabLst>
            </a:pPr>
            <a:r>
              <a:rPr lang="en-US" sz="1500" b="0" strike="noStrike" spc="-1" dirty="0">
                <a:solidFill>
                  <a:srgbClr val="16202B"/>
                </a:solidFill>
                <a:latin typeface="Calibri"/>
                <a:ea typeface="Calibri"/>
              </a:rPr>
              <a:t>If Fetched, it would </a:t>
            </a:r>
            <a:r>
              <a:rPr lang="en-US" sz="1500" spc="-1" dirty="0">
                <a:solidFill>
                  <a:srgbClr val="16202B"/>
                </a:solidFill>
                <a:ea typeface="Calibri"/>
              </a:rPr>
              <a:t>fetch all five sources live, verify each with a SHA-256 hash, and write</a:t>
            </a:r>
            <a:r>
              <a:rPr lang="en-US" sz="1500" b="0" strike="noStrike" spc="-1" dirty="0">
                <a:solidFill>
                  <a:srgbClr val="16202B"/>
                </a:solidFill>
                <a:latin typeface="Calibri"/>
                <a:ea typeface="Calibri"/>
              </a:rPr>
              <a:t> the three frozen CSVs plus a provenance file. You would </a:t>
            </a:r>
            <a:r>
              <a:rPr lang="en-US" sz="1500" spc="-1" dirty="0">
                <a:solidFill>
                  <a:srgbClr val="16202B"/>
                </a:solidFill>
                <a:latin typeface="Calibri"/>
                <a:ea typeface="Calibri"/>
              </a:rPr>
              <a:t>r</a:t>
            </a:r>
            <a:r>
              <a:rPr lang="en-US" sz="1500" b="0" strike="noStrike" spc="-1" dirty="0">
                <a:solidFill>
                  <a:srgbClr val="16202B"/>
                </a:solidFill>
                <a:latin typeface="Calibri"/>
                <a:ea typeface="Calibri"/>
              </a:rPr>
              <a:t>un once (but you don’t have to)</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1" strike="noStrike" spc="-1" dirty="0">
                <a:solidFill>
                  <a:srgbClr val="2E7D53"/>
                </a:solidFill>
                <a:latin typeface="Calibri"/>
                <a:ea typeface="Calibri"/>
              </a:rPr>
              <a:t>Part II — Reference solution.</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0" strike="noStrike" spc="-1" dirty="0">
                <a:solidFill>
                  <a:srgbClr val="16202B"/>
                </a:solidFill>
                <a:latin typeface="Calibri"/>
                <a:ea typeface="Calibri"/>
              </a:rPr>
              <a:t> Completeness and ETAS fitting, feature engineering, the classical and quantum model suites, calibration, the naive control, and every figure in this deck.</a:t>
            </a:r>
            <a:endParaRPr lang="en-US" sz="1500" b="0" strike="noStrike" spc="-1" dirty="0">
              <a:solidFill>
                <a:srgbClr val="000000"/>
              </a:solidFill>
              <a:latin typeface="Arial"/>
            </a:endParaRPr>
          </a:p>
          <a:p>
            <a:pPr defTabSz="914400">
              <a:lnSpc>
                <a:spcPct val="110000"/>
              </a:lnSpc>
              <a:spcAft>
                <a:spcPts val="1001"/>
              </a:spcAft>
              <a:tabLst>
                <a:tab pos="0" algn="l"/>
              </a:tabLst>
            </a:pPr>
            <a:r>
              <a:rPr lang="en-US" sz="1500" b="0" strike="noStrike" spc="-1" dirty="0">
                <a:solidFill>
                  <a:srgbClr val="16202B"/>
                </a:solidFill>
                <a:latin typeface="Calibri"/>
                <a:ea typeface="Calibri"/>
              </a:rPr>
              <a:t>A FAST/FULL switch lets you smoke-test the whole pipeline in minutes before committing to the multi-hour full run.</a:t>
            </a:r>
            <a:endParaRPr lang="en-US" sz="1500" b="0" strike="noStrike" spc="-1" dirty="0">
              <a:solidFill>
                <a:srgbClr val="000000"/>
              </a:solidFill>
              <a:latin typeface="Arial"/>
            </a:endParaRPr>
          </a:p>
        </p:txBody>
      </p:sp>
      <p:sp>
        <p:nvSpPr>
          <p:cNvPr id="1321" name="Shape 3"/>
          <p:cNvSpPr/>
          <p:nvPr/>
        </p:nvSpPr>
        <p:spPr>
          <a:xfrm>
            <a:off x="6766560" y="1691640"/>
            <a:ext cx="4873320" cy="982800"/>
          </a:xfrm>
          <a:prstGeom prst="roundRect">
            <a:avLst>
              <a:gd name="adj" fmla="val 744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22" name="Shape 4"/>
          <p:cNvSpPr/>
          <p:nvPr/>
        </p:nvSpPr>
        <p:spPr>
          <a:xfrm>
            <a:off x="6949440" y="2036880"/>
            <a:ext cx="292320" cy="29232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23"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Reproducible</a:t>
            </a:r>
            <a:endParaRPr lang="en-US" sz="1450" b="0" strike="noStrike" spc="-1">
              <a:solidFill>
                <a:srgbClr val="000000"/>
              </a:solidFill>
              <a:latin typeface="Arial"/>
            </a:endParaRPr>
          </a:p>
        </p:txBody>
      </p:sp>
      <p:sp>
        <p:nvSpPr>
          <p:cNvPr id="1324" name="Text 6"/>
          <p:cNvSpPr/>
          <p:nvPr/>
        </p:nvSpPr>
        <p:spPr>
          <a:xfrm>
            <a:off x="7388280" y="2094120"/>
            <a:ext cx="4087080" cy="52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SEED = 42 throughout. Same inputs, same outputs, every run.</a:t>
            </a:r>
            <a:endParaRPr lang="en-US" sz="1200" b="0" strike="noStrike" spc="-1">
              <a:solidFill>
                <a:srgbClr val="000000"/>
              </a:solidFill>
              <a:latin typeface="Arial"/>
            </a:endParaRPr>
          </a:p>
        </p:txBody>
      </p:sp>
      <p:sp>
        <p:nvSpPr>
          <p:cNvPr id="1325" name="Shape 7"/>
          <p:cNvSpPr/>
          <p:nvPr/>
        </p:nvSpPr>
        <p:spPr>
          <a:xfrm>
            <a:off x="6766560" y="2857680"/>
            <a:ext cx="4873320" cy="982800"/>
          </a:xfrm>
          <a:prstGeom prst="roundRect">
            <a:avLst>
              <a:gd name="adj" fmla="val 744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26" name="Shape 8"/>
          <p:cNvSpPr/>
          <p:nvPr/>
        </p:nvSpPr>
        <p:spPr>
          <a:xfrm>
            <a:off x="6949440" y="3202560"/>
            <a:ext cx="292320" cy="29232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27" name="Text 9"/>
          <p:cNvSpPr/>
          <p:nvPr/>
        </p:nvSpPr>
        <p:spPr>
          <a:xfrm>
            <a:off x="7388280" y="296712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Provenance-first</a:t>
            </a:r>
            <a:endParaRPr lang="en-US" sz="1450" b="0" strike="noStrike" spc="-1">
              <a:solidFill>
                <a:srgbClr val="000000"/>
              </a:solidFill>
              <a:latin typeface="Arial"/>
            </a:endParaRPr>
          </a:p>
        </p:txBody>
      </p:sp>
      <p:sp>
        <p:nvSpPr>
          <p:cNvPr id="1328" name="Text 10"/>
          <p:cNvSpPr/>
          <p:nvPr/>
        </p:nvSpPr>
        <p:spPr>
          <a:xfrm>
            <a:off x="7388280" y="3259800"/>
            <a:ext cx="4087080" cy="52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Every CSV carries a hash. If the data changed, you'll know.</a:t>
            </a:r>
            <a:endParaRPr lang="en-US" sz="1200" b="0" strike="noStrike" spc="-1">
              <a:solidFill>
                <a:srgbClr val="000000"/>
              </a:solidFill>
              <a:latin typeface="Arial"/>
            </a:endParaRPr>
          </a:p>
        </p:txBody>
      </p:sp>
      <p:sp>
        <p:nvSpPr>
          <p:cNvPr id="1329" name="Shape 11"/>
          <p:cNvSpPr/>
          <p:nvPr/>
        </p:nvSpPr>
        <p:spPr>
          <a:xfrm>
            <a:off x="6766560" y="4023360"/>
            <a:ext cx="4873320" cy="982800"/>
          </a:xfrm>
          <a:prstGeom prst="roundRect">
            <a:avLst>
              <a:gd name="adj" fmla="val 744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30" name="Shape 12"/>
          <p:cNvSpPr/>
          <p:nvPr/>
        </p:nvSpPr>
        <p:spPr>
          <a:xfrm>
            <a:off x="6949440" y="436860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31" name="Text 13"/>
          <p:cNvSpPr/>
          <p:nvPr/>
        </p:nvSpPr>
        <p:spPr>
          <a:xfrm>
            <a:off x="7388280" y="413316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Honest by design</a:t>
            </a:r>
            <a:endParaRPr lang="en-US" sz="1450" b="0" strike="noStrike" spc="-1">
              <a:solidFill>
                <a:srgbClr val="000000"/>
              </a:solidFill>
              <a:latin typeface="Arial"/>
            </a:endParaRPr>
          </a:p>
        </p:txBody>
      </p:sp>
      <p:sp>
        <p:nvSpPr>
          <p:cNvPr id="1332" name="Text 14"/>
          <p:cNvSpPr/>
          <p:nvPr/>
        </p:nvSpPr>
        <p:spPr>
          <a:xfrm>
            <a:off x="7388280" y="4425840"/>
            <a:ext cx="4087080" cy="52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The naive control and significance tests are built in, not bolted on.</a:t>
            </a:r>
            <a:endParaRPr lang="en-US" sz="1200" b="0" strike="noStrike" spc="-1">
              <a:solidFill>
                <a:srgbClr val="000000"/>
              </a:solidFill>
              <a:latin typeface="Arial"/>
            </a:endParaRPr>
          </a:p>
        </p:txBody>
      </p:sp>
      <p:sp>
        <p:nvSpPr>
          <p:cNvPr id="1333" name="Shape 15"/>
          <p:cNvSpPr/>
          <p:nvPr/>
        </p:nvSpPr>
        <p:spPr>
          <a:xfrm>
            <a:off x="6766560" y="5189400"/>
            <a:ext cx="4873320" cy="982800"/>
          </a:xfrm>
          <a:prstGeom prst="roundRect">
            <a:avLst>
              <a:gd name="adj" fmla="val 7442"/>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34" name="Shape 16"/>
          <p:cNvSpPr/>
          <p:nvPr/>
        </p:nvSpPr>
        <p:spPr>
          <a:xfrm>
            <a:off x="6949440" y="5534280"/>
            <a:ext cx="292320" cy="2923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35" name="Text 17"/>
          <p:cNvSpPr/>
          <p:nvPr/>
        </p:nvSpPr>
        <p:spPr>
          <a:xfrm>
            <a:off x="7388280" y="52988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FAST / FULL</a:t>
            </a:r>
            <a:endParaRPr lang="en-US" sz="1450" b="0" strike="noStrike" spc="-1">
              <a:solidFill>
                <a:srgbClr val="000000"/>
              </a:solidFill>
              <a:latin typeface="Arial"/>
            </a:endParaRPr>
          </a:p>
        </p:txBody>
      </p:sp>
      <p:sp>
        <p:nvSpPr>
          <p:cNvPr id="1336" name="Text 18"/>
          <p:cNvSpPr/>
          <p:nvPr/>
        </p:nvSpPr>
        <p:spPr>
          <a:xfrm>
            <a:off x="7388280" y="5591520"/>
            <a:ext cx="4087080" cy="52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Prototype in minutes; produce the judged run in hours.</a:t>
            </a:r>
            <a:endParaRPr lang="en-US" sz="1200" b="0" strike="noStrike" spc="-1">
              <a:solidFill>
                <a:srgbClr val="000000"/>
              </a:solidFill>
              <a:latin typeface="Arial"/>
            </a:endParaRPr>
          </a:p>
        </p:txBody>
      </p:sp>
      <p:sp>
        <p:nvSpPr>
          <p:cNvPr id="1337" name="Text 19"/>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338" name="Text 20"/>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339" name="Text 21"/>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98</a:t>
            </a:r>
            <a:endParaRPr lang="en-US" sz="1000" b="0" strike="noStrike" spc="-1">
              <a:solidFill>
                <a:srgbClr val="000000"/>
              </a:solidFill>
              <a:latin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340" name="Text 0"/>
          <p:cNvSpPr/>
          <p:nvPr/>
        </p:nvSpPr>
        <p:spPr>
          <a:xfrm>
            <a:off x="548640" y="38412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99">
                <a:solidFill>
                  <a:srgbClr val="D98C1F"/>
                </a:solidFill>
                <a:latin typeface="Calibri"/>
                <a:ea typeface="Calibri"/>
              </a:rPr>
              <a:t>WHERE TO GO NEXT</a:t>
            </a:r>
            <a:endParaRPr lang="en-US" sz="1300" b="0" strike="noStrike" spc="-1">
              <a:solidFill>
                <a:srgbClr val="000000"/>
              </a:solidFill>
              <a:latin typeface="Arial"/>
            </a:endParaRPr>
          </a:p>
        </p:txBody>
      </p:sp>
      <p:sp>
        <p:nvSpPr>
          <p:cNvPr id="1341" name="Text 1"/>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95000"/>
              </a:lnSpc>
              <a:tabLst>
                <a:tab pos="0" algn="l"/>
              </a:tabLst>
            </a:pPr>
            <a:r>
              <a:rPr lang="en-US" sz="3000" b="1" strike="noStrike" spc="-1" dirty="0">
                <a:solidFill>
                  <a:srgbClr val="16202B"/>
                </a:solidFill>
                <a:latin typeface="Cambria"/>
                <a:ea typeface="Cambria"/>
              </a:rPr>
              <a:t>Keep going after the </a:t>
            </a:r>
            <a:r>
              <a:rPr lang="en-US" sz="3000" b="1" spc="-1" dirty="0" err="1">
                <a:solidFill>
                  <a:srgbClr val="16202B"/>
                </a:solidFill>
                <a:latin typeface="Cambria"/>
                <a:ea typeface="Cambria"/>
              </a:rPr>
              <a:t>Quantathon</a:t>
            </a:r>
            <a:endParaRPr lang="en-US" sz="3000" b="0" strike="noStrike" spc="-1" dirty="0">
              <a:solidFill>
                <a:srgbClr val="000000"/>
              </a:solidFill>
              <a:latin typeface="Arial"/>
            </a:endParaRPr>
          </a:p>
        </p:txBody>
      </p:sp>
      <p:sp>
        <p:nvSpPr>
          <p:cNvPr id="1342" name="Text 2"/>
          <p:cNvSpPr/>
          <p:nvPr/>
        </p:nvSpPr>
        <p:spPr>
          <a:xfrm>
            <a:off x="548640" y="1691640"/>
            <a:ext cx="5851800" cy="448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901"/>
              </a:spcAft>
              <a:buClr>
                <a:srgbClr val="16202B"/>
              </a:buClr>
              <a:buFont typeface="Symbol" charset="2"/>
              <a:buChar char=""/>
            </a:pPr>
            <a:r>
              <a:rPr lang="en-US" sz="1450" b="1" strike="noStrike" spc="-1" dirty="0">
                <a:solidFill>
                  <a:srgbClr val="16202B"/>
                </a:solidFill>
                <a:latin typeface="Calibri"/>
                <a:ea typeface="Calibri"/>
              </a:rPr>
              <a:t>Re-fit ETAS after </a:t>
            </a:r>
            <a:r>
              <a:rPr lang="en-US" sz="1450" b="1" strike="noStrike" spc="-1" dirty="0" err="1">
                <a:solidFill>
                  <a:srgbClr val="16202B"/>
                </a:solidFill>
                <a:latin typeface="Calibri"/>
                <a:ea typeface="Calibri"/>
              </a:rPr>
              <a:t>declustering</a:t>
            </a:r>
            <a:r>
              <a:rPr lang="en-US" sz="1450" b="1" strike="noStrike" spc="-1" dirty="0">
                <a:solidFill>
                  <a:srgbClr val="16202B"/>
                </a:solidFill>
                <a:latin typeface="Calibri"/>
                <a:ea typeface="Calibri"/>
              </a:rPr>
              <a:t> the catalog — does α move toward its tectonic value?</a:t>
            </a:r>
            <a:endParaRPr lang="en-US" sz="1450" b="0" strike="noStrike" spc="-1" dirty="0">
              <a:solidFill>
                <a:srgbClr val="000000"/>
              </a:solidFill>
              <a:latin typeface="Arial"/>
            </a:endParaRPr>
          </a:p>
          <a:p>
            <a:pPr marL="177840" indent="-177840" defTabSz="914400">
              <a:lnSpc>
                <a:spcPct val="100000"/>
              </a:lnSpc>
              <a:spcAft>
                <a:spcPts val="901"/>
              </a:spcAft>
              <a:buClr>
                <a:srgbClr val="16202B"/>
              </a:buClr>
              <a:buFont typeface="Symbol" charset="2"/>
              <a:buChar char=""/>
            </a:pPr>
            <a:r>
              <a:rPr lang="en-US" sz="1450" b="0" strike="noStrike" spc="-1" dirty="0">
                <a:solidFill>
                  <a:srgbClr val="16202B"/>
                </a:solidFill>
                <a:latin typeface="Calibri"/>
                <a:ea typeface="Calibri"/>
              </a:rPr>
              <a:t>Try a physics-informed neural net that respects the Omori decay law by construction.</a:t>
            </a:r>
            <a:endParaRPr lang="en-US" sz="1450" b="0" strike="noStrike" spc="-1" dirty="0">
              <a:solidFill>
                <a:srgbClr val="000000"/>
              </a:solidFill>
              <a:latin typeface="Arial"/>
            </a:endParaRPr>
          </a:p>
          <a:p>
            <a:pPr marL="177840" indent="-177840" defTabSz="914400">
              <a:lnSpc>
                <a:spcPct val="100000"/>
              </a:lnSpc>
              <a:spcAft>
                <a:spcPts val="901"/>
              </a:spcAft>
              <a:buClr>
                <a:srgbClr val="16202B"/>
              </a:buClr>
              <a:buFont typeface="Symbol" charset="2"/>
              <a:buChar char=""/>
            </a:pPr>
            <a:r>
              <a:rPr lang="en-US" sz="1450" b="0" strike="noStrike" spc="-1" dirty="0">
                <a:solidFill>
                  <a:srgbClr val="16202B"/>
                </a:solidFill>
                <a:latin typeface="Calibri"/>
                <a:ea typeface="Calibri"/>
              </a:rPr>
              <a:t>Build a proper spatial cross-validation and see how much of the spatial-prior skill survives.</a:t>
            </a:r>
            <a:endParaRPr lang="en-US" sz="1450" b="0" strike="noStrike" spc="-1" dirty="0">
              <a:solidFill>
                <a:srgbClr val="000000"/>
              </a:solidFill>
              <a:latin typeface="Arial"/>
            </a:endParaRPr>
          </a:p>
          <a:p>
            <a:pPr marL="177840" indent="-177840" defTabSz="914400">
              <a:lnSpc>
                <a:spcPct val="100000"/>
              </a:lnSpc>
              <a:spcAft>
                <a:spcPts val="901"/>
              </a:spcAft>
              <a:buClr>
                <a:srgbClr val="16202B"/>
              </a:buClr>
              <a:buFont typeface="Symbol" charset="2"/>
              <a:buChar char=""/>
            </a:pPr>
            <a:r>
              <a:rPr lang="en-US" sz="1450" b="0" strike="noStrike" spc="-1" dirty="0">
                <a:solidFill>
                  <a:srgbClr val="16202B"/>
                </a:solidFill>
                <a:latin typeface="Calibri"/>
                <a:ea typeface="Calibri"/>
              </a:rPr>
              <a:t>Test a structured, shallow quantum ansatz designed to avoid the barren plateau — can it beat the classical features on any slice?</a:t>
            </a:r>
            <a:endParaRPr lang="en-US" sz="1450" b="0" strike="noStrike" spc="-1" dirty="0">
              <a:solidFill>
                <a:srgbClr val="000000"/>
              </a:solidFill>
              <a:latin typeface="Arial"/>
            </a:endParaRPr>
          </a:p>
          <a:p>
            <a:pPr marL="177840" indent="-177840" defTabSz="914400">
              <a:lnSpc>
                <a:spcPct val="100000"/>
              </a:lnSpc>
              <a:spcAft>
                <a:spcPts val="901"/>
              </a:spcAft>
              <a:buClr>
                <a:srgbClr val="16202B"/>
              </a:buClr>
              <a:buFont typeface="Symbol" charset="2"/>
              <a:buChar char=""/>
            </a:pPr>
            <a:r>
              <a:rPr lang="en-US" sz="1450" b="0" strike="noStrike" spc="-1" dirty="0">
                <a:solidFill>
                  <a:srgbClr val="16202B"/>
                </a:solidFill>
                <a:latin typeface="Calibri"/>
                <a:ea typeface="Calibri"/>
              </a:rPr>
              <a:t>Extend the forecast forward in time and score it prospectively, with no possibility of leakage.</a:t>
            </a:r>
          </a:p>
          <a:p>
            <a:pPr marL="177840" indent="-177840" defTabSz="914400">
              <a:lnSpc>
                <a:spcPct val="100000"/>
              </a:lnSpc>
              <a:spcAft>
                <a:spcPts val="901"/>
              </a:spcAft>
              <a:buClr>
                <a:srgbClr val="16202B"/>
              </a:buClr>
              <a:buFont typeface="Symbol" charset="2"/>
              <a:buChar char=""/>
            </a:pPr>
            <a:r>
              <a:rPr lang="en-US" sz="1450" spc="-1" dirty="0">
                <a:solidFill>
                  <a:srgbClr val="16202B"/>
                </a:solidFill>
                <a:latin typeface="Calibri"/>
                <a:ea typeface="Calibri"/>
              </a:rPr>
              <a:t>Prepare journal article</a:t>
            </a:r>
            <a:endParaRPr lang="en-US" sz="1450" b="0" strike="noStrike" spc="-1" dirty="0">
              <a:solidFill>
                <a:srgbClr val="000000"/>
              </a:solidFill>
              <a:latin typeface="Arial"/>
            </a:endParaRPr>
          </a:p>
        </p:txBody>
      </p:sp>
      <p:sp>
        <p:nvSpPr>
          <p:cNvPr id="1343" name="Shape 3"/>
          <p:cNvSpPr/>
          <p:nvPr/>
        </p:nvSpPr>
        <p:spPr>
          <a:xfrm>
            <a:off x="6766560" y="1691640"/>
            <a:ext cx="4873320" cy="2148480"/>
          </a:xfrm>
          <a:prstGeom prst="roundRect">
            <a:avLst>
              <a:gd name="adj" fmla="val 3404"/>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44" name="Shape 4"/>
          <p:cNvSpPr/>
          <p:nvPr/>
        </p:nvSpPr>
        <p:spPr>
          <a:xfrm>
            <a:off x="6949440" y="2619720"/>
            <a:ext cx="292320" cy="29232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45" name="Text 5"/>
          <p:cNvSpPr/>
          <p:nvPr/>
        </p:nvSpPr>
        <p:spPr>
          <a:xfrm>
            <a:off x="7388280" y="180144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The open questions are real</a:t>
            </a:r>
            <a:endParaRPr lang="en-US" sz="1450" b="0" strike="noStrike" spc="-1">
              <a:solidFill>
                <a:srgbClr val="000000"/>
              </a:solidFill>
              <a:latin typeface="Arial"/>
            </a:endParaRPr>
          </a:p>
        </p:txBody>
      </p:sp>
      <p:sp>
        <p:nvSpPr>
          <p:cNvPr id="1346" name="Text 6"/>
          <p:cNvSpPr/>
          <p:nvPr/>
        </p:nvSpPr>
        <p:spPr>
          <a:xfrm>
            <a:off x="7388280" y="2094120"/>
            <a:ext cx="408708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None of these have a settled answer on this dataset. A careful attempt at any one is a genuine contribution.</a:t>
            </a:r>
            <a:endParaRPr lang="en-US" sz="1200" b="0" strike="noStrike" spc="-1">
              <a:solidFill>
                <a:srgbClr val="000000"/>
              </a:solidFill>
              <a:latin typeface="Arial"/>
            </a:endParaRPr>
          </a:p>
        </p:txBody>
      </p:sp>
      <p:sp>
        <p:nvSpPr>
          <p:cNvPr id="1347" name="Shape 7"/>
          <p:cNvSpPr/>
          <p:nvPr/>
        </p:nvSpPr>
        <p:spPr>
          <a:xfrm>
            <a:off x="6766560" y="4023360"/>
            <a:ext cx="4873320" cy="2148480"/>
          </a:xfrm>
          <a:prstGeom prst="roundRect">
            <a:avLst>
              <a:gd name="adj" fmla="val 3404"/>
            </a:avLst>
          </a:prstGeom>
          <a:solidFill>
            <a:srgbClr val="FFFFFF"/>
          </a:solidFill>
          <a:ln w="0">
            <a:noFill/>
          </a:ln>
          <a:effectLst>
            <a:outerShdw blurRad="76320" dist="25560" dir="5400000" algn="bl" rotWithShape="0">
              <a:srgbClr val="9AA5B1">
                <a:alpha val="2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48" name="Shape 8"/>
          <p:cNvSpPr/>
          <p:nvPr/>
        </p:nvSpPr>
        <p:spPr>
          <a:xfrm>
            <a:off x="6949440" y="4951440"/>
            <a:ext cx="292320" cy="29232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49" name="Text 9"/>
          <p:cNvSpPr/>
          <p:nvPr/>
        </p:nvSpPr>
        <p:spPr>
          <a:xfrm>
            <a:off x="7388280" y="4133160"/>
            <a:ext cx="4141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6202B"/>
                </a:solidFill>
                <a:latin typeface="Calibri"/>
                <a:ea typeface="Calibri"/>
              </a:rPr>
              <a:t>The skill transfers</a:t>
            </a:r>
            <a:endParaRPr lang="en-US" sz="1450" b="0" strike="noStrike" spc="-1">
              <a:solidFill>
                <a:srgbClr val="000000"/>
              </a:solidFill>
              <a:latin typeface="Arial"/>
            </a:endParaRPr>
          </a:p>
        </p:txBody>
      </p:sp>
      <p:sp>
        <p:nvSpPr>
          <p:cNvPr id="1350" name="Text 10"/>
          <p:cNvSpPr/>
          <p:nvPr/>
        </p:nvSpPr>
        <p:spPr>
          <a:xfrm>
            <a:off x="7388280" y="4425840"/>
            <a:ext cx="408708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96000"/>
              </a:lnSpc>
              <a:tabLst>
                <a:tab pos="0" algn="l"/>
              </a:tabLst>
            </a:pPr>
            <a:r>
              <a:rPr lang="en-US" sz="1200" b="0" strike="noStrike" spc="-1">
                <a:solidFill>
                  <a:srgbClr val="5B6B7A"/>
                </a:solidFill>
                <a:latin typeface="Calibri"/>
                <a:ea typeface="Calibri"/>
              </a:rPr>
              <a:t>Swap earthquakes for wildfires, floods, outages, or disease. The method — baseline, calibrate, control, quantify — is the same everywhere.</a:t>
            </a:r>
            <a:endParaRPr lang="en-US" sz="1200" b="0" strike="noStrike" spc="-1">
              <a:solidFill>
                <a:srgbClr val="000000"/>
              </a:solidFill>
              <a:latin typeface="Arial"/>
            </a:endParaRPr>
          </a:p>
        </p:txBody>
      </p:sp>
      <p:sp>
        <p:nvSpPr>
          <p:cNvPr id="1351" name="Text 11"/>
          <p:cNvSpPr/>
          <p:nvPr/>
        </p:nvSpPr>
        <p:spPr>
          <a:xfrm>
            <a:off x="548640" y="641916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Deep dives</a:t>
            </a:r>
            <a:endParaRPr lang="en-US" sz="1000" b="0" strike="noStrike" spc="-1">
              <a:solidFill>
                <a:srgbClr val="000000"/>
              </a:solidFill>
              <a:latin typeface="Arial"/>
            </a:endParaRPr>
          </a:p>
        </p:txBody>
      </p:sp>
      <p:sp>
        <p:nvSpPr>
          <p:cNvPr id="1352" name="Text 12"/>
          <p:cNvSpPr/>
          <p:nvPr/>
        </p:nvSpPr>
        <p:spPr>
          <a:xfrm>
            <a:off x="7863840" y="6419160"/>
            <a:ext cx="3108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5B6B7A"/>
                </a:solidFill>
                <a:latin typeface="Calibri"/>
                <a:ea typeface="Calibri"/>
              </a:rPr>
              <a:t>Earthquake-Q  ·  QuantathonV3</a:t>
            </a:r>
            <a:endParaRPr lang="en-US" sz="1000" b="0" strike="noStrike" spc="-1">
              <a:solidFill>
                <a:srgbClr val="000000"/>
              </a:solidFill>
              <a:latin typeface="Arial"/>
            </a:endParaRPr>
          </a:p>
        </p:txBody>
      </p:sp>
      <p:sp>
        <p:nvSpPr>
          <p:cNvPr id="1353" name="Text 13"/>
          <p:cNvSpPr/>
          <p:nvPr/>
        </p:nvSpPr>
        <p:spPr>
          <a:xfrm>
            <a:off x="11430000" y="641916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5B6B7A"/>
                </a:solidFill>
                <a:latin typeface="Calibri"/>
                <a:ea typeface="Calibri"/>
              </a:rPr>
              <a:t>99</a:t>
            </a:r>
            <a:endParaRPr lang="en-US" sz="1000" b="0" strike="noStrike" spc="-1">
              <a:solidFill>
                <a:srgbClr val="000000"/>
              </a:solidFill>
              <a:latin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1354" name="Text 0"/>
          <p:cNvSpPr/>
          <p:nvPr/>
        </p:nvSpPr>
        <p:spPr>
          <a:xfrm>
            <a:off x="640080" y="502920"/>
            <a:ext cx="10972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9">
                <a:solidFill>
                  <a:srgbClr val="D98C1F"/>
                </a:solidFill>
                <a:latin typeface="Calibri"/>
                <a:ea typeface="Calibri"/>
              </a:rPr>
              <a:t>ONE CARD TO REMEMBER</a:t>
            </a:r>
            <a:endParaRPr lang="en-US" sz="1400" b="0" strike="noStrike" spc="-1">
              <a:solidFill>
                <a:srgbClr val="FFFFFF"/>
              </a:solidFill>
              <a:latin typeface="Arial"/>
            </a:endParaRPr>
          </a:p>
        </p:txBody>
      </p:sp>
      <p:sp>
        <p:nvSpPr>
          <p:cNvPr id="1355" name="Text 1"/>
          <p:cNvSpPr/>
          <p:nvPr/>
        </p:nvSpPr>
        <p:spPr>
          <a:xfrm>
            <a:off x="640080" y="841320"/>
            <a:ext cx="109724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strike="noStrike" spc="-1">
                <a:solidFill>
                  <a:srgbClr val="FFFFFF"/>
                </a:solidFill>
                <a:latin typeface="Cambria"/>
                <a:ea typeface="Cambria"/>
              </a:rPr>
              <a:t>The whole challenge, distilled</a:t>
            </a:r>
            <a:endParaRPr lang="en-US" sz="3000" b="0" strike="noStrike" spc="-1">
              <a:solidFill>
                <a:srgbClr val="FFFFFF"/>
              </a:solidFill>
              <a:latin typeface="Arial"/>
            </a:endParaRPr>
          </a:p>
        </p:txBody>
      </p:sp>
      <p:sp>
        <p:nvSpPr>
          <p:cNvPr id="1356" name="Shape 2"/>
          <p:cNvSpPr/>
          <p:nvPr/>
        </p:nvSpPr>
        <p:spPr>
          <a:xfrm>
            <a:off x="640080" y="1691640"/>
            <a:ext cx="10908360" cy="603000"/>
          </a:xfrm>
          <a:prstGeom prst="roundRect">
            <a:avLst>
              <a:gd name="adj" fmla="val 7576"/>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57" name="Shape 3"/>
          <p:cNvSpPr/>
          <p:nvPr/>
        </p:nvSpPr>
        <p:spPr>
          <a:xfrm>
            <a:off x="841320" y="1920240"/>
            <a:ext cx="145800" cy="14580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58" name="Text 4"/>
          <p:cNvSpPr/>
          <p:nvPr/>
        </p:nvSpPr>
        <p:spPr>
          <a:xfrm>
            <a:off x="1143000" y="1746360"/>
            <a:ext cx="24685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FFFFFF"/>
                </a:solidFill>
                <a:latin typeface="Calibri"/>
                <a:ea typeface="Calibri"/>
              </a:rPr>
              <a:t>Target</a:t>
            </a:r>
            <a:endParaRPr lang="en-US" sz="1400" b="0" strike="noStrike" spc="-1">
              <a:solidFill>
                <a:srgbClr val="FFFFFF"/>
              </a:solidFill>
              <a:latin typeface="Arial"/>
            </a:endParaRPr>
          </a:p>
        </p:txBody>
      </p:sp>
      <p:sp>
        <p:nvSpPr>
          <p:cNvPr id="1359" name="Text 5"/>
          <p:cNvSpPr/>
          <p:nvPr/>
        </p:nvSpPr>
        <p:spPr>
          <a:xfrm>
            <a:off x="3657600" y="1746360"/>
            <a:ext cx="777204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D6DEE6"/>
                </a:solidFill>
                <a:latin typeface="Calibri"/>
                <a:ea typeface="Calibri"/>
              </a:rPr>
              <a:t>P(M≥2 within 100 km, 30-day window) — a calibrated probability</a:t>
            </a:r>
            <a:endParaRPr lang="en-US" sz="1300" b="0" strike="noStrike" spc="-1">
              <a:solidFill>
                <a:srgbClr val="FFFFFF"/>
              </a:solidFill>
              <a:latin typeface="Arial"/>
            </a:endParaRPr>
          </a:p>
        </p:txBody>
      </p:sp>
      <p:sp>
        <p:nvSpPr>
          <p:cNvPr id="1360" name="Shape 6"/>
          <p:cNvSpPr/>
          <p:nvPr/>
        </p:nvSpPr>
        <p:spPr>
          <a:xfrm>
            <a:off x="640080" y="2363760"/>
            <a:ext cx="10908360" cy="603000"/>
          </a:xfrm>
          <a:prstGeom prst="roundRect">
            <a:avLst>
              <a:gd name="adj" fmla="val 7576"/>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61" name="Shape 7"/>
          <p:cNvSpPr/>
          <p:nvPr/>
        </p:nvSpPr>
        <p:spPr>
          <a:xfrm>
            <a:off x="841320" y="259236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62" name="Text 8"/>
          <p:cNvSpPr/>
          <p:nvPr/>
        </p:nvSpPr>
        <p:spPr>
          <a:xfrm>
            <a:off x="1143000" y="2418480"/>
            <a:ext cx="24685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FFFFFF"/>
                </a:solidFill>
                <a:latin typeface="Calibri"/>
                <a:ea typeface="Calibri"/>
              </a:rPr>
              <a:t>Score</a:t>
            </a:r>
            <a:endParaRPr lang="en-US" sz="1400" b="0" strike="noStrike" spc="-1">
              <a:solidFill>
                <a:srgbClr val="FFFFFF"/>
              </a:solidFill>
              <a:latin typeface="Arial"/>
            </a:endParaRPr>
          </a:p>
        </p:txBody>
      </p:sp>
      <p:sp>
        <p:nvSpPr>
          <p:cNvPr id="1363" name="Text 9"/>
          <p:cNvSpPr/>
          <p:nvPr/>
        </p:nvSpPr>
        <p:spPr>
          <a:xfrm>
            <a:off x="3657600" y="2418480"/>
            <a:ext cx="777204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D6DEE6"/>
                </a:solidFill>
                <a:latin typeface="Calibri"/>
                <a:ea typeface="Calibri"/>
              </a:rPr>
              <a:t>Information gain in bits vs climatology AND vs a fitted ETAS</a:t>
            </a:r>
            <a:endParaRPr lang="en-US" sz="1300" b="0" strike="noStrike" spc="-1">
              <a:solidFill>
                <a:srgbClr val="FFFFFF"/>
              </a:solidFill>
              <a:latin typeface="Arial"/>
            </a:endParaRPr>
          </a:p>
        </p:txBody>
      </p:sp>
      <p:sp>
        <p:nvSpPr>
          <p:cNvPr id="1364" name="Shape 10"/>
          <p:cNvSpPr/>
          <p:nvPr/>
        </p:nvSpPr>
        <p:spPr>
          <a:xfrm>
            <a:off x="640080" y="3035880"/>
            <a:ext cx="10908360" cy="603000"/>
          </a:xfrm>
          <a:prstGeom prst="roundRect">
            <a:avLst>
              <a:gd name="adj" fmla="val 7576"/>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65" name="Shape 11"/>
          <p:cNvSpPr/>
          <p:nvPr/>
        </p:nvSpPr>
        <p:spPr>
          <a:xfrm>
            <a:off x="841320" y="3264480"/>
            <a:ext cx="145800" cy="145800"/>
          </a:xfrm>
          <a:prstGeom prst="ellipse">
            <a:avLst/>
          </a:prstGeom>
          <a:solidFill>
            <a:srgbClr val="2E7D5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66" name="Text 12"/>
          <p:cNvSpPr/>
          <p:nvPr/>
        </p:nvSpPr>
        <p:spPr>
          <a:xfrm>
            <a:off x="1143000" y="3090600"/>
            <a:ext cx="24685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FFFFFF"/>
                </a:solidFill>
                <a:latin typeface="Calibri"/>
                <a:ea typeface="Calibri"/>
              </a:rPr>
              <a:t>Hard baseline</a:t>
            </a:r>
            <a:endParaRPr lang="en-US" sz="1400" b="0" strike="noStrike" spc="-1">
              <a:solidFill>
                <a:srgbClr val="FFFFFF"/>
              </a:solidFill>
              <a:latin typeface="Arial"/>
            </a:endParaRPr>
          </a:p>
        </p:txBody>
      </p:sp>
      <p:sp>
        <p:nvSpPr>
          <p:cNvPr id="1367" name="Text 13"/>
          <p:cNvSpPr/>
          <p:nvPr/>
        </p:nvSpPr>
        <p:spPr>
          <a:xfrm>
            <a:off x="3657600" y="3090600"/>
            <a:ext cx="777204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D6DEE6"/>
                </a:solidFill>
                <a:latin typeface="Calibri"/>
                <a:ea typeface="Calibri"/>
              </a:rPr>
              <a:t>5-parameter ETAS: blind IG +0.134 over climatology</a:t>
            </a:r>
            <a:endParaRPr lang="en-US" sz="1300" b="0" strike="noStrike" spc="-1">
              <a:solidFill>
                <a:srgbClr val="FFFFFF"/>
              </a:solidFill>
              <a:latin typeface="Arial"/>
            </a:endParaRPr>
          </a:p>
        </p:txBody>
      </p:sp>
      <p:sp>
        <p:nvSpPr>
          <p:cNvPr id="1368" name="Shape 14"/>
          <p:cNvSpPr/>
          <p:nvPr/>
        </p:nvSpPr>
        <p:spPr>
          <a:xfrm>
            <a:off x="640080" y="3708000"/>
            <a:ext cx="10908360" cy="603000"/>
          </a:xfrm>
          <a:prstGeom prst="roundRect">
            <a:avLst>
              <a:gd name="adj" fmla="val 7576"/>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69" name="Shape 15"/>
          <p:cNvSpPr/>
          <p:nvPr/>
        </p:nvSpPr>
        <p:spPr>
          <a:xfrm>
            <a:off x="841320" y="3936600"/>
            <a:ext cx="145800" cy="14580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70" name="Text 16"/>
          <p:cNvSpPr/>
          <p:nvPr/>
        </p:nvSpPr>
        <p:spPr>
          <a:xfrm>
            <a:off x="1143000" y="3762720"/>
            <a:ext cx="24685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FFFFFF"/>
                </a:solidFill>
                <a:latin typeface="Calibri"/>
                <a:ea typeface="Calibri"/>
              </a:rPr>
              <a:t>Reference result</a:t>
            </a:r>
            <a:endParaRPr lang="en-US" sz="1400" b="0" strike="noStrike" spc="-1">
              <a:solidFill>
                <a:srgbClr val="FFFFFF"/>
              </a:solidFill>
              <a:latin typeface="Arial"/>
            </a:endParaRPr>
          </a:p>
        </p:txBody>
      </p:sp>
      <p:sp>
        <p:nvSpPr>
          <p:cNvPr id="1371" name="Text 17"/>
          <p:cNvSpPr/>
          <p:nvPr/>
        </p:nvSpPr>
        <p:spPr>
          <a:xfrm>
            <a:off x="3657600" y="3762720"/>
            <a:ext cx="777204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D6DEE6"/>
                </a:solidFill>
                <a:latin typeface="Calibri"/>
                <a:ea typeface="Calibri"/>
              </a:rPr>
              <a:t>+0.136 over climatology, only +0.002 over ETAS — parity</a:t>
            </a:r>
            <a:endParaRPr lang="en-US" sz="1300" b="0" strike="noStrike" spc="-1">
              <a:solidFill>
                <a:srgbClr val="FFFFFF"/>
              </a:solidFill>
              <a:latin typeface="Arial"/>
            </a:endParaRPr>
          </a:p>
        </p:txBody>
      </p:sp>
      <p:sp>
        <p:nvSpPr>
          <p:cNvPr id="1372" name="Shape 18"/>
          <p:cNvSpPr/>
          <p:nvPr/>
        </p:nvSpPr>
        <p:spPr>
          <a:xfrm>
            <a:off x="640080" y="4380120"/>
            <a:ext cx="10908360" cy="603000"/>
          </a:xfrm>
          <a:prstGeom prst="roundRect">
            <a:avLst>
              <a:gd name="adj" fmla="val 7576"/>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73" name="Shape 19"/>
          <p:cNvSpPr/>
          <p:nvPr/>
        </p:nvSpPr>
        <p:spPr>
          <a:xfrm>
            <a:off x="841320" y="4608720"/>
            <a:ext cx="145800" cy="145800"/>
          </a:xfrm>
          <a:prstGeom prst="ellipse">
            <a:avLst/>
          </a:prstGeom>
          <a:solidFill>
            <a:srgbClr val="7B4EA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74" name="Text 20"/>
          <p:cNvSpPr/>
          <p:nvPr/>
        </p:nvSpPr>
        <p:spPr>
          <a:xfrm>
            <a:off x="1143000" y="4434840"/>
            <a:ext cx="24685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FFFFFF"/>
                </a:solidFill>
                <a:latin typeface="Calibri"/>
                <a:ea typeface="Calibri"/>
              </a:rPr>
              <a:t>Quantum</a:t>
            </a:r>
            <a:endParaRPr lang="en-US" sz="1400" b="0" strike="noStrike" spc="-1">
              <a:solidFill>
                <a:srgbClr val="FFFFFF"/>
              </a:solidFill>
              <a:latin typeface="Arial"/>
            </a:endParaRPr>
          </a:p>
        </p:txBody>
      </p:sp>
      <p:sp>
        <p:nvSpPr>
          <p:cNvPr id="1375" name="Text 21"/>
          <p:cNvSpPr/>
          <p:nvPr/>
        </p:nvSpPr>
        <p:spPr>
          <a:xfrm>
            <a:off x="3657600" y="4434840"/>
            <a:ext cx="777204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D6DEE6"/>
                </a:solidFill>
                <a:latin typeface="Calibri"/>
                <a:ea typeface="Calibri"/>
              </a:rPr>
              <a:t>Used, but no significant lift (ΔAUC CI spans 0)</a:t>
            </a:r>
            <a:endParaRPr lang="en-US" sz="1300" b="0" strike="noStrike" spc="-1">
              <a:solidFill>
                <a:srgbClr val="FFFFFF"/>
              </a:solidFill>
              <a:latin typeface="Arial"/>
            </a:endParaRPr>
          </a:p>
        </p:txBody>
      </p:sp>
      <p:sp>
        <p:nvSpPr>
          <p:cNvPr id="1376" name="Shape 22"/>
          <p:cNvSpPr/>
          <p:nvPr/>
        </p:nvSpPr>
        <p:spPr>
          <a:xfrm>
            <a:off x="640080" y="5052240"/>
            <a:ext cx="10908360" cy="603000"/>
          </a:xfrm>
          <a:prstGeom prst="roundRect">
            <a:avLst>
              <a:gd name="adj" fmla="val 7576"/>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77" name="Shape 23"/>
          <p:cNvSpPr/>
          <p:nvPr/>
        </p:nvSpPr>
        <p:spPr>
          <a:xfrm>
            <a:off x="841320" y="5280840"/>
            <a:ext cx="145800" cy="145800"/>
          </a:xfrm>
          <a:prstGeom prst="ellipse">
            <a:avLst/>
          </a:prstGeom>
          <a:solidFill>
            <a:srgbClr val="1F6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78" name="Text 24"/>
          <p:cNvSpPr/>
          <p:nvPr/>
        </p:nvSpPr>
        <p:spPr>
          <a:xfrm>
            <a:off x="1143000" y="5106960"/>
            <a:ext cx="24685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FFFFFF"/>
                </a:solidFill>
                <a:latin typeface="Calibri"/>
                <a:ea typeface="Calibri"/>
              </a:rPr>
              <a:t>Naive control</a:t>
            </a:r>
            <a:endParaRPr lang="en-US" sz="1400" b="0" strike="noStrike" spc="-1">
              <a:solidFill>
                <a:srgbClr val="FFFFFF"/>
              </a:solidFill>
              <a:latin typeface="Arial"/>
            </a:endParaRPr>
          </a:p>
        </p:txBody>
      </p:sp>
      <p:sp>
        <p:nvSpPr>
          <p:cNvPr id="1379" name="Text 25"/>
          <p:cNvSpPr/>
          <p:nvPr/>
        </p:nvSpPr>
        <p:spPr>
          <a:xfrm>
            <a:off x="3657600" y="5106960"/>
            <a:ext cx="777204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D6DEE6"/>
                </a:solidFill>
                <a:latin typeface="Calibri"/>
                <a:ea typeface="Calibri"/>
              </a:rPr>
              <a:t>3 inputs → 93% of the reference's information gain</a:t>
            </a:r>
            <a:endParaRPr lang="en-US" sz="1300" b="0" strike="noStrike" spc="-1">
              <a:solidFill>
                <a:srgbClr val="FFFFFF"/>
              </a:solidFill>
              <a:latin typeface="Arial"/>
            </a:endParaRPr>
          </a:p>
        </p:txBody>
      </p:sp>
      <p:sp>
        <p:nvSpPr>
          <p:cNvPr id="1380" name="Shape 26"/>
          <p:cNvSpPr/>
          <p:nvPr/>
        </p:nvSpPr>
        <p:spPr>
          <a:xfrm>
            <a:off x="640080" y="5724000"/>
            <a:ext cx="10908360" cy="603000"/>
          </a:xfrm>
          <a:prstGeom prst="roundRect">
            <a:avLst>
              <a:gd name="adj" fmla="val 7576"/>
            </a:avLst>
          </a:prstGeom>
          <a:solidFill>
            <a:srgbClr val="1E2A38"/>
          </a:solidFill>
          <a:ln w="12700">
            <a:solidFill>
              <a:srgbClr val="2E3D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81" name="Shape 27"/>
          <p:cNvSpPr/>
          <p:nvPr/>
        </p:nvSpPr>
        <p:spPr>
          <a:xfrm>
            <a:off x="841320" y="5952600"/>
            <a:ext cx="145800" cy="145800"/>
          </a:xfrm>
          <a:prstGeom prst="ellipse">
            <a:avLst/>
          </a:prstGeom>
          <a:solidFill>
            <a:srgbClr val="D98C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82" name="Text 28"/>
          <p:cNvSpPr/>
          <p:nvPr/>
        </p:nvSpPr>
        <p:spPr>
          <a:xfrm>
            <a:off x="1143000" y="5779080"/>
            <a:ext cx="246852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FFFFFF"/>
                </a:solidFill>
                <a:latin typeface="Calibri"/>
                <a:ea typeface="Calibri"/>
              </a:rPr>
              <a:t>The lesson</a:t>
            </a:r>
            <a:endParaRPr lang="en-US" sz="1400" b="0" strike="noStrike" spc="-1">
              <a:solidFill>
                <a:srgbClr val="FFFFFF"/>
              </a:solidFill>
              <a:latin typeface="Arial"/>
            </a:endParaRPr>
          </a:p>
        </p:txBody>
      </p:sp>
      <p:sp>
        <p:nvSpPr>
          <p:cNvPr id="1383" name="Text 29"/>
          <p:cNvSpPr/>
          <p:nvPr/>
        </p:nvSpPr>
        <p:spPr>
          <a:xfrm>
            <a:off x="3657600" y="5779080"/>
            <a:ext cx="777204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D6DEE6"/>
                </a:solidFill>
                <a:latin typeface="Calibri"/>
                <a:ea typeface="Calibri"/>
              </a:rPr>
              <a:t>Honesty, quantified, beats an impressive margin every time</a:t>
            </a:r>
            <a:endParaRPr lang="en-US" sz="13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2521</TotalTime>
  <Words>14564</Words>
  <Application>Microsoft Office PowerPoint</Application>
  <PresentationFormat>Custom</PresentationFormat>
  <Paragraphs>1315</Paragraphs>
  <Slides>100</Slides>
  <Notes>100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100</vt:i4>
      </vt:variant>
    </vt:vector>
  </HeadingPairs>
  <TitlesOfParts>
    <vt:vector size="108" baseType="lpstr">
      <vt:lpstr>Arial</vt:lpstr>
      <vt:lpstr>Calibri</vt:lpstr>
      <vt:lpstr>Cambria</vt:lpstr>
      <vt:lpstr>Courier New</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Larry 2020 Deschaine, PhD PE</dc:creator>
  <cp:lastModifiedBy>Larry 2020 Deschaine, PhD PE</cp:lastModifiedBy>
  <cp:revision>1</cp:revision>
  <dcterms:modified xsi:type="dcterms:W3CDTF">2026-09-24T15:40:04Z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2026-07-11T17:24:43Z</dcterms:created>
  <dc:creator>PptxGenJS</dc:creator>
  <dc:description/>
  <dc:language>en-US</dc:language>
  <cp:lastModifiedBy>PptxGenJS</cp:lastModifiedBy>
  <dcterms:modified xsi:type="dcterms:W3CDTF">2026-07-11T17:24:43Z</dcterms:modified>
  <cp:revision>1</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100</vt:r8>
  </property>
  <property fmtid="{D5CDD505-2E9C-101B-9397-08002B2CF9AE}" pid="3" name="PresentationFormat">
    <vt:lpwstr>On-screen Show (16:9)</vt:lpwstr>
  </property>
  <property fmtid="{D5CDD505-2E9C-101B-9397-08002B2CF9AE}" pid="4" name="Slides">
    <vt:r8>100</vt:r8>
  </property>
</Properties>
</file>